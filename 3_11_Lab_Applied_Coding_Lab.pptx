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11"/>
  </p:notesMasterIdLst>
  <p:sldIdLst>
    <p:sldId id="294" r:id="rId3"/>
    <p:sldId id="513" r:id="rId4"/>
    <p:sldId id="497" r:id="rId5"/>
    <p:sldId id="499" r:id="rId6"/>
    <p:sldId id="520" r:id="rId7"/>
    <p:sldId id="521" r:id="rId8"/>
    <p:sldId id="517" r:id="rId9"/>
    <p:sldId id="292" r:id="rId10"/>
  </p:sldIdLst>
  <p:sldSz cx="9906000" cy="6858000" type="A4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14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pos="3120">
          <p15:clr>
            <a:srgbClr val="A4A3A4"/>
          </p15:clr>
        </p15:guide>
        <p15:guide id="7" pos="6019">
          <p15:clr>
            <a:srgbClr val="A4A3A4"/>
          </p15:clr>
        </p15:guide>
        <p15:guide id="8" pos="221">
          <p15:clr>
            <a:srgbClr val="A4A3A4"/>
          </p15:clr>
        </p15:guide>
        <p15:guide id="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4">
          <p15:clr>
            <a:srgbClr val="A4A3A4"/>
          </p15:clr>
        </p15:guide>
        <p15:guide id="2" orient="horz" pos="5397">
          <p15:clr>
            <a:srgbClr val="A4A3A4"/>
          </p15:clr>
        </p15:guide>
        <p15:guide id="3" orient="horz" pos="544">
          <p15:clr>
            <a:srgbClr val="A4A3A4"/>
          </p15:clr>
        </p15:guide>
        <p15:guide id="4" orient="horz" pos="453">
          <p15:clr>
            <a:srgbClr val="A4A3A4"/>
          </p15:clr>
        </p15:guide>
        <p15:guide id="5" orient="horz" pos="3198">
          <p15:clr>
            <a:srgbClr val="A4A3A4"/>
          </p15:clr>
        </p15:guide>
        <p15:guide id="6" orient="horz" pos="1192">
          <p15:clr>
            <a:srgbClr val="A4A3A4"/>
          </p15:clr>
        </p15:guide>
        <p15:guide id="7" orient="horz">
          <p15:clr>
            <a:srgbClr val="A4A3A4"/>
          </p15:clr>
        </p15:guide>
        <p15:guide id="8" pos="436">
          <p15:clr>
            <a:srgbClr val="A4A3A4"/>
          </p15:clr>
        </p15:guide>
        <p15:guide id="9" pos="2161">
          <p15:clr>
            <a:srgbClr val="A4A3A4"/>
          </p15:clr>
        </p15:guide>
        <p15:guide id="10" pos="3997">
          <p15:clr>
            <a:srgbClr val="A4A3A4"/>
          </p15:clr>
        </p15:guide>
        <p15:guide id="11" pos="3884">
          <p15:clr>
            <a:srgbClr val="A4A3A4"/>
          </p15:clr>
        </p15:guide>
        <p15:guide id="12" pos="3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AEF0"/>
    <a:srgbClr val="FF0000"/>
    <a:srgbClr val="E4E4E4"/>
    <a:srgbClr val="DDDDDD"/>
    <a:srgbClr val="FDFDFD"/>
    <a:srgbClr val="DAE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0" autoAdjust="0"/>
  </p:normalViewPr>
  <p:slideViewPr>
    <p:cSldViewPr>
      <p:cViewPr varScale="1">
        <p:scale>
          <a:sx n="117" d="100"/>
          <a:sy n="117" d="100"/>
        </p:scale>
        <p:origin x="618" y="96"/>
      </p:cViewPr>
      <p:guideLst>
        <p:guide orient="horz" pos="2160"/>
        <p:guide orient="horz" pos="214"/>
        <p:guide orient="horz" pos="618"/>
        <p:guide orient="horz" pos="754"/>
        <p:guide orient="horz" pos="3974"/>
        <p:guide pos="3120"/>
        <p:guide pos="6019"/>
        <p:guide pos="221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2946" y="126"/>
      </p:cViewPr>
      <p:guideLst>
        <p:guide orient="horz" pos="3084"/>
        <p:guide orient="horz" pos="5397"/>
        <p:guide orient="horz" pos="544"/>
        <p:guide orient="horz" pos="453"/>
        <p:guide orient="horz" pos="3198"/>
        <p:guide orient="horz" pos="1192"/>
        <p:guide orient="horz"/>
        <p:guide pos="436"/>
        <p:guide pos="2161"/>
        <p:guide pos="3997"/>
        <p:guide pos="3884"/>
        <p:guide pos="32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2763" y="863600"/>
            <a:ext cx="5832475" cy="403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2150" y="5076825"/>
            <a:ext cx="5473700" cy="349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endParaRPr lang="en-US" altLang="ko-KR" noProof="0"/>
          </a:p>
        </p:txBody>
      </p:sp>
      <p:sp>
        <p:nvSpPr>
          <p:cNvPr id="4100" name="Line 38"/>
          <p:cNvSpPr>
            <a:spLocks noChangeShapeType="1"/>
          </p:cNvSpPr>
          <p:nvPr/>
        </p:nvSpPr>
        <p:spPr bwMode="auto">
          <a:xfrm>
            <a:off x="512763" y="719138"/>
            <a:ext cx="583247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1" name="Text Box 39"/>
          <p:cNvSpPr txBox="1">
            <a:spLocks noChangeArrowheads="1"/>
          </p:cNvSpPr>
          <p:nvPr/>
        </p:nvSpPr>
        <p:spPr bwMode="auto">
          <a:xfrm>
            <a:off x="441325" y="515938"/>
            <a:ext cx="34242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ko-KR" altLang="en-US" sz="900" dirty="0" err="1">
                <a:latin typeface="Univers Condensed" pitchFamily="34" charset="0"/>
                <a:ea typeface="맑은 고딕" panose="020B0503020000020004" pitchFamily="50" charset="-127"/>
              </a:rPr>
              <a:t>과정명</a:t>
            </a:r>
            <a:r>
              <a:rPr lang="en-US" altLang="ko-KR" sz="900" dirty="0">
                <a:latin typeface="Univers Condensed" pitchFamily="34" charset="0"/>
                <a:ea typeface="맑은 고딕" panose="020B0503020000020004" pitchFamily="50" charset="-127"/>
              </a:rPr>
              <a:t>......</a:t>
            </a:r>
          </a:p>
        </p:txBody>
      </p:sp>
      <p:sp>
        <p:nvSpPr>
          <p:cNvPr id="3112" name="Rectangle 40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44688" y="856773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025C4DC-F23E-4392-86C6-C8872088973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4103" name="Group 60"/>
          <p:cNvGrpSpPr>
            <a:grpSpLocks/>
          </p:cNvGrpSpPr>
          <p:nvPr/>
        </p:nvGrpSpPr>
        <p:grpSpPr bwMode="auto">
          <a:xfrm>
            <a:off x="760413" y="5240338"/>
            <a:ext cx="5241925" cy="2984500"/>
            <a:chOff x="479" y="3301"/>
            <a:chExt cx="3302" cy="1880"/>
          </a:xfrm>
        </p:grpSpPr>
        <p:pic>
          <p:nvPicPr>
            <p:cNvPr id="4104" name="Picture 11" descr="2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" y="3301"/>
              <a:ext cx="48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5" name="Group 59"/>
            <p:cNvGrpSpPr>
              <a:grpSpLocks/>
            </p:cNvGrpSpPr>
            <p:nvPr/>
          </p:nvGrpSpPr>
          <p:grpSpPr bwMode="auto">
            <a:xfrm>
              <a:off x="527" y="3454"/>
              <a:ext cx="3254" cy="1727"/>
              <a:chOff x="589" y="3454"/>
              <a:chExt cx="3254" cy="1727"/>
            </a:xfrm>
          </p:grpSpPr>
          <p:sp>
            <p:nvSpPr>
              <p:cNvPr id="4106" name="Line 12"/>
              <p:cNvSpPr>
                <a:spLocks noChangeShapeType="1"/>
              </p:cNvSpPr>
              <p:nvPr/>
            </p:nvSpPr>
            <p:spPr bwMode="auto">
              <a:xfrm>
                <a:off x="1092" y="3454"/>
                <a:ext cx="2751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7" name="Line 13"/>
              <p:cNvSpPr>
                <a:spLocks noChangeShapeType="1"/>
              </p:cNvSpPr>
              <p:nvPr/>
            </p:nvSpPr>
            <p:spPr bwMode="auto">
              <a:xfrm>
                <a:off x="589" y="366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8" name="Line 14"/>
              <p:cNvSpPr>
                <a:spLocks noChangeShapeType="1"/>
              </p:cNvSpPr>
              <p:nvPr/>
            </p:nvSpPr>
            <p:spPr bwMode="auto">
              <a:xfrm>
                <a:off x="589" y="3886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9" name="Line 15"/>
              <p:cNvSpPr>
                <a:spLocks noChangeShapeType="1"/>
              </p:cNvSpPr>
              <p:nvPr/>
            </p:nvSpPr>
            <p:spPr bwMode="auto">
              <a:xfrm>
                <a:off x="589" y="4102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0" name="Line 16"/>
              <p:cNvSpPr>
                <a:spLocks noChangeShapeType="1"/>
              </p:cNvSpPr>
              <p:nvPr/>
            </p:nvSpPr>
            <p:spPr bwMode="auto">
              <a:xfrm>
                <a:off x="589" y="4317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1" name="Line 17"/>
              <p:cNvSpPr>
                <a:spLocks noChangeShapeType="1"/>
              </p:cNvSpPr>
              <p:nvPr/>
            </p:nvSpPr>
            <p:spPr bwMode="auto">
              <a:xfrm>
                <a:off x="589" y="4533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2" name="Line 18"/>
              <p:cNvSpPr>
                <a:spLocks noChangeShapeType="1"/>
              </p:cNvSpPr>
              <p:nvPr/>
            </p:nvSpPr>
            <p:spPr bwMode="auto">
              <a:xfrm>
                <a:off x="589" y="474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3" name="Line 19"/>
              <p:cNvSpPr>
                <a:spLocks noChangeShapeType="1"/>
              </p:cNvSpPr>
              <p:nvPr/>
            </p:nvSpPr>
            <p:spPr bwMode="auto">
              <a:xfrm>
                <a:off x="589" y="4965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4" name="Line 20"/>
              <p:cNvSpPr>
                <a:spLocks noChangeShapeType="1"/>
              </p:cNvSpPr>
              <p:nvPr/>
            </p:nvSpPr>
            <p:spPr bwMode="auto">
              <a:xfrm>
                <a:off x="589" y="5181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notesStyle>
    <a:lvl1pPr marL="165100" indent="-165100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나눔고딕" pitchFamily="50" charset="-127"/>
      <a:buChar char="■"/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304800" indent="-1381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Wingdings" panose="05000000000000000000" pitchFamily="2" charset="2"/>
      <a:buChar char="§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419100" indent="-1127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맑은 고딕" panose="020B0503020000020004" pitchFamily="50" charset="-127"/>
      <a:buChar char="–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속간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1A589F-322F-4FBB-A7F4-8E4171BE5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764704"/>
            <a:ext cx="9505056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8B47862-13CA-4396-9130-880F20C8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560" y="3886200"/>
            <a:ext cx="7920880" cy="1752600"/>
          </a:xfrm>
        </p:spPr>
        <p:txBody>
          <a:bodyPr anchor="ctr"/>
          <a:lstStyle>
            <a:lvl1pPr marL="0" indent="0" algn="ctr">
              <a:buFont typeface="+mj-lt"/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9584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0802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8366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63538" y="1192213"/>
            <a:ext cx="4519612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192213"/>
            <a:ext cx="4519613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606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088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878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1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8466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0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904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4875" y="339725"/>
            <a:ext cx="2300288" cy="5969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0838" y="339725"/>
            <a:ext cx="6751637" cy="5969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0426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9205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9279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21988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65495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72526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1878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43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858026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98961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5674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854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40917템플릿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15888"/>
            <a:ext cx="89154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160463"/>
            <a:ext cx="9191625" cy="5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258763" indent="-25876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SzPct val="80000"/>
        <a:buFont typeface="Wingdings" panose="05000000000000000000" pitchFamily="2" charset="2"/>
        <a:buBlip>
          <a:blip r:embed="rId14"/>
        </a:buBlip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98475" indent="-2381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Wingdings" panose="05000000000000000000" pitchFamily="2" charset="2"/>
        <a:buChar char="§"/>
        <a:defRPr kumimoji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763588" indent="-2635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umimoji="1" sz="1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014413" indent="-2397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3-11. (Lab) Applied Coding Lab</a:t>
            </a:r>
            <a:endParaRPr lang="ko-KR" altLang="en-US" dirty="0"/>
          </a:p>
        </p:txBody>
      </p:sp>
      <p:sp>
        <p:nvSpPr>
          <p:cNvPr id="5123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한양대학교 </a:t>
            </a:r>
            <a:r>
              <a:rPr lang="ko-KR" altLang="en-US" dirty="0" err="1"/>
              <a:t>컴퓨터소프트웨어학부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유민수 교수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F952F-F54D-421E-A814-9CE4AF92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A4792-48EF-4AAF-B67C-9F529851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altLang="ko-KR" dirty="0"/>
              <a:t>ERC20 </a:t>
            </a:r>
            <a:r>
              <a:rPr lang="ko-KR" altLang="en-US" dirty="0"/>
              <a:t>토큰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ko-KR" altLang="en-US" dirty="0" err="1"/>
              <a:t>컨트랙트</a:t>
            </a:r>
            <a:r>
              <a:rPr lang="ko-KR" altLang="en-US" dirty="0"/>
              <a:t> 보안성</a:t>
            </a:r>
          </a:p>
          <a:p>
            <a:pPr marL="457200" indent="-457200">
              <a:buFont typeface="+mj-lt"/>
              <a:buAutoNum type="alphaUcPeriod"/>
            </a:pPr>
            <a:r>
              <a:rPr lang="ko-KR" altLang="en-US" dirty="0" err="1"/>
              <a:t>컨트랙트</a:t>
            </a:r>
            <a:r>
              <a:rPr lang="ko-KR" altLang="en-US" dirty="0"/>
              <a:t> 업그레이드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스토리지 충돌과 </a:t>
            </a:r>
            <a:r>
              <a:rPr lang="en-US" altLang="ko-KR" dirty="0" err="1"/>
              <a:t>delegatecall</a:t>
            </a:r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20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ERC20 </a:t>
            </a:r>
            <a:r>
              <a:rPr lang="ko-KR" altLang="en-US" dirty="0"/>
              <a:t>표준</a:t>
            </a:r>
            <a:r>
              <a:rPr lang="en-US" altLang="ko-KR" dirty="0"/>
              <a:t> EIP 20 </a:t>
            </a:r>
            <a:r>
              <a:rPr lang="ko-KR" altLang="en-US" dirty="0"/>
              <a:t>인터페이스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balanceOf</a:t>
            </a:r>
            <a:r>
              <a:rPr lang="en-US" altLang="ko-KR" dirty="0"/>
              <a:t>( ): _owner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토큰</a:t>
            </a:r>
            <a:r>
              <a:rPr lang="en-US" altLang="ko-KR" dirty="0"/>
              <a:t> </a:t>
            </a:r>
            <a:r>
              <a:rPr lang="ko-KR" altLang="en-US" dirty="0"/>
              <a:t>잔고 확인</a:t>
            </a:r>
            <a:endParaRPr lang="en-US" altLang="ko-KR" dirty="0"/>
          </a:p>
          <a:p>
            <a:pPr lvl="1"/>
            <a:r>
              <a:rPr lang="en-US" altLang="ko-KR" dirty="0"/>
              <a:t>transfer( ): _to</a:t>
            </a:r>
            <a:r>
              <a:rPr lang="ko-KR" altLang="en-US" dirty="0"/>
              <a:t>에게 </a:t>
            </a:r>
            <a:r>
              <a:rPr lang="en-US" altLang="ko-KR" dirty="0"/>
              <a:t>_value</a:t>
            </a:r>
            <a:r>
              <a:rPr lang="ko-KR" altLang="en-US" dirty="0"/>
              <a:t> 수량의</a:t>
            </a:r>
            <a:r>
              <a:rPr lang="en-US" altLang="ko-KR" dirty="0"/>
              <a:t> </a:t>
            </a:r>
            <a:r>
              <a:rPr lang="ko-KR" altLang="en-US" dirty="0"/>
              <a:t>토큰 전송</a:t>
            </a:r>
            <a:endParaRPr lang="en-US" altLang="ko-KR" dirty="0"/>
          </a:p>
          <a:p>
            <a:pPr lvl="1"/>
            <a:r>
              <a:rPr lang="en-US" altLang="ko-KR" dirty="0" err="1"/>
              <a:t>transferFrom</a:t>
            </a:r>
            <a:r>
              <a:rPr lang="en-US" altLang="ko-KR" dirty="0"/>
              <a:t>( ): _from</a:t>
            </a:r>
            <a:r>
              <a:rPr lang="ko-KR" altLang="en-US" dirty="0"/>
              <a:t>의 </a:t>
            </a:r>
            <a:r>
              <a:rPr lang="en-US" altLang="ko-KR" dirty="0"/>
              <a:t>_value </a:t>
            </a:r>
            <a:r>
              <a:rPr lang="ko-KR" altLang="en-US" dirty="0"/>
              <a:t>수량의 토큰을 </a:t>
            </a:r>
            <a:r>
              <a:rPr lang="en-US" altLang="ko-KR" dirty="0"/>
              <a:t>_to</a:t>
            </a:r>
            <a:r>
              <a:rPr lang="ko-KR" altLang="en-US" dirty="0"/>
              <a:t>에게 전송</a:t>
            </a:r>
            <a:endParaRPr lang="en-US" altLang="ko-KR" dirty="0"/>
          </a:p>
          <a:p>
            <a:pPr lvl="1"/>
            <a:r>
              <a:rPr lang="en-US" altLang="ko-KR" dirty="0"/>
              <a:t>approve( ): </a:t>
            </a:r>
            <a:r>
              <a:rPr lang="ko-KR" altLang="en-US" dirty="0"/>
              <a:t>자신의</a:t>
            </a:r>
            <a:r>
              <a:rPr lang="en-US" altLang="ko-KR" dirty="0"/>
              <a:t> </a:t>
            </a:r>
            <a:r>
              <a:rPr lang="ko-KR" altLang="en-US" dirty="0"/>
              <a:t>토큰을 </a:t>
            </a:r>
            <a:r>
              <a:rPr lang="en-US" altLang="ko-KR" dirty="0"/>
              <a:t>_spender</a:t>
            </a:r>
            <a:r>
              <a:rPr lang="ko-KR" altLang="en-US" dirty="0"/>
              <a:t>에게 </a:t>
            </a:r>
            <a:r>
              <a:rPr lang="en-US" altLang="ko-KR" dirty="0"/>
              <a:t>_value </a:t>
            </a:r>
            <a:r>
              <a:rPr lang="ko-KR" altLang="en-US" dirty="0"/>
              <a:t>수량만큼 지출을 허락</a:t>
            </a:r>
            <a:endParaRPr lang="en-US" altLang="ko-KR" dirty="0"/>
          </a:p>
          <a:p>
            <a:pPr lvl="1"/>
            <a:r>
              <a:rPr lang="en-US" altLang="ko-KR" dirty="0"/>
              <a:t>allowance( ): _owner</a:t>
            </a:r>
            <a:r>
              <a:rPr lang="ko-KR" altLang="en-US" dirty="0"/>
              <a:t>가 </a:t>
            </a:r>
            <a:r>
              <a:rPr lang="en-US" altLang="ko-KR" dirty="0"/>
              <a:t>_spender</a:t>
            </a:r>
            <a:r>
              <a:rPr lang="ko-KR" altLang="en-US" dirty="0"/>
              <a:t>에게 허락한 토큰 수량 확인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13076" t="16926" r="69138" b="68374"/>
          <a:stretch/>
        </p:blipFill>
        <p:spPr>
          <a:xfrm>
            <a:off x="1080827" y="1664804"/>
            <a:ext cx="7744346" cy="1800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828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보안성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재진입 공격 </a:t>
            </a:r>
            <a:r>
              <a:rPr lang="en-US" altLang="ko-KR" dirty="0"/>
              <a:t>(Reentrancy) </a:t>
            </a:r>
          </a:p>
          <a:p>
            <a:pPr lvl="1"/>
            <a:r>
              <a:rPr lang="ko-KR" altLang="en-US" dirty="0"/>
              <a:t>공격자가 </a:t>
            </a:r>
            <a:r>
              <a:rPr lang="ko-KR" altLang="en-US" dirty="0" err="1"/>
              <a:t>컨트랙트</a:t>
            </a:r>
            <a:r>
              <a:rPr lang="ko-KR" altLang="en-US" dirty="0"/>
              <a:t> 함수를 재귀적으로 반복해서 실행하도록 만드는 공격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 err="1"/>
              <a:t>이더</a:t>
            </a:r>
            <a:r>
              <a:rPr lang="en-US" altLang="ko-KR" dirty="0"/>
              <a:t>(ether)</a:t>
            </a:r>
            <a:r>
              <a:rPr lang="ko-KR" altLang="en-US" dirty="0"/>
              <a:t>를 송금하는 </a:t>
            </a:r>
            <a:r>
              <a:rPr lang="ko-KR" altLang="en-US" dirty="0" err="1"/>
              <a:t>컨트랙트</a:t>
            </a:r>
            <a:r>
              <a:rPr lang="ko-KR" altLang="en-US" dirty="0"/>
              <a:t> 함수를 재귀적으로 호출하여 </a:t>
            </a:r>
            <a:r>
              <a:rPr lang="ko-KR" altLang="en-US" dirty="0" err="1"/>
              <a:t>컨트랙트</a:t>
            </a:r>
            <a:r>
              <a:rPr lang="ko-KR" altLang="en-US" dirty="0"/>
              <a:t> 계정의 잔고가 소진될 때까지 </a:t>
            </a:r>
            <a:r>
              <a:rPr lang="ko-KR" altLang="en-US" dirty="0" err="1"/>
              <a:t>이더</a:t>
            </a:r>
            <a:r>
              <a:rPr lang="en-US" altLang="ko-KR" dirty="0"/>
              <a:t>(ether)</a:t>
            </a:r>
            <a:r>
              <a:rPr lang="ko-KR" altLang="en-US" dirty="0"/>
              <a:t>를 탈취하는 공격</a:t>
            </a:r>
            <a:endParaRPr lang="en-US" altLang="ko-KR" dirty="0"/>
          </a:p>
          <a:p>
            <a:pPr lvl="1"/>
            <a:r>
              <a:rPr lang="ko-KR" altLang="en-US" dirty="0"/>
              <a:t>해결방법</a:t>
            </a:r>
            <a:endParaRPr lang="en-US" altLang="ko-KR" dirty="0"/>
          </a:p>
          <a:p>
            <a:pPr lvl="2"/>
            <a:r>
              <a:rPr lang="en-US" altLang="ko-KR" dirty="0"/>
              <a:t>Check(</a:t>
            </a:r>
            <a:r>
              <a:rPr lang="ko-KR" altLang="en-US" dirty="0"/>
              <a:t>상태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Effect(</a:t>
            </a:r>
            <a:r>
              <a:rPr lang="ko-KR" altLang="en-US" dirty="0"/>
              <a:t>상태 변경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Interaction(</a:t>
            </a:r>
            <a:r>
              <a:rPr lang="ko-KR" altLang="en-US" dirty="0"/>
              <a:t>작업 수행</a:t>
            </a:r>
            <a:r>
              <a:rPr lang="en-US" altLang="ko-KR" dirty="0"/>
              <a:t>) </a:t>
            </a:r>
            <a:r>
              <a:rPr lang="ko-KR" altLang="en-US" dirty="0"/>
              <a:t>패턴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서비스 거부 공격 </a:t>
            </a:r>
            <a:r>
              <a:rPr lang="en-US" altLang="ko-KR" dirty="0"/>
              <a:t>(Denial of Service)</a:t>
            </a:r>
          </a:p>
          <a:p>
            <a:pPr lvl="1"/>
            <a:r>
              <a:rPr lang="ko-KR" altLang="en-US" dirty="0" err="1"/>
              <a:t>컨트랙트의</a:t>
            </a:r>
            <a:r>
              <a:rPr lang="en-US" altLang="ko-KR" dirty="0"/>
              <a:t> </a:t>
            </a:r>
            <a:r>
              <a:rPr lang="ko-KR" altLang="en-US" dirty="0"/>
              <a:t>정상적인 동작을 방해하는 공격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 err="1"/>
              <a:t>컨트랙트의</a:t>
            </a:r>
            <a:r>
              <a:rPr lang="ko-KR" altLang="en-US" dirty="0"/>
              <a:t> 함수가 중간에 </a:t>
            </a:r>
            <a:r>
              <a:rPr lang="en-US" altLang="ko-KR" dirty="0"/>
              <a:t>revert </a:t>
            </a:r>
            <a:r>
              <a:rPr lang="ko-KR" altLang="en-US" dirty="0"/>
              <a:t>하도록 만드는 공격</a:t>
            </a:r>
            <a:endParaRPr lang="en-US" altLang="ko-KR" dirty="0"/>
          </a:p>
          <a:p>
            <a:pPr lvl="2"/>
            <a:r>
              <a:rPr lang="ko-KR" altLang="en-US" dirty="0"/>
              <a:t>공격자 계정이 </a:t>
            </a:r>
            <a:r>
              <a:rPr lang="en-US" altLang="ko-KR" dirty="0"/>
              <a:t>fallback </a:t>
            </a:r>
            <a:r>
              <a:rPr lang="ko-KR" altLang="en-US" dirty="0"/>
              <a:t>함수를 정의하지 않아 피해자 계정의 함수가 실행을 완료하지 못하고 </a:t>
            </a:r>
            <a:r>
              <a:rPr lang="en-US" altLang="ko-KR" dirty="0"/>
              <a:t>revert</a:t>
            </a:r>
            <a:r>
              <a:rPr lang="ko-KR" altLang="en-US" dirty="0"/>
              <a:t>하게 만드는 공격</a:t>
            </a:r>
            <a:endParaRPr lang="en-US" altLang="ko-KR" dirty="0"/>
          </a:p>
          <a:p>
            <a:pPr lvl="1"/>
            <a:r>
              <a:rPr lang="ko-KR" altLang="en-US" dirty="0"/>
              <a:t>해결방법</a:t>
            </a:r>
            <a:endParaRPr lang="en-US" altLang="ko-KR" dirty="0"/>
          </a:p>
          <a:p>
            <a:pPr lvl="2"/>
            <a:r>
              <a:rPr lang="en-US" altLang="ko-KR" dirty="0"/>
              <a:t>Checks-Effects-Interactions </a:t>
            </a:r>
            <a:r>
              <a:rPr lang="ko-KR" altLang="en-US" dirty="0"/>
              <a:t>패턴 사용 또는 사용자가 직접 </a:t>
            </a:r>
            <a:r>
              <a:rPr lang="en-US" altLang="ko-KR" dirty="0"/>
              <a:t>ether</a:t>
            </a:r>
            <a:r>
              <a:rPr lang="ko-KR" altLang="en-US" dirty="0"/>
              <a:t>를 회수하는 함수를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491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1E2EB-2355-4A5F-A832-904F3F85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업그레이드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6D8518-0771-4CB9-ACE3-1779F4D9B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스마트 </a:t>
            </a:r>
            <a:r>
              <a:rPr lang="ko-KR" altLang="en-US" dirty="0" err="1"/>
              <a:t>컨트랙트의</a:t>
            </a:r>
            <a:r>
              <a:rPr lang="ko-KR" altLang="en-US" dirty="0"/>
              <a:t> 업그레이드 필요성</a:t>
            </a:r>
            <a:endParaRPr lang="en-US" altLang="ko-KR" dirty="0"/>
          </a:p>
          <a:p>
            <a:pPr lvl="1"/>
            <a:r>
              <a:rPr lang="ko-KR" altLang="en-US" dirty="0"/>
              <a:t>보안 취약점 패치 → 배포 후 발견된 보안 문제를 해결하기 위해 필요</a:t>
            </a:r>
          </a:p>
          <a:p>
            <a:pPr lvl="1"/>
            <a:r>
              <a:rPr lang="ko-KR" altLang="en-US" dirty="0"/>
              <a:t>기능 추가 및 개선 → 기존 기능을 유지하면서 새로운 기능을 추가</a:t>
            </a:r>
          </a:p>
          <a:p>
            <a:pPr lvl="1"/>
            <a:r>
              <a:rPr lang="ko-KR" altLang="en-US" dirty="0"/>
              <a:t>비용 절감 → 새로운 기능이 추가될 때마다 새로운 </a:t>
            </a:r>
            <a:r>
              <a:rPr lang="ko-KR" altLang="en-US" dirty="0" err="1"/>
              <a:t>컨트랙트를</a:t>
            </a:r>
            <a:r>
              <a:rPr lang="ko-KR" altLang="en-US" dirty="0"/>
              <a:t> 배포하는 대신 업그레이드를 통해 비용 절감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가지 방법</a:t>
            </a:r>
            <a:endParaRPr lang="en-US" altLang="ko-KR" dirty="0"/>
          </a:p>
          <a:p>
            <a:pPr lvl="1"/>
            <a:r>
              <a:rPr lang="ko-KR" altLang="en-US" dirty="0" err="1"/>
              <a:t>컨트랙트</a:t>
            </a:r>
            <a:r>
              <a:rPr lang="en-US" altLang="ko-KR" dirty="0"/>
              <a:t> </a:t>
            </a:r>
            <a:r>
              <a:rPr lang="ko-KR" altLang="en-US" dirty="0"/>
              <a:t>마이그레이션 </a:t>
            </a:r>
            <a:r>
              <a:rPr lang="en-US" altLang="ko-KR" dirty="0"/>
              <a:t>(Contract Migration): </a:t>
            </a:r>
            <a:r>
              <a:rPr lang="ko-KR" altLang="en-US" dirty="0"/>
              <a:t>새로운</a:t>
            </a:r>
            <a:r>
              <a:rPr lang="en-US" altLang="ko-KR" dirty="0"/>
              <a:t> </a:t>
            </a:r>
            <a:r>
              <a:rPr lang="ko-KR" altLang="en-US" dirty="0"/>
              <a:t>버전의 </a:t>
            </a:r>
            <a:r>
              <a:rPr lang="ko-KR" altLang="en-US" dirty="0" err="1"/>
              <a:t>컨트랙트를</a:t>
            </a:r>
            <a:r>
              <a:rPr lang="ko-KR" altLang="en-US" dirty="0"/>
              <a:t> 배포하고 기존 </a:t>
            </a:r>
            <a:r>
              <a:rPr lang="ko-KR" altLang="en-US" dirty="0" err="1"/>
              <a:t>컨트랙트의</a:t>
            </a:r>
            <a:r>
              <a:rPr lang="ko-KR" altLang="en-US" dirty="0"/>
              <a:t> </a:t>
            </a:r>
            <a:r>
              <a:rPr lang="en-US" altLang="ko-KR" dirty="0"/>
              <a:t>storage</a:t>
            </a:r>
            <a:r>
              <a:rPr lang="ko-KR" altLang="en-US" dirty="0"/>
              <a:t>와 </a:t>
            </a:r>
            <a:r>
              <a:rPr lang="en-US" altLang="ko-KR" dirty="0"/>
              <a:t>balances </a:t>
            </a:r>
            <a:r>
              <a:rPr lang="ko-KR" altLang="en-US" dirty="0"/>
              <a:t>데이터를 신규 버전 </a:t>
            </a:r>
            <a:r>
              <a:rPr lang="ko-KR" altLang="en-US" dirty="0" err="1"/>
              <a:t>컨트랙트로</a:t>
            </a:r>
            <a:r>
              <a:rPr lang="ko-KR" altLang="en-US" dirty="0"/>
              <a:t> 이동</a:t>
            </a:r>
            <a:endParaRPr lang="en-US" altLang="ko-KR" dirty="0"/>
          </a:p>
          <a:p>
            <a:pPr lvl="2"/>
            <a:r>
              <a:rPr lang="ko-KR" altLang="en-US" dirty="0"/>
              <a:t>사용자들은 이후부터 신규 </a:t>
            </a:r>
            <a:r>
              <a:rPr lang="ko-KR" altLang="en-US" dirty="0" err="1"/>
              <a:t>컨트랙트를</a:t>
            </a:r>
            <a:r>
              <a:rPr lang="ko-KR" altLang="en-US" dirty="0"/>
              <a:t> 접근</a:t>
            </a:r>
            <a:endParaRPr lang="en-US" altLang="ko-KR" dirty="0"/>
          </a:p>
          <a:p>
            <a:pPr lvl="1"/>
            <a:r>
              <a:rPr lang="ko-KR" altLang="en-US" dirty="0"/>
              <a:t>데이터 분리 </a:t>
            </a:r>
            <a:r>
              <a:rPr lang="en-US" altLang="ko-KR" dirty="0"/>
              <a:t>(Data Separation): </a:t>
            </a:r>
            <a:r>
              <a:rPr lang="ko-KR" altLang="en-US" dirty="0"/>
              <a:t>비즈니스 로직과 데이터를 분리하여 각각 별개의 </a:t>
            </a:r>
            <a:r>
              <a:rPr lang="ko-KR" altLang="en-US" dirty="0" err="1"/>
              <a:t>컨트랙트에서</a:t>
            </a:r>
            <a:r>
              <a:rPr lang="ko-KR" altLang="en-US" dirty="0"/>
              <a:t> 관리</a:t>
            </a:r>
            <a:endParaRPr lang="en-US" altLang="ko-KR" dirty="0"/>
          </a:p>
          <a:p>
            <a:pPr lvl="2"/>
            <a:r>
              <a:rPr lang="ko-KR" altLang="en-US" dirty="0"/>
              <a:t>로직 </a:t>
            </a:r>
            <a:r>
              <a:rPr lang="ko-KR" altLang="en-US" dirty="0" err="1"/>
              <a:t>컨트랙트가</a:t>
            </a:r>
            <a:r>
              <a:rPr lang="ko-KR" altLang="en-US" dirty="0"/>
              <a:t> 데이터 </a:t>
            </a:r>
            <a:r>
              <a:rPr lang="ko-KR" altLang="en-US" dirty="0" err="1"/>
              <a:t>컨트랙트의</a:t>
            </a:r>
            <a:r>
              <a:rPr lang="ko-KR" altLang="en-US" dirty="0"/>
              <a:t> 데이터를 접근</a:t>
            </a:r>
            <a:endParaRPr lang="en-US" altLang="ko-KR" dirty="0"/>
          </a:p>
          <a:p>
            <a:pPr lvl="2"/>
            <a:r>
              <a:rPr lang="ko-KR" altLang="en-US" dirty="0" err="1"/>
              <a:t>컨트랙트</a:t>
            </a:r>
            <a:r>
              <a:rPr lang="ko-KR" altLang="en-US" dirty="0"/>
              <a:t> 업그레이드시 로직 </a:t>
            </a:r>
            <a:r>
              <a:rPr lang="ko-KR" altLang="en-US" dirty="0" err="1"/>
              <a:t>컨트랙트만</a:t>
            </a:r>
            <a:r>
              <a:rPr lang="ko-KR" altLang="en-US" dirty="0"/>
              <a:t> 신규 버전으로 교체 </a:t>
            </a:r>
            <a:r>
              <a:rPr lang="en-US" altLang="ko-KR" dirty="0"/>
              <a:t>(</a:t>
            </a:r>
            <a:r>
              <a:rPr lang="ko-KR" altLang="en-US" dirty="0"/>
              <a:t>데이터 이동 불필요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프록시</a:t>
            </a:r>
            <a:r>
              <a:rPr lang="en-US" altLang="ko-KR" dirty="0"/>
              <a:t> </a:t>
            </a:r>
            <a:r>
              <a:rPr lang="ko-KR" altLang="en-US" dirty="0"/>
              <a:t>패턴 </a:t>
            </a:r>
            <a:r>
              <a:rPr lang="en-US" altLang="ko-KR" dirty="0"/>
              <a:t>(Proxy Patterns): </a:t>
            </a:r>
            <a:r>
              <a:rPr lang="ko-KR" altLang="en-US" dirty="0"/>
              <a:t>데이터 분리와 유사하지만 반대의 구조로 동작</a:t>
            </a:r>
            <a:endParaRPr lang="en-US" altLang="ko-KR" dirty="0"/>
          </a:p>
          <a:p>
            <a:pPr lvl="2"/>
            <a:r>
              <a:rPr lang="ko-KR" altLang="en-US" dirty="0"/>
              <a:t>프록시 </a:t>
            </a:r>
            <a:r>
              <a:rPr lang="ko-KR" altLang="en-US" dirty="0" err="1"/>
              <a:t>컨트랙트가</a:t>
            </a:r>
            <a:r>
              <a:rPr lang="ko-KR" altLang="en-US" dirty="0"/>
              <a:t> 데이터를 유지하며 </a:t>
            </a:r>
            <a:r>
              <a:rPr lang="en-US" altLang="ko-KR" dirty="0" err="1"/>
              <a:t>delegatecall</a:t>
            </a:r>
            <a:r>
              <a:rPr lang="ko-KR" altLang="en-US" dirty="0"/>
              <a:t>을 통해 로직 </a:t>
            </a:r>
            <a:r>
              <a:rPr lang="ko-KR" altLang="en-US" dirty="0" err="1"/>
              <a:t>컨트랙트를</a:t>
            </a:r>
            <a:r>
              <a:rPr lang="ko-KR" altLang="en-US" dirty="0"/>
              <a:t> 접근</a:t>
            </a:r>
            <a:endParaRPr lang="en-US" altLang="ko-KR" dirty="0"/>
          </a:p>
          <a:p>
            <a:pPr lvl="2"/>
            <a:r>
              <a:rPr lang="ko-KR" altLang="en-US" dirty="0" err="1"/>
              <a:t>컨트랙트</a:t>
            </a:r>
            <a:r>
              <a:rPr lang="ko-KR" altLang="en-US" dirty="0"/>
              <a:t> 업그레이드시 프록시 </a:t>
            </a:r>
            <a:r>
              <a:rPr lang="ko-KR" altLang="en-US" dirty="0" err="1"/>
              <a:t>컨트랙트가</a:t>
            </a:r>
            <a:r>
              <a:rPr lang="ko-KR" altLang="en-US" dirty="0"/>
              <a:t> 접근하는 로직 </a:t>
            </a:r>
            <a:r>
              <a:rPr lang="ko-KR" altLang="en-US" dirty="0" err="1"/>
              <a:t>컨트랙트의</a:t>
            </a:r>
            <a:r>
              <a:rPr lang="ko-KR" altLang="en-US" dirty="0"/>
              <a:t> 주소만 변경</a:t>
            </a:r>
            <a:endParaRPr lang="en-US" altLang="ko-KR" dirty="0"/>
          </a:p>
          <a:p>
            <a:pPr lvl="1"/>
            <a:r>
              <a:rPr lang="ko-KR" altLang="en-US" dirty="0"/>
              <a:t>전략 패턴 </a:t>
            </a:r>
            <a:r>
              <a:rPr lang="en-US" altLang="ko-KR" dirty="0"/>
              <a:t>(Strategy Pattern)</a:t>
            </a:r>
          </a:p>
          <a:p>
            <a:pPr lvl="2"/>
            <a:r>
              <a:rPr lang="ko-KR" altLang="en-US" dirty="0"/>
              <a:t>하나의</a:t>
            </a:r>
            <a:r>
              <a:rPr lang="en-US" altLang="ko-KR" dirty="0"/>
              <a:t> </a:t>
            </a:r>
            <a:r>
              <a:rPr lang="ko-KR" altLang="en-US" dirty="0"/>
              <a:t>메인 </a:t>
            </a:r>
            <a:r>
              <a:rPr lang="ko-KR" altLang="en-US" dirty="0" err="1"/>
              <a:t>컨트랙트가</a:t>
            </a:r>
            <a:r>
              <a:rPr lang="ko-KR" altLang="en-US" dirty="0"/>
              <a:t> 비즈니스 로직을 관장하면서 여러 개의 위성 </a:t>
            </a:r>
            <a:r>
              <a:rPr lang="ko-KR" altLang="en-US" dirty="0" err="1"/>
              <a:t>컨트랙트</a:t>
            </a:r>
            <a:r>
              <a:rPr lang="en-US" altLang="ko-KR" dirty="0"/>
              <a:t>(satellite contracts)</a:t>
            </a:r>
            <a:r>
              <a:rPr lang="ko-KR" altLang="en-US" dirty="0"/>
              <a:t>가 제공하는 함수를 실행</a:t>
            </a:r>
            <a:endParaRPr lang="en-US" altLang="ko-KR" dirty="0"/>
          </a:p>
          <a:p>
            <a:pPr lvl="1"/>
            <a:r>
              <a:rPr lang="ko-KR" altLang="en-US" dirty="0"/>
              <a:t>다이아몬드 패턴 </a:t>
            </a:r>
            <a:r>
              <a:rPr lang="en-US" altLang="ko-KR" dirty="0"/>
              <a:t>(Diamond Pattern)</a:t>
            </a:r>
          </a:p>
          <a:p>
            <a:pPr lvl="2"/>
            <a:r>
              <a:rPr lang="ko-KR" altLang="en-US" dirty="0"/>
              <a:t>프록시 패턴과 유사하나 여러 개의 로직 </a:t>
            </a:r>
            <a:r>
              <a:rPr lang="ko-KR" altLang="en-US" dirty="0" err="1"/>
              <a:t>컨트랙트들의</a:t>
            </a:r>
            <a:r>
              <a:rPr lang="ko-KR" altLang="en-US" dirty="0"/>
              <a:t> 함수를 호출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4472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94202-5474-48C8-BDF4-B00A6C2A9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스토리지 충돌과 </a:t>
            </a:r>
            <a:r>
              <a:rPr lang="en-US" altLang="ko-KR" dirty="0" err="1"/>
              <a:t>delegatecall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9219B1-5489-4706-9699-FC7294427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delegatecall</a:t>
            </a:r>
            <a:r>
              <a:rPr lang="en-US" altLang="ko-KR" dirty="0"/>
              <a:t> </a:t>
            </a:r>
            <a:r>
              <a:rPr lang="ko-KR" altLang="en-US" dirty="0"/>
              <a:t>함수의 특징</a:t>
            </a:r>
            <a:endParaRPr lang="en-US" altLang="ko-KR" dirty="0"/>
          </a:p>
          <a:p>
            <a:pPr lvl="1"/>
            <a:r>
              <a:rPr lang="ko-KR" altLang="en-US" dirty="0"/>
              <a:t>호출측</a:t>
            </a:r>
            <a:r>
              <a:rPr lang="en-US" altLang="ko-KR" dirty="0"/>
              <a:t>(calling contract) </a:t>
            </a:r>
            <a:r>
              <a:rPr lang="ko-KR" altLang="en-US" dirty="0"/>
              <a:t>문맥</a:t>
            </a:r>
            <a:r>
              <a:rPr lang="en-US" altLang="ko-KR" dirty="0"/>
              <a:t>(context)</a:t>
            </a:r>
            <a:r>
              <a:rPr lang="ko-KR" altLang="en-US" dirty="0"/>
              <a:t>을 유지</a:t>
            </a:r>
            <a:endParaRPr lang="en-US" altLang="ko-KR" dirty="0"/>
          </a:p>
          <a:p>
            <a:pPr lvl="2"/>
            <a:r>
              <a:rPr lang="en-US" altLang="ko-KR" dirty="0" err="1"/>
              <a:t>delegatecall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en-US" altLang="ko-KR" dirty="0" err="1"/>
              <a:t>msg.sender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en-US" altLang="ko-KR" dirty="0" err="1"/>
              <a:t>msg.value</a:t>
            </a:r>
            <a:r>
              <a:rPr lang="ko-KR" altLang="en-US" dirty="0"/>
              <a:t>를 유지</a:t>
            </a:r>
            <a:endParaRPr lang="en-US" altLang="ko-KR" dirty="0"/>
          </a:p>
          <a:p>
            <a:pPr lvl="1"/>
            <a:r>
              <a:rPr lang="ko-KR" altLang="en-US" dirty="0"/>
              <a:t>스토리지 및 상태 정보를 유지</a:t>
            </a:r>
            <a:endParaRPr lang="en-US" altLang="ko-KR" dirty="0"/>
          </a:p>
          <a:p>
            <a:pPr lvl="2"/>
            <a:r>
              <a:rPr lang="ko-KR" altLang="en-US" dirty="0"/>
              <a:t>호출되는 </a:t>
            </a:r>
            <a:r>
              <a:rPr lang="ko-KR" altLang="en-US" dirty="0" err="1"/>
              <a:t>컨트랙트의</a:t>
            </a:r>
            <a:r>
              <a:rPr lang="ko-KR" altLang="en-US" dirty="0"/>
              <a:t> 코드만을 빌려서 실행하며</a:t>
            </a:r>
            <a:r>
              <a:rPr lang="en-US" altLang="ko-KR" dirty="0"/>
              <a:t>, storage, current address, balance</a:t>
            </a:r>
            <a:r>
              <a:rPr lang="ko-KR" altLang="en-US" dirty="0"/>
              <a:t>와 같은 값들은 호출측</a:t>
            </a:r>
            <a:r>
              <a:rPr lang="en-US" altLang="ko-KR" dirty="0"/>
              <a:t>(calling contract)</a:t>
            </a:r>
            <a:r>
              <a:rPr lang="ko-KR" altLang="en-US" dirty="0"/>
              <a:t>의 상태 정보를 이용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스토리지 충돌</a:t>
            </a:r>
            <a:endParaRPr lang="en-US" altLang="ko-KR" dirty="0"/>
          </a:p>
          <a:p>
            <a:pPr lvl="1"/>
            <a:r>
              <a:rPr lang="en-US" altLang="ko-KR" dirty="0"/>
              <a:t>EVM</a:t>
            </a:r>
            <a:r>
              <a:rPr lang="ko-KR" altLang="en-US" dirty="0"/>
              <a:t>의 </a:t>
            </a:r>
            <a:r>
              <a:rPr lang="en-US" altLang="ko-KR" dirty="0"/>
              <a:t>storage</a:t>
            </a:r>
            <a:r>
              <a:rPr lang="ko-KR" altLang="en-US" dirty="0"/>
              <a:t>는 각 상태변수들을 </a:t>
            </a:r>
            <a:r>
              <a:rPr lang="en-US" altLang="ko-KR" dirty="0"/>
              <a:t>storage</a:t>
            </a:r>
            <a:r>
              <a:rPr lang="ko-KR" altLang="en-US" dirty="0"/>
              <a:t>에 </a:t>
            </a:r>
            <a:r>
              <a:rPr lang="en-US" altLang="ko-KR" dirty="0"/>
              <a:t>32 </a:t>
            </a:r>
            <a:r>
              <a:rPr lang="ko-KR" altLang="en-US" dirty="0"/>
              <a:t>바이트 데이터로 삽입</a:t>
            </a:r>
            <a:endParaRPr lang="en-US" altLang="ko-KR" dirty="0"/>
          </a:p>
          <a:p>
            <a:pPr lvl="1"/>
            <a:r>
              <a:rPr lang="ko-KR" altLang="en-US" dirty="0" err="1"/>
              <a:t>컨트랙트</a:t>
            </a:r>
            <a:r>
              <a:rPr lang="ko-KR" altLang="en-US" dirty="0"/>
              <a:t> 코드는 상태변수 이름을 사용하지 않고 </a:t>
            </a:r>
            <a:r>
              <a:rPr lang="en-US" altLang="ko-KR" dirty="0"/>
              <a:t>slot</a:t>
            </a:r>
            <a:r>
              <a:rPr lang="ko-KR" altLang="en-US" dirty="0"/>
              <a:t>의 위치를 사용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A62F41-BCCF-4C70-B9CC-BE9D6F626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45"/>
          <a:stretch/>
        </p:blipFill>
        <p:spPr>
          <a:xfrm>
            <a:off x="5061012" y="5044420"/>
            <a:ext cx="3229426" cy="12288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10ACDF-014C-4F39-8170-9B074D959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5044420"/>
            <a:ext cx="2314898" cy="1228896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18316E3-E0B6-4D29-8FBA-4331368E0FFD}"/>
              </a:ext>
            </a:extLst>
          </p:cNvPr>
          <p:cNvCxnSpPr>
            <a:cxnSpLocks/>
          </p:cNvCxnSpPr>
          <p:nvPr/>
        </p:nvCxnSpPr>
        <p:spPr>
          <a:xfrm flipH="1" flipV="1">
            <a:off x="3338141" y="5298828"/>
            <a:ext cx="2226927" cy="70683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C0FEAD9-62DE-4348-8EC1-DA2CEA846053}"/>
              </a:ext>
            </a:extLst>
          </p:cNvPr>
          <p:cNvCxnSpPr>
            <a:cxnSpLocks/>
          </p:cNvCxnSpPr>
          <p:nvPr/>
        </p:nvCxnSpPr>
        <p:spPr>
          <a:xfrm flipH="1" flipV="1">
            <a:off x="3008784" y="5872512"/>
            <a:ext cx="2556284" cy="1589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8B58DE-306E-4EE8-B0AF-2C1245F48855}"/>
              </a:ext>
            </a:extLst>
          </p:cNvPr>
          <p:cNvSpPr txBox="1"/>
          <p:nvPr/>
        </p:nvSpPr>
        <p:spPr>
          <a:xfrm>
            <a:off x="4118033" y="5308671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8AE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 </a:t>
            </a:r>
            <a:r>
              <a:rPr lang="en-US" altLang="ko-KR" sz="1200" dirty="0">
                <a:solidFill>
                  <a:srgbClr val="48AE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endParaRPr lang="ko-KR" altLang="en-US" sz="1200" dirty="0">
              <a:solidFill>
                <a:srgbClr val="48AEF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1F23B-A980-4D39-8083-2A4646419F0D}"/>
              </a:ext>
            </a:extLst>
          </p:cNvPr>
          <p:cNvSpPr txBox="1"/>
          <p:nvPr/>
        </p:nvSpPr>
        <p:spPr>
          <a:xfrm>
            <a:off x="3963902" y="5992739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 </a:t>
            </a:r>
            <a:r>
              <a:rPr lang="en-US" altLang="ko-KR" sz="12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71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altLang="ko-KR" dirty="0"/>
              <a:t>“07-ERC20Token-P.sol”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  <a:endParaRPr lang="ko-KR" altLang="en-US" dirty="0"/>
          </a:p>
          <a:p>
            <a:pPr marL="457200" indent="-457200">
              <a:buFont typeface="+mj-lt"/>
              <a:buAutoNum type="arabicParenR"/>
            </a:pPr>
            <a:r>
              <a:rPr lang="en-US" altLang="ko-KR" dirty="0"/>
              <a:t>“08-Reentrancy-P.sol” </a:t>
            </a:r>
            <a:r>
              <a:rPr lang="ko-KR" altLang="en-US" dirty="0"/>
              <a:t>및 </a:t>
            </a:r>
            <a:r>
              <a:rPr lang="en-US" altLang="ko-KR" dirty="0"/>
              <a:t>“09-DenialOfService-P.sol”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dirty="0"/>
              <a:t>“10-ProxyPattern-P.sol”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 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dirty="0"/>
              <a:t>“11-StorageCollisionAndDelegatecall-P.sol” </a:t>
            </a:r>
            <a:r>
              <a:rPr lang="ko-KR" altLang="en-US" dirty="0"/>
              <a:t>파일의 연습문제를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124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1866" y="2204864"/>
            <a:ext cx="5322269" cy="2505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3797</TotalTime>
  <Words>498</Words>
  <Application>Microsoft Office PowerPoint</Application>
  <PresentationFormat>A4 용지(210x297mm)</PresentationFormat>
  <Paragraphs>70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굴림</vt:lpstr>
      <vt:lpstr>나눔고딕</vt:lpstr>
      <vt:lpstr>맑은 고딕</vt:lpstr>
      <vt:lpstr>Arial</vt:lpstr>
      <vt:lpstr>Univers Condensed</vt:lpstr>
      <vt:lpstr>Wingdings</vt:lpstr>
      <vt:lpstr>기본 디자인</vt:lpstr>
      <vt:lpstr>디자인 사용자 지정</vt:lpstr>
      <vt:lpstr>3-11. (Lab) Applied Coding Lab</vt:lpstr>
      <vt:lpstr>순서</vt:lpstr>
      <vt:lpstr>ERC20 표준 EIP 20 인터페이스</vt:lpstr>
      <vt:lpstr>컨트랙트 보안성</vt:lpstr>
      <vt:lpstr>컨트랙트 업그레이드</vt:lpstr>
      <vt:lpstr>스토리지 충돌과 delegatecall</vt:lpstr>
      <vt:lpstr>연습</vt:lpstr>
      <vt:lpstr>PowerPoint 프레젠테이션</vt:lpstr>
    </vt:vector>
  </TitlesOfParts>
  <Company>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120</cp:revision>
  <dcterms:created xsi:type="dcterms:W3CDTF">2011-01-27T23:33:23Z</dcterms:created>
  <dcterms:modified xsi:type="dcterms:W3CDTF">2025-03-31T01:09:58Z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blob>PE5TQ1BIPgAAADYAMABDAEEAQgA5AEQAQgBFADMAOAAxAEYANAA5ADkANgBEADEAMAAwAEQAMABD
AEEAOQAxADUANABCADkARABDADcANQAxADUANgA1AEIAQwAxAEQANQBGADEAOQA3ADUAMQA4ADcA
OQBCADYAMABGADQAMQA5AEEAQQAyADYAAAA=</vt:blob>
  </property>
  <property fmtid="{D5CDD505-2E9C-101B-9397-08002B2CF9AE}" pid="2" name="FLCMData">
    <vt:lpwstr>2B6DB54876A7E7A49A5B3AB6B6042F62482DCF38C5130AC721DBD6324B318018BAE7F1B0DF3B9CD78176916D97C269836255A0A1C9FBCA599EAF2CDA2AD877A1</vt:lpwstr>
  </property>
</Properties>
</file>