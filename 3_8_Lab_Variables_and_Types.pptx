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36"/>
  </p:notesMasterIdLst>
  <p:sldIdLst>
    <p:sldId id="518" r:id="rId3"/>
    <p:sldId id="513" r:id="rId4"/>
    <p:sldId id="514" r:id="rId5"/>
    <p:sldId id="470" r:id="rId6"/>
    <p:sldId id="471" r:id="rId7"/>
    <p:sldId id="519" r:id="rId8"/>
    <p:sldId id="472" r:id="rId9"/>
    <p:sldId id="515" r:id="rId10"/>
    <p:sldId id="491" r:id="rId11"/>
    <p:sldId id="473" r:id="rId12"/>
    <p:sldId id="474" r:id="rId13"/>
    <p:sldId id="492" r:id="rId14"/>
    <p:sldId id="475" r:id="rId15"/>
    <p:sldId id="495" r:id="rId16"/>
    <p:sldId id="496" r:id="rId17"/>
    <p:sldId id="497" r:id="rId18"/>
    <p:sldId id="498" r:id="rId19"/>
    <p:sldId id="516" r:id="rId20"/>
    <p:sldId id="500" r:id="rId21"/>
    <p:sldId id="501" r:id="rId22"/>
    <p:sldId id="505" r:id="rId23"/>
    <p:sldId id="476" r:id="rId24"/>
    <p:sldId id="523" r:id="rId25"/>
    <p:sldId id="517" r:id="rId26"/>
    <p:sldId id="507" r:id="rId27"/>
    <p:sldId id="508" r:id="rId28"/>
    <p:sldId id="509" r:id="rId29"/>
    <p:sldId id="510" r:id="rId30"/>
    <p:sldId id="511" r:id="rId31"/>
    <p:sldId id="512" r:id="rId32"/>
    <p:sldId id="524" r:id="rId33"/>
    <p:sldId id="487" r:id="rId34"/>
    <p:sldId id="292" r:id="rId35"/>
  </p:sldIdLst>
  <p:sldSz cx="9906000" cy="6858000" type="A4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14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pos="3120">
          <p15:clr>
            <a:srgbClr val="A4A3A4"/>
          </p15:clr>
        </p15:guide>
        <p15:guide id="7" pos="6019">
          <p15:clr>
            <a:srgbClr val="A4A3A4"/>
          </p15:clr>
        </p15:guide>
        <p15:guide id="8" pos="221">
          <p15:clr>
            <a:srgbClr val="A4A3A4"/>
          </p15:clr>
        </p15:guide>
        <p15:guide id="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4">
          <p15:clr>
            <a:srgbClr val="A4A3A4"/>
          </p15:clr>
        </p15:guide>
        <p15:guide id="2" orient="horz" pos="5397">
          <p15:clr>
            <a:srgbClr val="A4A3A4"/>
          </p15:clr>
        </p15:guide>
        <p15:guide id="3" orient="horz" pos="544">
          <p15:clr>
            <a:srgbClr val="A4A3A4"/>
          </p15:clr>
        </p15:guide>
        <p15:guide id="4" orient="horz" pos="453">
          <p15:clr>
            <a:srgbClr val="A4A3A4"/>
          </p15:clr>
        </p15:guide>
        <p15:guide id="5" orient="horz" pos="3198">
          <p15:clr>
            <a:srgbClr val="A4A3A4"/>
          </p15:clr>
        </p15:guide>
        <p15:guide id="6" orient="horz" pos="1192">
          <p15:clr>
            <a:srgbClr val="A4A3A4"/>
          </p15:clr>
        </p15:guide>
        <p15:guide id="7" orient="horz">
          <p15:clr>
            <a:srgbClr val="A4A3A4"/>
          </p15:clr>
        </p15:guide>
        <p15:guide id="8" pos="436">
          <p15:clr>
            <a:srgbClr val="A4A3A4"/>
          </p15:clr>
        </p15:guide>
        <p15:guide id="9" pos="2161">
          <p15:clr>
            <a:srgbClr val="A4A3A4"/>
          </p15:clr>
        </p15:guide>
        <p15:guide id="10" pos="3997">
          <p15:clr>
            <a:srgbClr val="A4A3A4"/>
          </p15:clr>
        </p15:guide>
        <p15:guide id="11" pos="3884">
          <p15:clr>
            <a:srgbClr val="A4A3A4"/>
          </p15:clr>
        </p15:guide>
        <p15:guide id="12" pos="3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4E4E4"/>
    <a:srgbClr val="DDDDDD"/>
    <a:srgbClr val="FDFDFD"/>
    <a:srgbClr val="DAEDFD"/>
    <a:srgbClr val="48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9" autoAdjust="0"/>
    <p:restoredTop sz="94470" autoAdjust="0"/>
  </p:normalViewPr>
  <p:slideViewPr>
    <p:cSldViewPr>
      <p:cViewPr varScale="1">
        <p:scale>
          <a:sx n="123" d="100"/>
          <a:sy n="123" d="100"/>
        </p:scale>
        <p:origin x="252" y="114"/>
      </p:cViewPr>
      <p:guideLst>
        <p:guide orient="horz" pos="2160"/>
        <p:guide orient="horz" pos="214"/>
        <p:guide orient="horz" pos="618"/>
        <p:guide orient="horz" pos="754"/>
        <p:guide orient="horz" pos="3974"/>
        <p:guide pos="3120"/>
        <p:guide pos="6019"/>
        <p:guide pos="221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2946" y="126"/>
      </p:cViewPr>
      <p:guideLst>
        <p:guide orient="horz" pos="3084"/>
        <p:guide orient="horz" pos="5397"/>
        <p:guide orient="horz" pos="544"/>
        <p:guide orient="horz" pos="453"/>
        <p:guide orient="horz" pos="3198"/>
        <p:guide orient="horz" pos="1192"/>
        <p:guide orient="horz"/>
        <p:guide pos="436"/>
        <p:guide pos="2161"/>
        <p:guide pos="3997"/>
        <p:guide pos="3884"/>
        <p:guide pos="32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2763" y="863600"/>
            <a:ext cx="5832475" cy="403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2150" y="5076825"/>
            <a:ext cx="5473700" cy="349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endParaRPr lang="en-US" altLang="ko-KR" noProof="0"/>
          </a:p>
        </p:txBody>
      </p:sp>
      <p:sp>
        <p:nvSpPr>
          <p:cNvPr id="4100" name="Line 38"/>
          <p:cNvSpPr>
            <a:spLocks noChangeShapeType="1"/>
          </p:cNvSpPr>
          <p:nvPr/>
        </p:nvSpPr>
        <p:spPr bwMode="auto">
          <a:xfrm>
            <a:off x="512763" y="719138"/>
            <a:ext cx="583247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1" name="Text Box 39"/>
          <p:cNvSpPr txBox="1">
            <a:spLocks noChangeArrowheads="1"/>
          </p:cNvSpPr>
          <p:nvPr/>
        </p:nvSpPr>
        <p:spPr bwMode="auto">
          <a:xfrm>
            <a:off x="441325" y="515938"/>
            <a:ext cx="34242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ko-KR" altLang="en-US" sz="900" dirty="0" err="1">
                <a:latin typeface="Univers Condensed" pitchFamily="34" charset="0"/>
                <a:ea typeface="맑은 고딕" panose="020B0503020000020004" pitchFamily="50" charset="-127"/>
              </a:rPr>
              <a:t>과정명</a:t>
            </a:r>
            <a:r>
              <a:rPr lang="en-US" altLang="ko-KR" sz="900" dirty="0">
                <a:latin typeface="Univers Condensed" pitchFamily="34" charset="0"/>
                <a:ea typeface="맑은 고딕" panose="020B0503020000020004" pitchFamily="50" charset="-127"/>
              </a:rPr>
              <a:t>......</a:t>
            </a:r>
          </a:p>
        </p:txBody>
      </p:sp>
      <p:sp>
        <p:nvSpPr>
          <p:cNvPr id="3112" name="Rectangle 40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44688" y="856773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025C4DC-F23E-4392-86C6-C8872088973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4103" name="Group 60"/>
          <p:cNvGrpSpPr>
            <a:grpSpLocks/>
          </p:cNvGrpSpPr>
          <p:nvPr/>
        </p:nvGrpSpPr>
        <p:grpSpPr bwMode="auto">
          <a:xfrm>
            <a:off x="760413" y="5240338"/>
            <a:ext cx="5241925" cy="2984500"/>
            <a:chOff x="479" y="3301"/>
            <a:chExt cx="3302" cy="1880"/>
          </a:xfrm>
        </p:grpSpPr>
        <p:pic>
          <p:nvPicPr>
            <p:cNvPr id="4104" name="Picture 11" descr="2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" y="3301"/>
              <a:ext cx="48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5" name="Group 59"/>
            <p:cNvGrpSpPr>
              <a:grpSpLocks/>
            </p:cNvGrpSpPr>
            <p:nvPr/>
          </p:nvGrpSpPr>
          <p:grpSpPr bwMode="auto">
            <a:xfrm>
              <a:off x="527" y="3454"/>
              <a:ext cx="3254" cy="1727"/>
              <a:chOff x="589" y="3454"/>
              <a:chExt cx="3254" cy="1727"/>
            </a:xfrm>
          </p:grpSpPr>
          <p:sp>
            <p:nvSpPr>
              <p:cNvPr id="4106" name="Line 12"/>
              <p:cNvSpPr>
                <a:spLocks noChangeShapeType="1"/>
              </p:cNvSpPr>
              <p:nvPr/>
            </p:nvSpPr>
            <p:spPr bwMode="auto">
              <a:xfrm>
                <a:off x="1092" y="3454"/>
                <a:ext cx="2751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7" name="Line 13"/>
              <p:cNvSpPr>
                <a:spLocks noChangeShapeType="1"/>
              </p:cNvSpPr>
              <p:nvPr/>
            </p:nvSpPr>
            <p:spPr bwMode="auto">
              <a:xfrm>
                <a:off x="589" y="366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8" name="Line 14"/>
              <p:cNvSpPr>
                <a:spLocks noChangeShapeType="1"/>
              </p:cNvSpPr>
              <p:nvPr/>
            </p:nvSpPr>
            <p:spPr bwMode="auto">
              <a:xfrm>
                <a:off x="589" y="3886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9" name="Line 15"/>
              <p:cNvSpPr>
                <a:spLocks noChangeShapeType="1"/>
              </p:cNvSpPr>
              <p:nvPr/>
            </p:nvSpPr>
            <p:spPr bwMode="auto">
              <a:xfrm>
                <a:off x="589" y="4102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0" name="Line 16"/>
              <p:cNvSpPr>
                <a:spLocks noChangeShapeType="1"/>
              </p:cNvSpPr>
              <p:nvPr/>
            </p:nvSpPr>
            <p:spPr bwMode="auto">
              <a:xfrm>
                <a:off x="589" y="4317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1" name="Line 17"/>
              <p:cNvSpPr>
                <a:spLocks noChangeShapeType="1"/>
              </p:cNvSpPr>
              <p:nvPr/>
            </p:nvSpPr>
            <p:spPr bwMode="auto">
              <a:xfrm>
                <a:off x="589" y="4533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2" name="Line 18"/>
              <p:cNvSpPr>
                <a:spLocks noChangeShapeType="1"/>
              </p:cNvSpPr>
              <p:nvPr/>
            </p:nvSpPr>
            <p:spPr bwMode="auto">
              <a:xfrm>
                <a:off x="589" y="474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3" name="Line 19"/>
              <p:cNvSpPr>
                <a:spLocks noChangeShapeType="1"/>
              </p:cNvSpPr>
              <p:nvPr/>
            </p:nvSpPr>
            <p:spPr bwMode="auto">
              <a:xfrm>
                <a:off x="589" y="4965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4" name="Line 20"/>
              <p:cNvSpPr>
                <a:spLocks noChangeShapeType="1"/>
              </p:cNvSpPr>
              <p:nvPr/>
            </p:nvSpPr>
            <p:spPr bwMode="auto">
              <a:xfrm>
                <a:off x="589" y="5181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notesStyle>
    <a:lvl1pPr marL="165100" indent="-165100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나눔고딕" pitchFamily="50" charset="-127"/>
      <a:buChar char="■"/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304800" indent="-1381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Wingdings" panose="05000000000000000000" pitchFamily="2" charset="2"/>
      <a:buChar char="§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419100" indent="-1127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맑은 고딕" panose="020B0503020000020004" pitchFamily="50" charset="-127"/>
      <a:buChar char="–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4398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66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속간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1A589F-322F-4FBB-A7F4-8E4171BE5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764704"/>
            <a:ext cx="9505056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8B47862-13CA-4396-9130-880F20C8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560" y="3886200"/>
            <a:ext cx="7920880" cy="1752600"/>
          </a:xfrm>
        </p:spPr>
        <p:txBody>
          <a:bodyPr anchor="ctr"/>
          <a:lstStyle>
            <a:lvl1pPr marL="0" indent="0" algn="ctr">
              <a:buFont typeface="+mj-lt"/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663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0802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8366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63538" y="1192213"/>
            <a:ext cx="4519612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192213"/>
            <a:ext cx="4519613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606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088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878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1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8466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0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904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4875" y="339725"/>
            <a:ext cx="2300288" cy="5969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0838" y="339725"/>
            <a:ext cx="6751637" cy="5969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0426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 descr="140917템플릿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60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72480" y="2564904"/>
            <a:ext cx="9361040" cy="1575048"/>
          </a:xfrm>
        </p:spPr>
        <p:txBody>
          <a:bodyPr lIns="91429" tIns="45715" rIns="91429" bIns="45715" anchor="ctr"/>
          <a:lstStyle>
            <a:lvl1pPr algn="ctr">
              <a:defRPr sz="4000">
                <a:solidFill>
                  <a:srgbClr val="00336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88955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920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927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2198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65495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7252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187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43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85802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98961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567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854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40917템플릿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15888"/>
            <a:ext cx="89154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160463"/>
            <a:ext cx="9191625" cy="5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32" r:id="rId1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258763" indent="-25876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SzPct val="80000"/>
        <a:buFont typeface="Wingdings" panose="05000000000000000000" pitchFamily="2" charset="2"/>
        <a:buBlip>
          <a:blip r:embed="rId15"/>
        </a:buBlip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98475" indent="-2381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Wingdings" panose="05000000000000000000" pitchFamily="2" charset="2"/>
        <a:buChar char="§"/>
        <a:defRPr kumimoji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763588" indent="-2635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umimoji="1" sz="1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014413" indent="-2397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olidity-by-example.org/" TargetMode="External"/><Relationship Id="rId3" Type="http://schemas.openxmlformats.org/officeDocument/2006/relationships/hyperlink" Target="https://ethereum.org/en/developers/docs/" TargetMode="External"/><Relationship Id="rId7" Type="http://schemas.openxmlformats.org/officeDocument/2006/relationships/hyperlink" Target="https://docs.soliditylang.org/en/latest/" TargetMode="External"/><Relationship Id="rId2" Type="http://schemas.openxmlformats.org/officeDocument/2006/relationships/hyperlink" Target="https://ethereum.org/en/develop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thereum.org/en/developers/local-environment/" TargetMode="External"/><Relationship Id="rId5" Type="http://schemas.openxmlformats.org/officeDocument/2006/relationships/hyperlink" Target="https://ethereum.org/en/developers/learning-tools/" TargetMode="External"/><Relationship Id="rId10" Type="http://schemas.openxmlformats.org/officeDocument/2006/relationships/hyperlink" Target="https://hardhat.org/tutorial" TargetMode="External"/><Relationship Id="rId4" Type="http://schemas.openxmlformats.org/officeDocument/2006/relationships/hyperlink" Target="https://ethereum.org/en/developers/tutorials/" TargetMode="External"/><Relationship Id="rId9" Type="http://schemas.openxmlformats.org/officeDocument/2006/relationships/hyperlink" Target="https://github.com/OpenZeppelin/openzeppelin-contract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3-8. </a:t>
            </a:r>
            <a:r>
              <a:rPr lang="en-US" altLang="ko-KR"/>
              <a:t>(Lab) Variables </a:t>
            </a:r>
            <a:r>
              <a:rPr lang="en-US" altLang="ko-KR" dirty="0"/>
              <a:t>and Types</a:t>
            </a:r>
            <a:endParaRPr lang="ko-KR" altLang="en-US" dirty="0"/>
          </a:p>
        </p:txBody>
      </p:sp>
      <p:sp>
        <p:nvSpPr>
          <p:cNvPr id="5123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한양대학교 </a:t>
            </a:r>
            <a:r>
              <a:rPr lang="ko-KR" altLang="en-US" dirty="0" err="1"/>
              <a:t>컴퓨터소프트웨어학부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유민수 교수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F952F-F54D-421E-A814-9CE4AF92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A4792-48EF-4AAF-B67C-9F529851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변수의 종류 및 가시성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ko-KR" altLang="en-US" dirty="0" err="1"/>
              <a:t>밸류형</a:t>
            </a:r>
            <a:r>
              <a:rPr lang="ko-KR" altLang="en-US" dirty="0"/>
              <a:t> </a:t>
            </a:r>
            <a:r>
              <a:rPr lang="en-US" altLang="ko-KR" dirty="0"/>
              <a:t>(Value Types) </a:t>
            </a:r>
          </a:p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참조형 </a:t>
            </a:r>
            <a:r>
              <a:rPr lang="en-US" altLang="ko-KR" dirty="0"/>
              <a:t>(Reference Types)</a:t>
            </a:r>
          </a:p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단위 및 특수 변수</a:t>
            </a:r>
            <a:r>
              <a:rPr lang="en-US" altLang="ko-KR" dirty="0"/>
              <a:t>/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다양한 자료형 연습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참고자료</a:t>
            </a:r>
            <a:endParaRPr lang="en-US" altLang="ko-KR" dirty="0"/>
          </a:p>
          <a:p>
            <a:pPr lvl="1"/>
            <a:r>
              <a:rPr lang="en-US" altLang="ko-KR" dirty="0"/>
              <a:t>Ethereum Developer Resources: </a:t>
            </a:r>
            <a:r>
              <a:rPr lang="en-US" altLang="ko-KR" dirty="0">
                <a:hlinkClick r:id="rId2"/>
              </a:rPr>
              <a:t>https://ethereum.org/en/developers/</a:t>
            </a:r>
            <a:endParaRPr lang="en-US" altLang="ko-KR" dirty="0"/>
          </a:p>
          <a:p>
            <a:pPr lvl="2"/>
            <a:r>
              <a:rPr lang="en-US" altLang="ko-KR" dirty="0"/>
              <a:t>Ethereum Developer Documentation: </a:t>
            </a:r>
            <a:r>
              <a:rPr lang="en-US" altLang="ko-KR" dirty="0">
                <a:hlinkClick r:id="rId3"/>
              </a:rPr>
              <a:t>https://ethereum.org/en/developers/docs/</a:t>
            </a:r>
            <a:endParaRPr lang="en-US" altLang="ko-KR" dirty="0"/>
          </a:p>
          <a:p>
            <a:pPr lvl="2"/>
            <a:r>
              <a:rPr lang="en-US" altLang="ko-KR" dirty="0"/>
              <a:t>Ethereum Development Tutorials: </a:t>
            </a:r>
            <a:r>
              <a:rPr lang="en-US" altLang="ko-KR" dirty="0">
                <a:hlinkClick r:id="rId4"/>
              </a:rPr>
              <a:t>https://ethereum.org/en/developers/tutorials/</a:t>
            </a:r>
            <a:endParaRPr lang="en-US" altLang="ko-KR" dirty="0"/>
          </a:p>
          <a:p>
            <a:pPr lvl="2"/>
            <a:r>
              <a:rPr lang="en-US" altLang="ko-KR" dirty="0"/>
              <a:t>Learn by Coding: </a:t>
            </a:r>
            <a:r>
              <a:rPr lang="en-US" altLang="ko-KR" dirty="0">
                <a:hlinkClick r:id="rId5"/>
              </a:rPr>
              <a:t>https://ethereum.org/en/developers/learning-tools/</a:t>
            </a:r>
            <a:endParaRPr lang="en-US" altLang="ko-KR" dirty="0"/>
          </a:p>
          <a:p>
            <a:pPr lvl="2"/>
            <a:r>
              <a:rPr lang="en-US" altLang="ko-KR" dirty="0"/>
              <a:t>Local Environment: </a:t>
            </a:r>
            <a:r>
              <a:rPr lang="en-US" altLang="ko-KR" dirty="0">
                <a:hlinkClick r:id="rId6"/>
              </a:rPr>
              <a:t>https://ethereum.org/en/developers/local-environment/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C00000"/>
                </a:solidFill>
              </a:rPr>
              <a:t>Solidity Language:</a:t>
            </a:r>
            <a:r>
              <a:rPr lang="en-US" altLang="ko-KR" dirty="0"/>
              <a:t> </a:t>
            </a:r>
            <a:r>
              <a:rPr lang="en-US" altLang="ko-KR" dirty="0">
                <a:hlinkClick r:id="rId7"/>
              </a:rPr>
              <a:t>https://docs.soliditylang.org/en/latest/</a:t>
            </a:r>
            <a:endParaRPr lang="en-US" altLang="ko-KR" dirty="0"/>
          </a:p>
          <a:p>
            <a:pPr lvl="2"/>
            <a:r>
              <a:rPr lang="en-US" altLang="ko-KR" dirty="0">
                <a:hlinkClick r:id="rId8"/>
              </a:rPr>
              <a:t>https://solidity-by-example.org/</a:t>
            </a:r>
            <a:endParaRPr lang="en-US" altLang="ko-KR" dirty="0"/>
          </a:p>
          <a:p>
            <a:pPr lvl="2"/>
            <a:r>
              <a:rPr lang="en-US" altLang="ko-KR" dirty="0">
                <a:hlinkClick r:id="rId9"/>
              </a:rPr>
              <a:t>https://github.com/OpenZeppelin/openzeppelin-contracts</a:t>
            </a:r>
            <a:endParaRPr lang="en-US" altLang="ko-KR" dirty="0"/>
          </a:p>
          <a:p>
            <a:pPr lvl="1"/>
            <a:r>
              <a:rPr lang="en-US" altLang="ko-KR" dirty="0"/>
              <a:t>Hardhat Tutorial: </a:t>
            </a:r>
            <a:r>
              <a:rPr lang="en-US" altLang="ko-KR" dirty="0">
                <a:hlinkClick r:id="rId10"/>
              </a:rPr>
              <a:t>https://hardhat.org/tutorial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20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 변수의 종류 및 가시성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787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변수의</a:t>
            </a:r>
            <a:r>
              <a:rPr lang="en-US" altLang="ko-KR" dirty="0"/>
              <a:t> </a:t>
            </a:r>
            <a:r>
              <a:rPr lang="ko-KR" altLang="en-US" dirty="0"/>
              <a:t>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상태변수</a:t>
            </a:r>
            <a:r>
              <a:rPr lang="en-US" altLang="ko-KR" dirty="0"/>
              <a:t> (state variables)</a:t>
            </a:r>
          </a:p>
          <a:p>
            <a:pPr lvl="1"/>
            <a:r>
              <a:rPr lang="ko-KR" altLang="en-US" dirty="0"/>
              <a:t>함수 외부에 선언된 변수</a:t>
            </a:r>
            <a:endParaRPr lang="en-US" altLang="ko-KR" dirty="0"/>
          </a:p>
          <a:p>
            <a:pPr lvl="1"/>
            <a:r>
              <a:rPr lang="ko-KR" altLang="en-US" dirty="0" err="1"/>
              <a:t>블록체인에</a:t>
            </a:r>
            <a:r>
              <a:rPr lang="ko-KR" altLang="en-US" dirty="0"/>
              <a:t> 값이 영속적으로 저장됨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내부의</a:t>
            </a:r>
            <a:r>
              <a:rPr lang="en-US" altLang="ko-KR" dirty="0"/>
              <a:t> </a:t>
            </a:r>
            <a:r>
              <a:rPr lang="ko-KR" altLang="en-US" dirty="0"/>
              <a:t>지역변수 </a:t>
            </a:r>
            <a:r>
              <a:rPr lang="en-US" altLang="ko-KR" dirty="0"/>
              <a:t>(variables declared within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function)</a:t>
            </a:r>
          </a:p>
          <a:p>
            <a:pPr lvl="1"/>
            <a:r>
              <a:rPr lang="ko-KR" altLang="en-US" dirty="0"/>
              <a:t>함수 내부에서 선언된 변수</a:t>
            </a:r>
            <a:endParaRPr lang="en-US" altLang="ko-KR" dirty="0"/>
          </a:p>
          <a:p>
            <a:pPr lvl="1"/>
            <a:r>
              <a:rPr lang="ko-KR" altLang="en-US" dirty="0" err="1"/>
              <a:t>블록체인에</a:t>
            </a:r>
            <a:r>
              <a:rPr lang="ko-KR" altLang="en-US" dirty="0"/>
              <a:t> 값이 영속적으로 저장되지 않음</a:t>
            </a:r>
            <a:endParaRPr lang="en-US" altLang="ko-KR" dirty="0"/>
          </a:p>
          <a:p>
            <a:pPr lvl="2"/>
            <a:r>
              <a:rPr lang="ko-KR" altLang="en-US" dirty="0"/>
              <a:t>함수 실행 기간에만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기타</a:t>
            </a:r>
            <a:r>
              <a:rPr lang="en-US" altLang="ko-KR" dirty="0"/>
              <a:t>: </a:t>
            </a:r>
            <a:r>
              <a:rPr lang="ko-KR" altLang="en-US" dirty="0" err="1"/>
              <a:t>특수전역변수</a:t>
            </a:r>
            <a:r>
              <a:rPr lang="ko-KR" altLang="en-US" dirty="0"/>
              <a:t> </a:t>
            </a:r>
            <a:r>
              <a:rPr lang="en-US" altLang="ko-KR" dirty="0"/>
              <a:t>(special global variables)</a:t>
            </a:r>
          </a:p>
          <a:p>
            <a:pPr lvl="1"/>
            <a:r>
              <a:rPr lang="ko-KR" altLang="en-US" dirty="0" err="1"/>
              <a:t>블록체인과</a:t>
            </a:r>
            <a:r>
              <a:rPr lang="ko-KR" altLang="en-US" dirty="0"/>
              <a:t> 관련된 정보를 제공하기 위해 내장된 변수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block, </a:t>
            </a:r>
            <a:r>
              <a:rPr lang="en-US" altLang="ko-KR" dirty="0" err="1"/>
              <a:t>tx</a:t>
            </a:r>
            <a:r>
              <a:rPr lang="en-US" altLang="ko-KR" dirty="0"/>
              <a:t>, </a:t>
            </a:r>
            <a:r>
              <a:rPr lang="en-US" altLang="ko-KR" dirty="0" err="1"/>
              <a:t>msg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46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상태변수 가시성 </a:t>
            </a:r>
            <a:r>
              <a:rPr lang="en-US" altLang="ko-KR" dirty="0"/>
              <a:t>(Visibility)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가시성</a:t>
            </a:r>
            <a:endParaRPr lang="en-US" altLang="ko-KR" dirty="0"/>
          </a:p>
          <a:p>
            <a:pPr lvl="1"/>
            <a:r>
              <a:rPr lang="ko-KR" altLang="en-US" dirty="0" err="1"/>
              <a:t>컨트랙트</a:t>
            </a:r>
            <a:r>
              <a:rPr lang="ko-KR" altLang="en-US" dirty="0"/>
              <a:t> 내부 또는 외부에서 변수를 접근할 때 가시성 유형에 따라 접근이 제어됨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가시성 유형</a:t>
            </a:r>
            <a:endParaRPr lang="en-US" altLang="ko-KR" dirty="0"/>
          </a:p>
          <a:p>
            <a:pPr lvl="1"/>
            <a:r>
              <a:rPr lang="en-US" altLang="ko-KR" dirty="0"/>
              <a:t>internal: </a:t>
            </a:r>
            <a:r>
              <a:rPr lang="ko-KR" altLang="en-US" dirty="0" err="1"/>
              <a:t>컨트랙트</a:t>
            </a:r>
            <a:r>
              <a:rPr lang="ko-KR" altLang="en-US" dirty="0"/>
              <a:t> 내부에서 접근 가능</a:t>
            </a:r>
            <a:endParaRPr lang="en-US" altLang="ko-KR" dirty="0"/>
          </a:p>
          <a:p>
            <a:pPr lvl="2"/>
            <a:r>
              <a:rPr lang="ko-KR" altLang="en-US" dirty="0" err="1"/>
              <a:t>상속시</a:t>
            </a:r>
            <a:r>
              <a:rPr lang="ko-KR" altLang="en-US" dirty="0"/>
              <a:t> 자식 </a:t>
            </a:r>
            <a:r>
              <a:rPr lang="ko-KR" altLang="en-US" dirty="0" err="1"/>
              <a:t>컨트랙트에서</a:t>
            </a:r>
            <a:r>
              <a:rPr lang="ko-KR" altLang="en-US" dirty="0"/>
              <a:t> 접근 가능</a:t>
            </a:r>
            <a:endParaRPr lang="en-US" altLang="ko-KR" dirty="0"/>
          </a:p>
          <a:p>
            <a:pPr lvl="1"/>
            <a:r>
              <a:rPr lang="en-US" altLang="ko-KR" dirty="0"/>
              <a:t>private: </a:t>
            </a:r>
            <a:r>
              <a:rPr lang="ko-KR" altLang="en-US" dirty="0" err="1"/>
              <a:t>컨트랙트</a:t>
            </a:r>
            <a:r>
              <a:rPr lang="ko-KR" altLang="en-US" dirty="0"/>
              <a:t> 내부에서 접근 가능</a:t>
            </a:r>
            <a:endParaRPr lang="en-US" altLang="ko-KR" dirty="0"/>
          </a:p>
          <a:p>
            <a:pPr lvl="2"/>
            <a:r>
              <a:rPr lang="ko-KR" altLang="en-US" dirty="0" err="1"/>
              <a:t>상속시</a:t>
            </a:r>
            <a:r>
              <a:rPr lang="ko-KR" altLang="en-US" dirty="0"/>
              <a:t> 자식 </a:t>
            </a:r>
            <a:r>
              <a:rPr lang="ko-KR" altLang="en-US" dirty="0" err="1"/>
              <a:t>컨트랙트에서</a:t>
            </a:r>
            <a:r>
              <a:rPr lang="ko-KR" altLang="en-US" dirty="0"/>
              <a:t> 접근 불가능</a:t>
            </a:r>
            <a:endParaRPr lang="en-US" altLang="ko-KR" dirty="0"/>
          </a:p>
          <a:p>
            <a:pPr lvl="1"/>
            <a:r>
              <a:rPr lang="en-US" altLang="ko-KR" dirty="0"/>
              <a:t>public: </a:t>
            </a:r>
            <a:r>
              <a:rPr lang="ko-KR" altLang="en-US" dirty="0" err="1"/>
              <a:t>컨트랙트</a:t>
            </a:r>
            <a:r>
              <a:rPr lang="ko-KR" altLang="en-US" dirty="0"/>
              <a:t> 내부 및 외부에서 접근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유의할 점</a:t>
            </a:r>
            <a:endParaRPr lang="en-US" altLang="ko-KR" dirty="0"/>
          </a:p>
          <a:p>
            <a:pPr lvl="1"/>
            <a:r>
              <a:rPr lang="ko-KR" altLang="en-US" dirty="0" err="1"/>
              <a:t>상태변수의</a:t>
            </a:r>
            <a:r>
              <a:rPr lang="ko-KR" altLang="en-US" dirty="0"/>
              <a:t> </a:t>
            </a:r>
            <a:r>
              <a:rPr lang="en-US" altLang="ko-KR" dirty="0"/>
              <a:t>default </a:t>
            </a:r>
            <a:r>
              <a:rPr lang="ko-KR" altLang="en-US" dirty="0"/>
              <a:t>가시성은 </a:t>
            </a:r>
            <a:r>
              <a:rPr lang="en-US" altLang="ko-KR" dirty="0"/>
              <a:t>internal</a:t>
            </a:r>
          </a:p>
          <a:p>
            <a:pPr lvl="1"/>
            <a:r>
              <a:rPr lang="ko-KR" altLang="en-US" dirty="0"/>
              <a:t>함수 내부의 지역변수에 대해서는 가시성을 지정하는 것이 불가</a:t>
            </a:r>
            <a:endParaRPr lang="en-US" altLang="ko-KR" dirty="0"/>
          </a:p>
          <a:p>
            <a:pPr lvl="2"/>
            <a:r>
              <a:rPr lang="ko-KR" altLang="en-US" dirty="0"/>
              <a:t>함수 내부에서만 접근 가능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996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EA600-E588-459B-99C6-4D20F132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“constant” </a:t>
            </a:r>
            <a:r>
              <a:rPr lang="ko-KR" altLang="en-US" dirty="0"/>
              <a:t>및</a:t>
            </a:r>
            <a:r>
              <a:rPr lang="en-US" altLang="ko-KR" dirty="0"/>
              <a:t> “immutable” </a:t>
            </a:r>
            <a:r>
              <a:rPr lang="ko-KR" altLang="en-US" dirty="0"/>
              <a:t>상태변수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0B7DEE-B471-474E-9EE9-C34B7FAB0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“constant” </a:t>
            </a:r>
            <a:r>
              <a:rPr lang="ko-KR" altLang="en-US" dirty="0"/>
              <a:t>또는</a:t>
            </a:r>
            <a:r>
              <a:rPr lang="en-US" altLang="ko-KR" dirty="0"/>
              <a:t> “immutable”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선언된 상태변수</a:t>
            </a:r>
            <a:endParaRPr lang="en-US" altLang="ko-KR" dirty="0"/>
          </a:p>
          <a:p>
            <a:pPr lvl="1"/>
            <a:r>
              <a:rPr lang="ko-KR" altLang="en-US" dirty="0"/>
              <a:t>값의 변경이 불가능한 상태변수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“constant“</a:t>
            </a:r>
            <a:r>
              <a:rPr lang="ko-KR" altLang="en-US" dirty="0"/>
              <a:t> 상태변수는 선언 시점에 값을 할당 </a:t>
            </a:r>
            <a:r>
              <a:rPr lang="en-US" altLang="ko-KR" dirty="0"/>
              <a:t>(</a:t>
            </a:r>
            <a:r>
              <a:rPr lang="ko-KR" altLang="en-US" dirty="0"/>
              <a:t>컴파일 시점에 값이 결정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“immutable” </a:t>
            </a:r>
            <a:r>
              <a:rPr lang="ko-KR" altLang="en-US" dirty="0"/>
              <a:t>상태변수는 선언 시점 또는 </a:t>
            </a:r>
            <a:r>
              <a:rPr lang="en-US" altLang="ko-KR" dirty="0"/>
              <a:t>constructor</a:t>
            </a:r>
            <a:r>
              <a:rPr lang="ko-KR" altLang="en-US" dirty="0"/>
              <a:t>에서 값을 할당 </a:t>
            </a:r>
            <a:r>
              <a:rPr lang="en-US" altLang="ko-KR" dirty="0"/>
              <a:t>(constructor </a:t>
            </a:r>
            <a:r>
              <a:rPr lang="ko-KR" altLang="en-US" dirty="0"/>
              <a:t>실행이 끝난 직후에 값이 결정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스토리지 공간 및 가스 비용</a:t>
            </a:r>
            <a:endParaRPr lang="en-US" altLang="ko-KR" dirty="0"/>
          </a:p>
          <a:p>
            <a:pPr lvl="1"/>
            <a:r>
              <a:rPr lang="ko-KR" altLang="en-US" dirty="0"/>
              <a:t>컴파일러는 </a:t>
            </a:r>
            <a:r>
              <a:rPr lang="en-US" altLang="ko-KR" dirty="0"/>
              <a:t>“constant” </a:t>
            </a:r>
            <a:r>
              <a:rPr lang="ko-KR" altLang="en-US" dirty="0"/>
              <a:t>또는</a:t>
            </a:r>
            <a:r>
              <a:rPr lang="en-US" altLang="ko-KR" dirty="0"/>
              <a:t> “immutable”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선언된 상태변수를 위해 별도의 스토리지 공간을 배정하지 않음 </a:t>
            </a:r>
            <a:r>
              <a:rPr lang="en-US" altLang="ko-KR" dirty="0"/>
              <a:t>(</a:t>
            </a:r>
            <a:r>
              <a:rPr lang="ko-KR" altLang="en-US" dirty="0"/>
              <a:t>바이트</a:t>
            </a:r>
            <a:r>
              <a:rPr lang="en-US" altLang="ko-KR" dirty="0"/>
              <a:t> </a:t>
            </a:r>
            <a:r>
              <a:rPr lang="ko-KR" altLang="en-US" dirty="0"/>
              <a:t>코드에 값이 직접 포함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다른 상태변수에 비해 낮은 가스 비용이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제약</a:t>
            </a:r>
            <a:endParaRPr lang="en-US" altLang="ko-KR" dirty="0"/>
          </a:p>
          <a:p>
            <a:pPr lvl="1"/>
            <a:r>
              <a:rPr lang="en-US" altLang="ko-KR" dirty="0"/>
              <a:t>“value</a:t>
            </a:r>
            <a:r>
              <a:rPr lang="ko-KR" altLang="en-US" dirty="0"/>
              <a:t> </a:t>
            </a:r>
            <a:r>
              <a:rPr lang="en-US" altLang="ko-KR" dirty="0"/>
              <a:t>type”</a:t>
            </a:r>
            <a:r>
              <a:rPr lang="ko-KR" altLang="en-US" dirty="0"/>
              <a:t>과 </a:t>
            </a:r>
            <a:r>
              <a:rPr lang="en-US" altLang="ko-KR" dirty="0"/>
              <a:t>“string”</a:t>
            </a:r>
            <a:r>
              <a:rPr lang="ko-KR" altLang="en-US" dirty="0"/>
              <a:t>에만 적용 가능</a:t>
            </a:r>
          </a:p>
        </p:txBody>
      </p:sp>
    </p:spTree>
    <p:extLst>
      <p:ext uri="{BB962C8B-B14F-4D97-AF65-F5344CB8AC3E}">
        <p14:creationId xmlns:p14="http://schemas.microsoft.com/office/powerpoint/2010/main" val="29701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자료형 </a:t>
            </a:r>
            <a:r>
              <a:rPr lang="en-US" altLang="ko-KR" dirty="0"/>
              <a:t>(Types)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 err="1">
                <a:solidFill>
                  <a:srgbClr val="C00000"/>
                </a:solidFill>
              </a:rPr>
              <a:t>밸류형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(value types)</a:t>
            </a:r>
          </a:p>
          <a:p>
            <a:pPr lvl="1"/>
            <a:r>
              <a:rPr lang="ko-KR" altLang="en-US" dirty="0"/>
              <a:t>값</a:t>
            </a:r>
            <a:r>
              <a:rPr lang="en-US" altLang="ko-KR" dirty="0"/>
              <a:t>(value)</a:t>
            </a:r>
            <a:r>
              <a:rPr lang="ko-KR" altLang="en-US" dirty="0"/>
              <a:t>이 전달되는 </a:t>
            </a:r>
            <a:r>
              <a:rPr lang="ko-KR" altLang="en-US" dirty="0" err="1"/>
              <a:t>자료형</a:t>
            </a:r>
            <a:r>
              <a:rPr lang="ko-KR" altLang="en-US" dirty="0"/>
              <a:t> </a:t>
            </a:r>
            <a:r>
              <a:rPr lang="en-US" altLang="ko-KR" dirty="0"/>
              <a:t>(“passed by value”)</a:t>
            </a:r>
          </a:p>
          <a:p>
            <a:pPr lvl="2"/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인자로 전달되거나 할당</a:t>
            </a:r>
            <a:r>
              <a:rPr lang="en-US" altLang="ko-KR" dirty="0"/>
              <a:t>(“=“)</a:t>
            </a:r>
            <a:r>
              <a:rPr lang="ko-KR" altLang="en-US" dirty="0"/>
              <a:t>에 사용될 경우 값이</a:t>
            </a:r>
            <a:r>
              <a:rPr lang="en-US" altLang="ko-KR" dirty="0"/>
              <a:t> </a:t>
            </a:r>
            <a:r>
              <a:rPr lang="ko-KR" altLang="en-US" dirty="0"/>
              <a:t>복사되어서 전달</a:t>
            </a:r>
            <a:endParaRPr lang="en-US" altLang="ko-KR" dirty="0"/>
          </a:p>
          <a:p>
            <a:pPr lvl="2"/>
            <a:r>
              <a:rPr lang="ko-KR" altLang="en-US" dirty="0" err="1"/>
              <a:t>밸류형</a:t>
            </a:r>
            <a:r>
              <a:rPr lang="ko-KR" altLang="en-US" dirty="0"/>
              <a:t> 상태변수</a:t>
            </a:r>
            <a:r>
              <a:rPr lang="en-US" altLang="ko-KR" dirty="0"/>
              <a:t>(state variable)</a:t>
            </a:r>
            <a:r>
              <a:rPr lang="ko-KR" altLang="en-US" dirty="0"/>
              <a:t>들은 </a:t>
            </a:r>
            <a:r>
              <a:rPr lang="en-US" altLang="ko-KR" dirty="0"/>
              <a:t>storage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2"/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내부에서 선언된 </a:t>
            </a:r>
            <a:r>
              <a:rPr lang="ko-KR" altLang="en-US" dirty="0" err="1"/>
              <a:t>밸류형</a:t>
            </a:r>
            <a:r>
              <a:rPr lang="ko-KR" altLang="en-US" dirty="0"/>
              <a:t> 변수들은 </a:t>
            </a:r>
            <a:r>
              <a:rPr lang="en-US" altLang="ko-KR" dirty="0"/>
              <a:t>memory </a:t>
            </a:r>
            <a:r>
              <a:rPr lang="ko-KR" altLang="en-US" dirty="0"/>
              <a:t>또는 </a:t>
            </a:r>
            <a:r>
              <a:rPr lang="en-US" altLang="ko-KR" dirty="0"/>
              <a:t>stack</a:t>
            </a:r>
            <a:r>
              <a:rPr lang="ko-KR" altLang="en-US" dirty="0"/>
              <a:t>에 저장 </a:t>
            </a:r>
            <a:endParaRPr lang="en-US" altLang="ko-KR" dirty="0"/>
          </a:p>
          <a:p>
            <a:pPr lvl="3"/>
            <a:r>
              <a:rPr lang="ko-KR" altLang="en-US" dirty="0"/>
              <a:t>데이터 저장 위치를 변경하는 것은 불가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 err="1"/>
              <a:t>부울형</a:t>
            </a:r>
            <a:r>
              <a:rPr lang="en-US" altLang="ko-KR" dirty="0"/>
              <a:t>(Boolean), </a:t>
            </a:r>
            <a:r>
              <a:rPr lang="ko-KR" altLang="en-US" dirty="0"/>
              <a:t>정수형</a:t>
            </a:r>
            <a:r>
              <a:rPr lang="en-US" altLang="ko-KR" dirty="0"/>
              <a:t>(integer), </a:t>
            </a:r>
            <a:r>
              <a:rPr lang="ko-KR" altLang="en-US" dirty="0"/>
              <a:t>고정 소수점 실수형</a:t>
            </a:r>
            <a:r>
              <a:rPr lang="en-US" altLang="ko-KR" dirty="0"/>
              <a:t>(fixed point number), </a:t>
            </a:r>
            <a:r>
              <a:rPr lang="ko-KR" altLang="en-US" dirty="0"/>
              <a:t>주소형</a:t>
            </a:r>
            <a:r>
              <a:rPr lang="en-US" altLang="ko-KR" dirty="0"/>
              <a:t>(address), </a:t>
            </a:r>
            <a:r>
              <a:rPr lang="ko-KR" altLang="en-US" dirty="0" err="1"/>
              <a:t>컨트랙트형</a:t>
            </a:r>
            <a:r>
              <a:rPr lang="en-US" altLang="ko-KR" dirty="0"/>
              <a:t>(contract), </a:t>
            </a:r>
            <a:r>
              <a:rPr lang="ko-KR" altLang="en-US" dirty="0"/>
              <a:t>고정 크기 바이트 배열</a:t>
            </a:r>
            <a:r>
              <a:rPr lang="en-US" altLang="ko-KR" dirty="0"/>
              <a:t>(fixed-size byte array), </a:t>
            </a:r>
            <a:r>
              <a:rPr lang="ko-KR" altLang="en-US" dirty="0"/>
              <a:t>문자열</a:t>
            </a:r>
            <a:r>
              <a:rPr lang="en-US" altLang="ko-KR" dirty="0"/>
              <a:t>(literal), </a:t>
            </a:r>
            <a:r>
              <a:rPr lang="ko-KR" altLang="en-US" dirty="0"/>
              <a:t>열거형</a:t>
            </a:r>
            <a:r>
              <a:rPr lang="en-US" altLang="ko-KR" dirty="0"/>
              <a:t>(</a:t>
            </a:r>
            <a:r>
              <a:rPr lang="en-US" altLang="ko-KR" dirty="0" err="1"/>
              <a:t>enum</a:t>
            </a:r>
            <a:r>
              <a:rPr lang="en-US" altLang="ko-KR" dirty="0"/>
              <a:t>), </a:t>
            </a:r>
            <a:r>
              <a:rPr lang="ko-KR" altLang="en-US" dirty="0"/>
              <a:t>함수형</a:t>
            </a:r>
            <a:r>
              <a:rPr lang="en-US" altLang="ko-KR" dirty="0"/>
              <a:t>(function) </a:t>
            </a:r>
            <a:r>
              <a:rPr lang="ko-KR" altLang="en-US" dirty="0"/>
              <a:t>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>
                <a:solidFill>
                  <a:srgbClr val="C00000"/>
                </a:solidFill>
              </a:rPr>
              <a:t>참조형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(reference types)</a:t>
            </a:r>
          </a:p>
          <a:p>
            <a:pPr lvl="1"/>
            <a:r>
              <a:rPr lang="ko-KR" altLang="en-US" dirty="0"/>
              <a:t>참조</a:t>
            </a:r>
            <a:r>
              <a:rPr lang="en-US" altLang="ko-KR" dirty="0"/>
              <a:t>(reference) </a:t>
            </a:r>
            <a:r>
              <a:rPr lang="ko-KR" altLang="en-US" dirty="0"/>
              <a:t>또는 위치</a:t>
            </a:r>
            <a:r>
              <a:rPr lang="en-US" altLang="ko-KR" dirty="0"/>
              <a:t>(address)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전달되는 자료형</a:t>
            </a:r>
            <a:endParaRPr lang="en-US" altLang="ko-KR" dirty="0"/>
          </a:p>
          <a:p>
            <a:pPr lvl="2"/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내부 또는</a:t>
            </a:r>
            <a:r>
              <a:rPr lang="en-US" altLang="ko-KR" dirty="0"/>
              <a:t> </a:t>
            </a:r>
            <a:r>
              <a:rPr lang="ko-KR" altLang="en-US" dirty="0"/>
              <a:t>인자에서 선언된 참조형 변수들은 데이터가 저장될 위치</a:t>
            </a:r>
            <a:r>
              <a:rPr lang="en-US" altLang="ko-KR" dirty="0"/>
              <a:t>(memory </a:t>
            </a:r>
            <a:r>
              <a:rPr lang="ko-KR" altLang="en-US" dirty="0"/>
              <a:t>또는</a:t>
            </a:r>
            <a:r>
              <a:rPr lang="en-US" altLang="ko-KR" dirty="0"/>
              <a:t> storage)</a:t>
            </a:r>
            <a:r>
              <a:rPr lang="ko-KR" altLang="en-US" dirty="0"/>
              <a:t>를 명시적으로 지정해야 함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 key-value </a:t>
            </a:r>
            <a:r>
              <a:rPr lang="ko-KR" altLang="en-US" dirty="0"/>
              <a:t>형태의 매핑형</a:t>
            </a:r>
            <a:r>
              <a:rPr lang="en-US" altLang="ko-KR" dirty="0"/>
              <a:t>(mapping)</a:t>
            </a:r>
            <a:r>
              <a:rPr lang="ko-KR" altLang="en-US" dirty="0"/>
              <a:t>은 반드시 스토리지로 지정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스택</a:t>
            </a:r>
            <a:r>
              <a:rPr lang="en-US" altLang="ko-KR" dirty="0"/>
              <a:t>(stack) </a:t>
            </a:r>
            <a:r>
              <a:rPr lang="ko-KR" altLang="en-US" dirty="0"/>
              <a:t>공간에는 </a:t>
            </a:r>
            <a:r>
              <a:rPr lang="en-US" altLang="ko-KR" dirty="0"/>
              <a:t>8 bytes</a:t>
            </a:r>
            <a:r>
              <a:rPr lang="ko-KR" altLang="en-US" dirty="0"/>
              <a:t>를 초과하는 데이터를 저장할 수 없음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주의</a:t>
            </a:r>
            <a:r>
              <a:rPr lang="en-US" altLang="ko-KR" dirty="0"/>
              <a:t>) </a:t>
            </a:r>
            <a:r>
              <a:rPr lang="ko-KR" altLang="en-US" dirty="0"/>
              <a:t>함수 인자의 경우 </a:t>
            </a:r>
            <a:r>
              <a:rPr lang="en-US" altLang="ko-KR" dirty="0"/>
              <a:t>memory</a:t>
            </a:r>
            <a:r>
              <a:rPr lang="ko-KR" altLang="en-US" dirty="0"/>
              <a:t>로 지정하면 복사된 값이 생성</a:t>
            </a:r>
            <a:r>
              <a:rPr lang="en-US" altLang="ko-KR" dirty="0"/>
              <a:t>(call by value), storage</a:t>
            </a:r>
            <a:r>
              <a:rPr lang="ko-KR" altLang="en-US" dirty="0"/>
              <a:t>로 지정하면 레퍼런스가 전달</a:t>
            </a:r>
            <a:r>
              <a:rPr lang="en-US" altLang="ko-KR" dirty="0"/>
              <a:t>(call by reference)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</a:t>
            </a:r>
            <a:r>
              <a:rPr lang="ko-KR" altLang="en-US" dirty="0"/>
              <a:t> 배열</a:t>
            </a:r>
            <a:r>
              <a:rPr lang="en-US" altLang="ko-KR" dirty="0"/>
              <a:t>(array), </a:t>
            </a:r>
            <a:r>
              <a:rPr lang="ko-KR" altLang="en-US" dirty="0"/>
              <a:t>구조체</a:t>
            </a:r>
            <a:r>
              <a:rPr lang="en-US" altLang="ko-KR" dirty="0"/>
              <a:t>(struct), </a:t>
            </a:r>
            <a:r>
              <a:rPr lang="ko-KR" altLang="en-US" dirty="0"/>
              <a:t>매핑</a:t>
            </a:r>
            <a:r>
              <a:rPr lang="en-US" altLang="ko-KR" dirty="0"/>
              <a:t>(mapping)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09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B.</a:t>
            </a:r>
            <a:r>
              <a:rPr lang="ko-KR" altLang="en-US" dirty="0"/>
              <a:t> </a:t>
            </a:r>
            <a:r>
              <a:rPr lang="ko-KR" altLang="en-US" dirty="0" err="1"/>
              <a:t>밸류형</a:t>
            </a:r>
            <a:r>
              <a:rPr lang="ko-KR" altLang="en-US" dirty="0"/>
              <a:t> </a:t>
            </a:r>
            <a:r>
              <a:rPr lang="en-US" altLang="ko-KR" dirty="0"/>
              <a:t>(Value Types) </a:t>
            </a:r>
          </a:p>
        </p:txBody>
      </p:sp>
    </p:spTree>
    <p:extLst>
      <p:ext uri="{BB962C8B-B14F-4D97-AF65-F5344CB8AC3E}">
        <p14:creationId xmlns:p14="http://schemas.microsoft.com/office/powerpoint/2010/main" val="1195936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부울형</a:t>
            </a:r>
            <a:r>
              <a:rPr lang="en-US" altLang="ko-KR" dirty="0"/>
              <a:t>, </a:t>
            </a:r>
            <a:r>
              <a:rPr lang="ko-KR" altLang="en-US" dirty="0"/>
              <a:t>정수형</a:t>
            </a:r>
            <a:r>
              <a:rPr lang="en-US" altLang="ko-KR" dirty="0"/>
              <a:t>, </a:t>
            </a:r>
            <a:r>
              <a:rPr lang="ko-KR" altLang="en-US" dirty="0"/>
              <a:t>열거형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부울형</a:t>
            </a:r>
            <a:r>
              <a:rPr lang="ko-KR" altLang="en-US" dirty="0"/>
              <a:t> </a:t>
            </a:r>
            <a:r>
              <a:rPr lang="en-US" altLang="ko-KR" dirty="0"/>
              <a:t>(Booleans)</a:t>
            </a:r>
          </a:p>
          <a:p>
            <a:pPr lvl="1"/>
            <a:r>
              <a:rPr lang="en-US" altLang="ko-KR" dirty="0"/>
              <a:t>bool: </a:t>
            </a:r>
            <a:r>
              <a:rPr lang="ko-KR" altLang="en-US" dirty="0"/>
              <a:t>참</a:t>
            </a:r>
            <a:r>
              <a:rPr lang="en-US" altLang="ko-KR" dirty="0"/>
              <a:t> </a:t>
            </a:r>
            <a:r>
              <a:rPr lang="ko-KR" altLang="en-US" dirty="0"/>
              <a:t>또는 거짓 </a:t>
            </a:r>
            <a:r>
              <a:rPr lang="en-US" altLang="ko-KR" dirty="0"/>
              <a:t>(true or false)</a:t>
            </a:r>
          </a:p>
          <a:p>
            <a:pPr lvl="1"/>
            <a:r>
              <a:rPr lang="ko-KR" altLang="en-US" dirty="0"/>
              <a:t>사용 가능한 연산자</a:t>
            </a:r>
            <a:endParaRPr lang="en-US" altLang="ko-KR" dirty="0"/>
          </a:p>
          <a:p>
            <a:pPr lvl="2"/>
            <a:r>
              <a:rPr lang="en-US" altLang="ko-KR" dirty="0"/>
              <a:t>! (logical negation)</a:t>
            </a:r>
          </a:p>
          <a:p>
            <a:pPr lvl="2"/>
            <a:r>
              <a:rPr lang="en-US" altLang="ko-KR" dirty="0"/>
              <a:t>&amp;&amp; (logical conjunction, “and”)</a:t>
            </a:r>
          </a:p>
          <a:p>
            <a:pPr lvl="2"/>
            <a:r>
              <a:rPr lang="en-US" altLang="ko-KR" dirty="0"/>
              <a:t>|| (logical disjunction, “or”)</a:t>
            </a:r>
          </a:p>
          <a:p>
            <a:pPr lvl="2"/>
            <a:r>
              <a:rPr lang="en-US" altLang="ko-KR" dirty="0"/>
              <a:t>== (equality)</a:t>
            </a:r>
          </a:p>
          <a:p>
            <a:pPr lvl="2"/>
            <a:r>
              <a:rPr lang="en-US" altLang="ko-KR" dirty="0"/>
              <a:t>!= (inequality)</a:t>
            </a:r>
          </a:p>
          <a:p>
            <a:endParaRPr lang="en-US" altLang="ko-KR" dirty="0"/>
          </a:p>
          <a:p>
            <a:r>
              <a:rPr lang="ko-KR" altLang="en-US" dirty="0"/>
              <a:t>정수형 </a:t>
            </a:r>
            <a:r>
              <a:rPr lang="en-US" altLang="ko-KR" dirty="0"/>
              <a:t>(Integers)</a:t>
            </a:r>
          </a:p>
          <a:p>
            <a:pPr lvl="1"/>
            <a:r>
              <a:rPr lang="en-US" altLang="ko-KR" dirty="0"/>
              <a:t>int </a:t>
            </a:r>
            <a:r>
              <a:rPr lang="ko-KR" altLang="en-US" dirty="0"/>
              <a:t>또는 </a:t>
            </a:r>
            <a:r>
              <a:rPr lang="en-US" altLang="ko-KR" dirty="0" err="1"/>
              <a:t>uint</a:t>
            </a:r>
            <a:r>
              <a:rPr lang="en-US" altLang="ko-KR" dirty="0"/>
              <a:t>: </a:t>
            </a:r>
            <a:r>
              <a:rPr lang="ko-KR" altLang="en-US" dirty="0"/>
              <a:t>부호가 있는 정수 또는 부호가 없는 정수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int8, int16, int24, int32, … int256  (8 bits ~ 256 bits)</a:t>
            </a:r>
          </a:p>
          <a:p>
            <a:pPr lvl="1"/>
            <a:r>
              <a:rPr lang="en-US" altLang="ko-KR" dirty="0"/>
              <a:t>int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en-US" altLang="ko-KR" dirty="0" err="1"/>
              <a:t>uint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각각 </a:t>
            </a:r>
            <a:r>
              <a:rPr lang="en-US" altLang="ko-KR" dirty="0"/>
              <a:t>int256 </a:t>
            </a:r>
            <a:r>
              <a:rPr lang="ko-KR" altLang="en-US" dirty="0"/>
              <a:t>및 </a:t>
            </a:r>
            <a:r>
              <a:rPr lang="en-US" altLang="ko-KR" dirty="0"/>
              <a:t>uint256</a:t>
            </a:r>
          </a:p>
          <a:p>
            <a:pPr lvl="1"/>
            <a:r>
              <a:rPr lang="ko-KR" altLang="en-US" dirty="0"/>
              <a:t>사용 가능한 연산자</a:t>
            </a:r>
            <a:endParaRPr lang="en-US" altLang="ko-KR" dirty="0"/>
          </a:p>
          <a:p>
            <a:pPr lvl="2"/>
            <a:r>
              <a:rPr lang="ko-KR" altLang="en-US" dirty="0"/>
              <a:t>비교</a:t>
            </a:r>
            <a:r>
              <a:rPr lang="en-US" altLang="ko-KR" dirty="0"/>
              <a:t>(==, &lt;. &gt;), </a:t>
            </a:r>
            <a:r>
              <a:rPr lang="ko-KR" altLang="en-US" dirty="0"/>
              <a:t>비트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  <a:r>
              <a:rPr lang="en-US" altLang="ko-KR" dirty="0"/>
              <a:t>(~, &lt;&lt;, &gt;&gt;), </a:t>
            </a:r>
            <a:r>
              <a:rPr lang="ko-KR" altLang="en-US" dirty="0"/>
              <a:t>사칙연산</a:t>
            </a:r>
            <a:r>
              <a:rPr lang="en-US" altLang="ko-KR" dirty="0"/>
              <a:t>(+, -, x, /), </a:t>
            </a:r>
            <a:r>
              <a:rPr lang="ko-KR" altLang="en-US" dirty="0"/>
              <a:t>모듈로 연산</a:t>
            </a:r>
            <a:r>
              <a:rPr lang="en-US" altLang="ko-KR" dirty="0"/>
              <a:t>(%), </a:t>
            </a:r>
            <a:r>
              <a:rPr lang="ko-KR" altLang="en-US" dirty="0" err="1"/>
              <a:t>지수승</a:t>
            </a:r>
            <a:r>
              <a:rPr lang="en-US" altLang="ko-KR" dirty="0"/>
              <a:t>(**)</a:t>
            </a:r>
          </a:p>
          <a:p>
            <a:endParaRPr lang="en-US" altLang="ko-KR" dirty="0"/>
          </a:p>
          <a:p>
            <a:r>
              <a:rPr lang="ko-KR" altLang="en-US" dirty="0"/>
              <a:t>열거형</a:t>
            </a:r>
            <a:r>
              <a:rPr lang="en-US" altLang="ko-KR" dirty="0"/>
              <a:t> (Enumerations)</a:t>
            </a:r>
          </a:p>
          <a:p>
            <a:pPr lvl="1"/>
            <a:r>
              <a:rPr lang="en-US" altLang="ko-KR" dirty="0" err="1"/>
              <a:t>enum</a:t>
            </a:r>
            <a:r>
              <a:rPr lang="en-US" altLang="ko-KR" dirty="0"/>
              <a:t>: 0</a:t>
            </a:r>
            <a:r>
              <a:rPr lang="ko-KR" altLang="en-US" dirty="0"/>
              <a:t>부터 순차적으로 증가하는 정수 </a:t>
            </a:r>
            <a:r>
              <a:rPr lang="en-US" altLang="ko-KR" dirty="0"/>
              <a:t>(</a:t>
            </a:r>
            <a:r>
              <a:rPr lang="ko-KR" altLang="en-US" dirty="0"/>
              <a:t>사용자 정의형 타입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/>
              <a:t>SomeData</a:t>
            </a:r>
            <a:r>
              <a:rPr lang="en-US" altLang="ko-KR" dirty="0"/>
              <a:t> {DEFAULT, ONE, TWO};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575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고정 소수점 실수형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고정 소수점 실수형 </a:t>
            </a:r>
            <a:r>
              <a:rPr lang="en-US" altLang="ko-KR" dirty="0"/>
              <a:t>(Fixed Point Numbers)</a:t>
            </a:r>
          </a:p>
          <a:p>
            <a:pPr lvl="1"/>
            <a:r>
              <a:rPr lang="en-US" altLang="ko-KR" dirty="0"/>
              <a:t>fixed </a:t>
            </a:r>
            <a:r>
              <a:rPr lang="ko-KR" altLang="en-US" dirty="0"/>
              <a:t>또는 </a:t>
            </a:r>
            <a:r>
              <a:rPr lang="en-US" altLang="ko-KR" dirty="0" err="1"/>
              <a:t>ufixed</a:t>
            </a:r>
            <a:r>
              <a:rPr lang="en-US" altLang="ko-KR" dirty="0"/>
              <a:t>: </a:t>
            </a:r>
            <a:r>
              <a:rPr lang="ko-KR" altLang="en-US" dirty="0"/>
              <a:t>부호가 있는 실수 또는 부호가 없는 실수</a:t>
            </a:r>
            <a:endParaRPr lang="en-US" altLang="ko-KR" dirty="0"/>
          </a:p>
          <a:p>
            <a:pPr lvl="1"/>
            <a:r>
              <a:rPr lang="en-US" altLang="ko-KR" dirty="0" err="1"/>
              <a:t>fixedMxN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 err="1"/>
              <a:t>ufixedMxN</a:t>
            </a:r>
            <a:r>
              <a:rPr lang="en-US" altLang="ko-KR" dirty="0"/>
              <a:t>: M</a:t>
            </a:r>
            <a:r>
              <a:rPr lang="ko-KR" altLang="en-US" dirty="0"/>
              <a:t>은 비트 단위의 크기</a:t>
            </a:r>
            <a:r>
              <a:rPr lang="en-US" altLang="ko-KR" dirty="0"/>
              <a:t>(8 ~ 256), N</a:t>
            </a:r>
            <a:r>
              <a:rPr lang="ko-KR" altLang="en-US" dirty="0"/>
              <a:t>은 소수점 이하 자릿수 </a:t>
            </a:r>
            <a:r>
              <a:rPr lang="en-US" altLang="ko-KR" dirty="0"/>
              <a:t>(</a:t>
            </a:r>
            <a:r>
              <a:rPr lang="ko-KR" altLang="en-US" dirty="0"/>
              <a:t>최대 </a:t>
            </a:r>
            <a:r>
              <a:rPr lang="en-US" altLang="ko-KR" dirty="0"/>
              <a:t>0 ~ 80)</a:t>
            </a:r>
          </a:p>
          <a:p>
            <a:pPr lvl="2"/>
            <a:r>
              <a:rPr lang="en-US" altLang="ko-KR" dirty="0"/>
              <a:t>fixed </a:t>
            </a:r>
            <a:r>
              <a:rPr lang="ko-KR" altLang="en-US" dirty="0"/>
              <a:t>또는 </a:t>
            </a:r>
            <a:r>
              <a:rPr lang="en-US" altLang="ko-KR" dirty="0" err="1"/>
              <a:t>ufixed</a:t>
            </a:r>
            <a:r>
              <a:rPr lang="ko-KR" altLang="en-US" dirty="0"/>
              <a:t>는 각각 </a:t>
            </a:r>
            <a:r>
              <a:rPr lang="en-US" altLang="ko-KR" dirty="0"/>
              <a:t>fixed128x18 </a:t>
            </a:r>
            <a:r>
              <a:rPr lang="ko-KR" altLang="en-US" dirty="0"/>
              <a:t>및 </a:t>
            </a:r>
            <a:r>
              <a:rPr lang="en-US" altLang="ko-KR" dirty="0"/>
              <a:t>ufixed128x18</a:t>
            </a:r>
          </a:p>
          <a:p>
            <a:pPr lvl="1"/>
            <a:r>
              <a:rPr lang="ko-KR" altLang="en-US" dirty="0"/>
              <a:t>사용 가능한</a:t>
            </a:r>
            <a:r>
              <a:rPr lang="en-US" altLang="ko-KR" dirty="0"/>
              <a:t>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2"/>
            <a:r>
              <a:rPr lang="en-US" altLang="ko-KR" dirty="0"/>
              <a:t>Comparisons: &lt;=, &lt;, ==, !=, &gt;=, &gt; (evaluate to bool)</a:t>
            </a:r>
          </a:p>
          <a:p>
            <a:pPr lvl="2"/>
            <a:r>
              <a:rPr lang="en-US" altLang="ko-KR" dirty="0"/>
              <a:t>Arithmetic operators: +, -, unary -, *, /, % (modulo)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268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주소형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두 가지 유형</a:t>
            </a:r>
            <a:endParaRPr lang="en-US" altLang="ko-KR" dirty="0"/>
          </a:p>
          <a:p>
            <a:pPr lvl="1"/>
            <a:r>
              <a:rPr lang="en-US" altLang="ko-KR" dirty="0"/>
              <a:t>address: </a:t>
            </a:r>
            <a:r>
              <a:rPr lang="ko-KR" altLang="en-US" dirty="0" err="1"/>
              <a:t>이더리움</a:t>
            </a:r>
            <a:r>
              <a:rPr lang="ko-KR" altLang="en-US" dirty="0"/>
              <a:t> 계정의 </a:t>
            </a:r>
            <a:r>
              <a:rPr lang="ko-KR" altLang="en-US" dirty="0" err="1"/>
              <a:t>주소값</a:t>
            </a:r>
            <a:endParaRPr lang="en-US" altLang="ko-KR" dirty="0"/>
          </a:p>
          <a:p>
            <a:pPr lvl="1"/>
            <a:r>
              <a:rPr lang="en-US" altLang="ko-KR" dirty="0"/>
              <a:t>address payable: </a:t>
            </a:r>
            <a:r>
              <a:rPr lang="ko-KR" altLang="en-US" dirty="0"/>
              <a:t>송금된 </a:t>
            </a:r>
            <a:r>
              <a:rPr lang="ko-KR" altLang="en-US" dirty="0" err="1"/>
              <a:t>이더를</a:t>
            </a:r>
            <a:r>
              <a:rPr lang="ko-KR" altLang="en-US" dirty="0"/>
              <a:t> 수신할 수 있는 계정의 </a:t>
            </a:r>
            <a:r>
              <a:rPr lang="ko-KR" altLang="en-US" dirty="0" err="1"/>
              <a:t>주소값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형 변환 </a:t>
            </a:r>
            <a:r>
              <a:rPr lang="en-US" altLang="ko-KR" dirty="0"/>
              <a:t>(Type Conversion)</a:t>
            </a:r>
          </a:p>
          <a:p>
            <a:pPr lvl="1"/>
            <a:r>
              <a:rPr lang="ko-KR" altLang="en-US" dirty="0"/>
              <a:t>암묵적</a:t>
            </a:r>
            <a:r>
              <a:rPr lang="en-US" altLang="ko-KR" dirty="0"/>
              <a:t> </a:t>
            </a:r>
            <a:r>
              <a:rPr lang="ko-KR" altLang="en-US" dirty="0"/>
              <a:t>변환</a:t>
            </a:r>
            <a:r>
              <a:rPr lang="en-US" altLang="ko-KR" dirty="0"/>
              <a:t>: “address payable” </a:t>
            </a:r>
            <a:r>
              <a:rPr lang="en-US" altLang="ko-KR" dirty="0">
                <a:sym typeface="Wingdings" panose="05000000000000000000" pitchFamily="2" charset="2"/>
              </a:rPr>
              <a:t> “address”</a:t>
            </a:r>
          </a:p>
          <a:p>
            <a:pPr lvl="1"/>
            <a:r>
              <a:rPr lang="ko-KR" altLang="en-US" dirty="0"/>
              <a:t>명시적 변환 </a:t>
            </a:r>
            <a:r>
              <a:rPr lang="en-US" altLang="ko-KR" dirty="0">
                <a:sym typeface="Wingdings" panose="05000000000000000000" pitchFamily="2" charset="2"/>
              </a:rPr>
              <a:t>payable(&lt;address&gt;)</a:t>
            </a:r>
            <a:r>
              <a:rPr lang="en-US" altLang="ko-KR" dirty="0"/>
              <a:t>: “address“ </a:t>
            </a:r>
            <a:r>
              <a:rPr lang="en-US" altLang="ko-KR" dirty="0">
                <a:sym typeface="Wingdings" panose="05000000000000000000" pitchFamily="2" charset="2"/>
              </a:rPr>
              <a:t> “address payable”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멤버 변수 및 함수</a:t>
            </a:r>
            <a:endParaRPr lang="en-US" altLang="ko-KR" dirty="0"/>
          </a:p>
          <a:p>
            <a:pPr lvl="1"/>
            <a:r>
              <a:rPr lang="en-US" altLang="ko-KR" dirty="0" err="1"/>
              <a:t>address.balance</a:t>
            </a:r>
            <a:r>
              <a:rPr lang="en-US" altLang="ko-KR" dirty="0"/>
              <a:t>: ETH</a:t>
            </a:r>
            <a:r>
              <a:rPr lang="ko-KR" altLang="en-US" dirty="0"/>
              <a:t> 잔고 수량 </a:t>
            </a:r>
            <a:r>
              <a:rPr lang="en-US" altLang="ko-KR" dirty="0"/>
              <a:t>(</a:t>
            </a:r>
            <a:r>
              <a:rPr lang="en-US" altLang="ko-KR" dirty="0" err="1"/>
              <a:t>wei</a:t>
            </a:r>
            <a:r>
              <a:rPr lang="en-US" altLang="ko-KR" dirty="0"/>
              <a:t> </a:t>
            </a:r>
            <a:r>
              <a:rPr lang="ko-KR" altLang="en-US" dirty="0"/>
              <a:t>단위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 err="1"/>
              <a:t>address.transfer</a:t>
            </a:r>
            <a:r>
              <a:rPr lang="en-US" altLang="ko-KR" dirty="0"/>
              <a:t>(</a:t>
            </a:r>
            <a:r>
              <a:rPr lang="en-US" altLang="ko-KR" dirty="0" err="1"/>
              <a:t>val</a:t>
            </a:r>
            <a:r>
              <a:rPr lang="en-US" altLang="ko-KR" dirty="0"/>
              <a:t>): “address”</a:t>
            </a:r>
            <a:r>
              <a:rPr lang="ko-KR" altLang="en-US" dirty="0"/>
              <a:t>로 </a:t>
            </a:r>
            <a:r>
              <a:rPr lang="en-US" altLang="ko-KR" dirty="0"/>
              <a:t>“</a:t>
            </a:r>
            <a:r>
              <a:rPr lang="en-US" altLang="ko-KR" dirty="0" err="1"/>
              <a:t>val</a:t>
            </a:r>
            <a:r>
              <a:rPr lang="en-US" altLang="ko-KR" dirty="0"/>
              <a:t>”</a:t>
            </a:r>
            <a:r>
              <a:rPr lang="ko-KR" altLang="en-US" dirty="0"/>
              <a:t>을 전송</a:t>
            </a:r>
            <a:endParaRPr lang="en-US" altLang="ko-KR" dirty="0"/>
          </a:p>
          <a:p>
            <a:pPr lvl="2"/>
            <a:r>
              <a:rPr lang="ko-KR" altLang="en-US" dirty="0" err="1"/>
              <a:t>실패시</a:t>
            </a:r>
            <a:r>
              <a:rPr lang="ko-KR" altLang="en-US" dirty="0"/>
              <a:t> 예외</a:t>
            </a:r>
            <a:r>
              <a:rPr lang="en-US" altLang="ko-KR" dirty="0"/>
              <a:t>(exception) </a:t>
            </a:r>
            <a:r>
              <a:rPr lang="ko-KR" altLang="en-US" dirty="0"/>
              <a:t>발생</a:t>
            </a:r>
            <a:r>
              <a:rPr lang="en-US" altLang="ko-KR" dirty="0"/>
              <a:t>, </a:t>
            </a:r>
            <a:r>
              <a:rPr lang="ko-KR" altLang="en-US" dirty="0" err="1"/>
              <a:t>컨트랙트</a:t>
            </a:r>
            <a:r>
              <a:rPr lang="ko-KR" altLang="en-US" dirty="0"/>
              <a:t> 실행을 중단하고 </a:t>
            </a:r>
            <a:r>
              <a:rPr lang="en-US" altLang="ko-KR" dirty="0"/>
              <a:t>“revert"</a:t>
            </a:r>
          </a:p>
          <a:p>
            <a:pPr lvl="1"/>
            <a:r>
              <a:rPr lang="en-US" altLang="ko-KR" dirty="0" err="1"/>
              <a:t>address.send</a:t>
            </a:r>
            <a:r>
              <a:rPr lang="en-US" altLang="ko-KR" dirty="0"/>
              <a:t>(</a:t>
            </a:r>
            <a:r>
              <a:rPr lang="en-US" altLang="ko-KR" dirty="0" err="1"/>
              <a:t>val</a:t>
            </a:r>
            <a:r>
              <a:rPr lang="en-US" altLang="ko-KR" dirty="0"/>
              <a:t>): “address”</a:t>
            </a:r>
            <a:r>
              <a:rPr lang="ko-KR" altLang="en-US" dirty="0"/>
              <a:t>로 </a:t>
            </a:r>
            <a:r>
              <a:rPr lang="en-US" altLang="ko-KR" dirty="0"/>
              <a:t>“</a:t>
            </a:r>
            <a:r>
              <a:rPr lang="en-US" altLang="ko-KR" dirty="0" err="1"/>
              <a:t>val</a:t>
            </a:r>
            <a:r>
              <a:rPr lang="en-US" altLang="ko-KR" dirty="0"/>
              <a:t>”</a:t>
            </a:r>
            <a:r>
              <a:rPr lang="ko-KR" altLang="en-US" dirty="0"/>
              <a:t>을 전송</a:t>
            </a:r>
            <a:endParaRPr lang="en-US" altLang="ko-KR" dirty="0"/>
          </a:p>
          <a:p>
            <a:pPr lvl="2"/>
            <a:r>
              <a:rPr lang="ko-KR" altLang="en-US" dirty="0" err="1"/>
              <a:t>실패시</a:t>
            </a:r>
            <a:r>
              <a:rPr lang="ko-KR" altLang="en-US" dirty="0"/>
              <a:t> </a:t>
            </a:r>
            <a:r>
              <a:rPr lang="en-US" altLang="ko-KR" dirty="0"/>
              <a:t>“false”</a:t>
            </a:r>
            <a:r>
              <a:rPr lang="ko-KR" altLang="en-US" dirty="0"/>
              <a:t>를 반환</a:t>
            </a:r>
            <a:r>
              <a:rPr lang="en-US" altLang="ko-KR" dirty="0"/>
              <a:t>, </a:t>
            </a:r>
            <a:r>
              <a:rPr lang="ko-KR" altLang="en-US" dirty="0" err="1"/>
              <a:t>컨트랙트</a:t>
            </a:r>
            <a:r>
              <a:rPr lang="ko-KR" altLang="en-US" dirty="0"/>
              <a:t> 실행의 </a:t>
            </a:r>
            <a:r>
              <a:rPr lang="en-US" altLang="ko-KR" dirty="0"/>
              <a:t>“revert” </a:t>
            </a:r>
            <a:r>
              <a:rPr lang="ko-KR" altLang="en-US" dirty="0"/>
              <a:t>없음</a:t>
            </a:r>
            <a:endParaRPr lang="en-US" altLang="ko-KR" dirty="0"/>
          </a:p>
          <a:p>
            <a:pPr lvl="1"/>
            <a:r>
              <a:rPr lang="en-US" altLang="ko-KR" dirty="0" err="1"/>
              <a:t>address.call</a:t>
            </a:r>
            <a:r>
              <a:rPr lang="en-US" altLang="ko-KR" dirty="0"/>
              <a:t>(…): “address”</a:t>
            </a:r>
            <a:r>
              <a:rPr lang="ko-KR" altLang="en-US" dirty="0"/>
              <a:t>의 함수를 호출</a:t>
            </a:r>
            <a:r>
              <a:rPr lang="en-US" altLang="ko-KR" dirty="0"/>
              <a:t>, gas</a:t>
            </a:r>
            <a:r>
              <a:rPr lang="ko-KR" altLang="en-US" dirty="0"/>
              <a:t> 지정 및 </a:t>
            </a:r>
            <a:r>
              <a:rPr lang="en-US" altLang="ko-KR" dirty="0"/>
              <a:t>value </a:t>
            </a:r>
            <a:r>
              <a:rPr lang="ko-KR" altLang="en-US" dirty="0"/>
              <a:t>전송 지원</a:t>
            </a:r>
            <a:endParaRPr lang="en-US" altLang="ko-KR" dirty="0"/>
          </a:p>
          <a:p>
            <a:pPr lvl="1"/>
            <a:r>
              <a:rPr lang="en-US" altLang="ko-KR" dirty="0" err="1"/>
              <a:t>address.delegatecall</a:t>
            </a:r>
            <a:r>
              <a:rPr lang="en-US" altLang="ko-KR" dirty="0"/>
              <a:t>(…): “address”</a:t>
            </a:r>
            <a:r>
              <a:rPr lang="ko-KR" altLang="en-US" dirty="0"/>
              <a:t>의 함수를 호출하되 현재 </a:t>
            </a:r>
            <a:r>
              <a:rPr lang="ko-KR" altLang="en-US" dirty="0" err="1"/>
              <a:t>컨트랙트의</a:t>
            </a:r>
            <a:r>
              <a:rPr lang="ko-KR" altLang="en-US" dirty="0"/>
              <a:t> 문맥을 유지</a:t>
            </a:r>
            <a:r>
              <a:rPr lang="en-US" altLang="ko-KR" dirty="0"/>
              <a:t>, gas </a:t>
            </a:r>
            <a:r>
              <a:rPr lang="ko-KR" altLang="en-US" dirty="0"/>
              <a:t>지정은 가능하지만</a:t>
            </a:r>
            <a:r>
              <a:rPr lang="en-US" altLang="ko-KR" dirty="0"/>
              <a:t> value </a:t>
            </a:r>
            <a:r>
              <a:rPr lang="ko-KR" altLang="en-US" dirty="0"/>
              <a:t>전송은 불가</a:t>
            </a:r>
            <a:endParaRPr lang="en-US" altLang="ko-KR" dirty="0"/>
          </a:p>
          <a:p>
            <a:pPr lvl="1"/>
            <a:r>
              <a:rPr lang="en-US" altLang="ko-KR" dirty="0" err="1"/>
              <a:t>address.staticcall</a:t>
            </a:r>
            <a:r>
              <a:rPr lang="en-US" altLang="ko-KR" dirty="0"/>
              <a:t>(…): “</a:t>
            </a:r>
            <a:r>
              <a:rPr lang="en-US" altLang="ko-KR" dirty="0" err="1"/>
              <a:t>address.call</a:t>
            </a:r>
            <a:r>
              <a:rPr lang="en-US" altLang="ko-KR" dirty="0"/>
              <a:t>(…)”</a:t>
            </a:r>
            <a:r>
              <a:rPr lang="ko-KR" altLang="en-US" dirty="0"/>
              <a:t>과 유사하지만 상태 변경이 불가 </a:t>
            </a:r>
            <a:r>
              <a:rPr lang="en-US" altLang="ko-KR" dirty="0"/>
              <a:t>(</a:t>
            </a:r>
            <a:r>
              <a:rPr lang="ko-KR" altLang="en-US" dirty="0"/>
              <a:t>상태 </a:t>
            </a:r>
            <a:r>
              <a:rPr lang="ko-KR" altLang="en-US" dirty="0" err="1"/>
              <a:t>변경시</a:t>
            </a:r>
            <a:r>
              <a:rPr lang="ko-KR" altLang="en-US" dirty="0"/>
              <a:t> </a:t>
            </a:r>
            <a:r>
              <a:rPr lang="en-US" altLang="ko-KR" dirty="0"/>
              <a:t>revert </a:t>
            </a:r>
            <a:r>
              <a:rPr lang="ko-KR" altLang="en-US" dirty="0"/>
              <a:t>발생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r>
              <a:rPr lang="en-US" altLang="ko-KR" dirty="0"/>
              <a:t>gas </a:t>
            </a:r>
            <a:r>
              <a:rPr lang="ko-KR" altLang="en-US" dirty="0"/>
              <a:t>지정은 가능하지만</a:t>
            </a:r>
            <a:r>
              <a:rPr lang="en-US" altLang="ko-KR" dirty="0"/>
              <a:t> value </a:t>
            </a:r>
            <a:r>
              <a:rPr lang="ko-KR" altLang="en-US" dirty="0"/>
              <a:t>전송은 불가</a:t>
            </a:r>
            <a:endParaRPr lang="en-US" altLang="ko-KR" dirty="0"/>
          </a:p>
          <a:p>
            <a:pPr lvl="1"/>
            <a:r>
              <a:rPr lang="en-US" altLang="ko-KR" dirty="0" err="1"/>
              <a:t>address.code</a:t>
            </a:r>
            <a:r>
              <a:rPr lang="en-US" altLang="ko-KR" dirty="0"/>
              <a:t>: “address”</a:t>
            </a:r>
            <a:r>
              <a:rPr lang="ko-KR" altLang="en-US" dirty="0"/>
              <a:t>의 바이트 코드</a:t>
            </a:r>
            <a:endParaRPr lang="en-US" altLang="ko-KR" dirty="0"/>
          </a:p>
          <a:p>
            <a:pPr lvl="1"/>
            <a:r>
              <a:rPr lang="en-US" altLang="ko-KR" dirty="0" err="1"/>
              <a:t>address.codehash</a:t>
            </a:r>
            <a:r>
              <a:rPr lang="en-US" altLang="ko-KR" dirty="0"/>
              <a:t>: “address”</a:t>
            </a:r>
            <a:r>
              <a:rPr lang="ko-KR" altLang="en-US" dirty="0"/>
              <a:t>의 바이트 코드의 </a:t>
            </a:r>
            <a:r>
              <a:rPr lang="en-US" altLang="ko-KR" dirty="0"/>
              <a:t>Keccak-256</a:t>
            </a:r>
            <a:r>
              <a:rPr lang="ko-KR" altLang="en-US" dirty="0"/>
              <a:t> </a:t>
            </a:r>
            <a:r>
              <a:rPr lang="en-US" altLang="ko-KR" dirty="0"/>
              <a:t>hash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4113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컨트랙트형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컨트랙트형</a:t>
            </a:r>
            <a:r>
              <a:rPr lang="ko-KR" altLang="en-US" dirty="0"/>
              <a:t> </a:t>
            </a:r>
            <a:r>
              <a:rPr lang="en-US" altLang="ko-KR" dirty="0"/>
              <a:t>(Contracts)</a:t>
            </a:r>
          </a:p>
          <a:p>
            <a:pPr lvl="1"/>
            <a:r>
              <a:rPr lang="ko-KR" altLang="en-US" dirty="0" err="1"/>
              <a:t>컨트랙트를</a:t>
            </a:r>
            <a:r>
              <a:rPr lang="ko-KR" altLang="en-US" dirty="0"/>
              <a:t> </a:t>
            </a:r>
            <a:r>
              <a:rPr lang="ko-KR" altLang="en-US" dirty="0" err="1"/>
              <a:t>자료형으로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ko-KR" altLang="en-US" dirty="0" err="1"/>
              <a:t>컨트랙트와</a:t>
            </a:r>
            <a:r>
              <a:rPr lang="en-US" altLang="ko-KR" dirty="0"/>
              <a:t> </a:t>
            </a:r>
            <a:r>
              <a:rPr lang="ko-KR" altLang="en-US" dirty="0"/>
              <a:t>주소는 상호간 변환 가능</a:t>
            </a:r>
            <a:endParaRPr lang="en-US" altLang="ko-KR" dirty="0"/>
          </a:p>
          <a:p>
            <a:pPr lvl="2"/>
            <a:r>
              <a:rPr lang="ko-KR" altLang="en-US" dirty="0" err="1"/>
              <a:t>컨트랙트</a:t>
            </a:r>
            <a:r>
              <a:rPr lang="ko-KR" altLang="en-US" dirty="0"/>
              <a:t> 객체 </a:t>
            </a:r>
            <a:r>
              <a:rPr lang="en-US" altLang="ko-KR" dirty="0"/>
              <a:t>x</a:t>
            </a:r>
            <a:r>
              <a:rPr lang="ko-KR" altLang="en-US" dirty="0"/>
              <a:t>를 주소로 변환</a:t>
            </a:r>
            <a:r>
              <a:rPr lang="en-US" altLang="ko-KR" dirty="0"/>
              <a:t>: address(x), payable(address(x))</a:t>
            </a:r>
          </a:p>
          <a:p>
            <a:pPr lvl="2"/>
            <a:r>
              <a:rPr lang="ko-KR" altLang="en-US" dirty="0"/>
              <a:t>주소 </a:t>
            </a:r>
            <a:r>
              <a:rPr lang="en-US" altLang="ko-KR" dirty="0"/>
              <a:t>a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 err="1"/>
              <a:t>컨트랙트</a:t>
            </a:r>
            <a:r>
              <a:rPr lang="ko-KR" altLang="en-US" dirty="0"/>
              <a:t> 객체 </a:t>
            </a:r>
            <a:r>
              <a:rPr lang="en-US" altLang="ko-KR" dirty="0"/>
              <a:t>x</a:t>
            </a:r>
            <a:r>
              <a:rPr lang="ko-KR" altLang="en-US" dirty="0"/>
              <a:t>로 변환</a:t>
            </a:r>
            <a:r>
              <a:rPr lang="en-US" altLang="ko-KR" dirty="0"/>
              <a:t>: x(a)</a:t>
            </a:r>
          </a:p>
          <a:p>
            <a:pPr lvl="1"/>
            <a:r>
              <a:rPr lang="ko-KR" altLang="en-US" dirty="0"/>
              <a:t>그러나 </a:t>
            </a:r>
            <a:r>
              <a:rPr lang="ko-KR" altLang="en-US" dirty="0" err="1"/>
              <a:t>컨트랙트는</a:t>
            </a:r>
            <a:r>
              <a:rPr lang="en-US" altLang="ko-KR" dirty="0"/>
              <a:t> </a:t>
            </a:r>
            <a:r>
              <a:rPr lang="ko-KR" altLang="en-US" dirty="0"/>
              <a:t>주소</a:t>
            </a:r>
            <a:r>
              <a:rPr lang="en-US" altLang="ko-KR" dirty="0"/>
              <a:t>(address)</a:t>
            </a:r>
            <a:r>
              <a:rPr lang="ko-KR" altLang="en-US" dirty="0"/>
              <a:t>의 멤버 함수를 사용할 수 없음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컨트랙트</a:t>
            </a:r>
            <a:r>
              <a:rPr lang="ko-KR" altLang="en-US" dirty="0"/>
              <a:t> 멤버 접근</a:t>
            </a:r>
            <a:endParaRPr lang="en-US" altLang="ko-KR" dirty="0"/>
          </a:p>
          <a:p>
            <a:pPr lvl="1"/>
            <a:r>
              <a:rPr lang="en-US" altLang="ko-KR" dirty="0"/>
              <a:t>Public</a:t>
            </a:r>
            <a:r>
              <a:rPr lang="ko-KR" altLang="en-US" dirty="0"/>
              <a:t>으로 선언된 변수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contract.member</a:t>
            </a:r>
            <a:endParaRPr lang="en-US" altLang="ko-KR" dirty="0"/>
          </a:p>
          <a:p>
            <a:pPr lvl="1"/>
            <a:r>
              <a:rPr lang="ko-KR" altLang="en-US" dirty="0"/>
              <a:t>함수</a:t>
            </a:r>
            <a:r>
              <a:rPr lang="en-US" altLang="ko-KR" dirty="0"/>
              <a:t>: </a:t>
            </a:r>
            <a:r>
              <a:rPr lang="en-US" altLang="ko-KR" dirty="0" err="1"/>
              <a:t>contract.function</a:t>
            </a:r>
            <a:r>
              <a:rPr lang="en-US" altLang="ko-KR" dirty="0"/>
              <a:t>(…)</a:t>
            </a:r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698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고정 크기 바이트 배열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고정 크기 바이트 배열 </a:t>
            </a:r>
            <a:r>
              <a:rPr lang="en-US" altLang="ko-KR" dirty="0"/>
              <a:t>(Fixed-Size</a:t>
            </a:r>
            <a:r>
              <a:rPr lang="ko-KR" altLang="en-US" dirty="0"/>
              <a:t> </a:t>
            </a:r>
            <a:r>
              <a:rPr lang="en-US" altLang="ko-KR" dirty="0"/>
              <a:t>Byte Arrays)</a:t>
            </a:r>
          </a:p>
          <a:p>
            <a:pPr lvl="1"/>
            <a:r>
              <a:rPr lang="en-US" altLang="ko-KR" dirty="0"/>
              <a:t>bytes1, bytes2, bytes3, …, bytes32 </a:t>
            </a:r>
          </a:p>
          <a:p>
            <a:pPr lvl="1"/>
            <a:r>
              <a:rPr lang="ko-KR" altLang="en-US" dirty="0"/>
              <a:t>고정 크기 </a:t>
            </a:r>
            <a:r>
              <a:rPr lang="en-US" altLang="ko-KR" dirty="0"/>
              <a:t>1 byte ~ 32 bytes</a:t>
            </a:r>
            <a:r>
              <a:rPr lang="ko-KR" altLang="en-US" dirty="0"/>
              <a:t>를 가짐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 가능한</a:t>
            </a:r>
            <a:r>
              <a:rPr lang="en-US" altLang="ko-KR" dirty="0"/>
              <a:t>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en-US" altLang="ko-KR" dirty="0"/>
              <a:t>Comparisons: &lt;=, &lt;, ==, !=, &gt;=, &gt; (evaluate to bool)</a:t>
            </a:r>
          </a:p>
          <a:p>
            <a:pPr lvl="1"/>
            <a:r>
              <a:rPr lang="en-US" altLang="ko-KR" dirty="0"/>
              <a:t>Bit operators: &amp;, |, ^ (bitwise exclusive or), ~ (bitwise negation)</a:t>
            </a:r>
          </a:p>
          <a:p>
            <a:pPr lvl="1"/>
            <a:r>
              <a:rPr lang="en-US" altLang="ko-KR" dirty="0"/>
              <a:t>Shift operators: &lt;&lt; (left shift), &gt;&gt; (right shift)</a:t>
            </a:r>
          </a:p>
          <a:p>
            <a:pPr lvl="1"/>
            <a:r>
              <a:rPr lang="en-US" altLang="ko-KR" dirty="0"/>
              <a:t>Index access: If x is of type </a:t>
            </a:r>
            <a:r>
              <a:rPr lang="en-US" altLang="ko-KR" dirty="0" err="1"/>
              <a:t>bytesI</a:t>
            </a:r>
            <a:r>
              <a:rPr lang="en-US" altLang="ko-KR" dirty="0"/>
              <a:t>, then x[k] for 0 &lt;= k &lt; I returns the k </a:t>
            </a:r>
            <a:r>
              <a:rPr lang="en-US" altLang="ko-KR" dirty="0" err="1"/>
              <a:t>th</a:t>
            </a:r>
            <a:r>
              <a:rPr lang="en-US" altLang="ko-KR" dirty="0"/>
              <a:t> byte (read-only)</a:t>
            </a:r>
          </a:p>
          <a:p>
            <a:endParaRPr lang="en-US" altLang="ko-KR" dirty="0"/>
          </a:p>
          <a:p>
            <a:r>
              <a:rPr lang="ko-KR" altLang="en-US" dirty="0"/>
              <a:t>멤버</a:t>
            </a:r>
            <a:endParaRPr lang="en-US" altLang="ko-KR" dirty="0"/>
          </a:p>
          <a:p>
            <a:pPr lvl="1"/>
            <a:r>
              <a:rPr lang="en-US" altLang="ko-KR" dirty="0"/>
              <a:t>.length yields the fixed length of the byte array (read-only)</a:t>
            </a:r>
          </a:p>
          <a:p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529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37531-C26A-4446-97A8-A94A747E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33A8E-69C8-47E2-BADC-8348345C2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주소 문자열 </a:t>
            </a:r>
            <a:r>
              <a:rPr lang="en-US" altLang="ko-KR" dirty="0"/>
              <a:t>(Address Literals)</a:t>
            </a:r>
          </a:p>
          <a:p>
            <a:pPr lvl="1"/>
            <a:r>
              <a:rPr lang="ko-KR" altLang="en-US" dirty="0"/>
              <a:t>주소를 </a:t>
            </a:r>
            <a:r>
              <a:rPr lang="en-US" altLang="ko-KR" dirty="0"/>
              <a:t>16</a:t>
            </a:r>
            <a:r>
              <a:rPr lang="ko-KR" altLang="en-US" dirty="0"/>
              <a:t>진 문자열로 표현 </a:t>
            </a:r>
            <a:r>
              <a:rPr lang="en-US" altLang="ko-KR" dirty="0"/>
              <a:t>(39 ~ 41 </a:t>
            </a:r>
            <a:r>
              <a:rPr lang="ko-KR" altLang="en-US" dirty="0"/>
              <a:t>문자</a:t>
            </a:r>
            <a:r>
              <a:rPr lang="en-US" altLang="ko-KR" dirty="0"/>
              <a:t>, checksum</a:t>
            </a:r>
            <a:r>
              <a:rPr lang="ko-KR" altLang="en-US" dirty="0"/>
              <a:t> 검사 통과 필요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0xdCad3a6d3569DF655070DEd06cb7A1b2Ccd1D3AF</a:t>
            </a:r>
          </a:p>
          <a:p>
            <a:pPr lvl="1"/>
            <a:r>
              <a:rPr lang="en-US" altLang="ko-KR" dirty="0"/>
              <a:t>Checksum </a:t>
            </a:r>
            <a:r>
              <a:rPr lang="ko-KR" altLang="en-US" dirty="0"/>
              <a:t>검사를 통과하지 못하는 문자열은 </a:t>
            </a:r>
            <a:r>
              <a:rPr lang="en-US" altLang="ko-KR" dirty="0"/>
              <a:t>error</a:t>
            </a:r>
            <a:r>
              <a:rPr lang="ko-KR" altLang="en-US" dirty="0"/>
              <a:t>를 반환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유리수</a:t>
            </a:r>
            <a:r>
              <a:rPr lang="en-US" altLang="ko-KR" dirty="0"/>
              <a:t> </a:t>
            </a:r>
            <a:r>
              <a:rPr lang="ko-KR" altLang="en-US" dirty="0"/>
              <a:t>및 정수 문자열 </a:t>
            </a:r>
            <a:r>
              <a:rPr lang="en-US" altLang="ko-KR" dirty="0"/>
              <a:t>(Rational and Integer Literals)</a:t>
            </a:r>
          </a:p>
          <a:p>
            <a:pPr lvl="1"/>
            <a:r>
              <a:rPr lang="en-US" altLang="ko-KR" dirty="0"/>
              <a:t>0 ~ 9 </a:t>
            </a:r>
            <a:r>
              <a:rPr lang="ko-KR" altLang="en-US" dirty="0"/>
              <a:t>문자로 표현된 문자열은 </a:t>
            </a:r>
            <a:r>
              <a:rPr lang="en-US" altLang="ko-KR" dirty="0"/>
              <a:t>10</a:t>
            </a:r>
            <a:r>
              <a:rPr lang="ko-KR" altLang="en-US" dirty="0"/>
              <a:t>진수를 표현</a:t>
            </a:r>
            <a:endParaRPr lang="en-US" altLang="ko-KR" dirty="0"/>
          </a:p>
          <a:p>
            <a:pPr lvl="2"/>
            <a:r>
              <a:rPr lang="ko-KR" altLang="en-US" dirty="0"/>
              <a:t>문자열</a:t>
            </a:r>
            <a:r>
              <a:rPr lang="en-US" altLang="ko-KR" dirty="0"/>
              <a:t> “69”</a:t>
            </a:r>
            <a:r>
              <a:rPr lang="ko-KR" altLang="en-US" dirty="0"/>
              <a:t>는 숫자 </a:t>
            </a:r>
            <a:r>
              <a:rPr lang="en-US" altLang="ko-KR" dirty="0"/>
              <a:t>69</a:t>
            </a:r>
          </a:p>
          <a:p>
            <a:pPr lvl="1"/>
            <a:r>
              <a:rPr lang="ko-KR" altLang="en-US" dirty="0"/>
              <a:t>소수점 이하는 </a:t>
            </a:r>
            <a:r>
              <a:rPr lang="en-US" altLang="ko-KR" dirty="0"/>
              <a:t>“.”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표현</a:t>
            </a:r>
            <a:endParaRPr lang="en-US" altLang="ko-KR" dirty="0"/>
          </a:p>
          <a:p>
            <a:pPr lvl="2"/>
            <a:r>
              <a:rPr lang="ko-KR" altLang="en-US" dirty="0"/>
              <a:t>예시</a:t>
            </a:r>
            <a:r>
              <a:rPr lang="en-US" altLang="ko-KR" dirty="0"/>
              <a:t>) “.1” </a:t>
            </a:r>
            <a:r>
              <a:rPr lang="ko-KR" altLang="en-US" dirty="0"/>
              <a:t>또는 </a:t>
            </a:r>
            <a:r>
              <a:rPr lang="en-US" altLang="ko-KR" dirty="0"/>
              <a:t>“1.3”</a:t>
            </a:r>
          </a:p>
          <a:p>
            <a:pPr lvl="1"/>
            <a:r>
              <a:rPr lang="ko-KR" altLang="en-US" dirty="0"/>
              <a:t>과학적 표기</a:t>
            </a:r>
            <a:r>
              <a:rPr lang="en-US" altLang="ko-KR" dirty="0"/>
              <a:t>(scientific notation)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2"/>
            <a:r>
              <a:rPr lang="en-US" altLang="ko-KR" dirty="0"/>
              <a:t>“</a:t>
            </a:r>
            <a:r>
              <a:rPr lang="en-US" altLang="ko-KR" dirty="0" err="1"/>
              <a:t>MeE</a:t>
            </a:r>
            <a:r>
              <a:rPr lang="en-US" altLang="ko-KR" dirty="0"/>
              <a:t>” </a:t>
            </a:r>
            <a:r>
              <a:rPr lang="ko-KR" altLang="en-US" dirty="0"/>
              <a:t>표기는 </a:t>
            </a:r>
            <a:r>
              <a:rPr lang="en-US" altLang="ko-KR" dirty="0"/>
              <a:t>“M * 10**E”</a:t>
            </a:r>
            <a:r>
              <a:rPr lang="ko-KR" altLang="en-US" dirty="0"/>
              <a:t>을 표현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2e10, -2e10, 2e-10, 2.5e1</a:t>
            </a:r>
          </a:p>
          <a:p>
            <a:pPr lvl="1"/>
            <a:r>
              <a:rPr lang="ko-KR" altLang="en-US" dirty="0"/>
              <a:t>가독성을 위해 밑줄</a:t>
            </a:r>
            <a:r>
              <a:rPr lang="en-US" altLang="ko-KR" dirty="0"/>
              <a:t>(underscore) </a:t>
            </a:r>
            <a:r>
              <a:rPr lang="ko-KR" altLang="en-US" dirty="0"/>
              <a:t>사용 가능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123_000, 0x2eff_abde, 1_2e345_678</a:t>
            </a:r>
          </a:p>
        </p:txBody>
      </p:sp>
    </p:spTree>
    <p:extLst>
      <p:ext uri="{BB962C8B-B14F-4D97-AF65-F5344CB8AC3E}">
        <p14:creationId xmlns:p14="http://schemas.microsoft.com/office/powerpoint/2010/main" val="270294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37531-C26A-4446-97A8-A94A747E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33A8E-69C8-47E2-BADC-8348345C2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스트링 문자열 </a:t>
            </a:r>
            <a:r>
              <a:rPr lang="en-US" altLang="ko-KR" dirty="0"/>
              <a:t>(String Literals)</a:t>
            </a:r>
          </a:p>
          <a:p>
            <a:pPr lvl="1"/>
            <a:r>
              <a:rPr lang="en-US" altLang="ko-KR" dirty="0"/>
              <a:t>ASCII </a:t>
            </a:r>
            <a:r>
              <a:rPr lang="ko-KR" altLang="en-US" dirty="0"/>
              <a:t>문자로 구성 </a:t>
            </a:r>
            <a:r>
              <a:rPr lang="en-US" altLang="ko-KR" dirty="0"/>
              <a:t>(0x20 ~ 0x7E)</a:t>
            </a:r>
          </a:p>
          <a:p>
            <a:pPr lvl="1"/>
            <a:r>
              <a:rPr lang="ko-KR" altLang="en-US" dirty="0"/>
              <a:t>큰따옴표</a:t>
            </a:r>
            <a:r>
              <a:rPr lang="en-US" altLang="ko-KR" dirty="0"/>
              <a:t>(double quotes) </a:t>
            </a:r>
            <a:r>
              <a:rPr lang="ko-KR" altLang="en-US" dirty="0"/>
              <a:t>또는 작은따옴표</a:t>
            </a:r>
            <a:r>
              <a:rPr lang="en-US" altLang="ko-KR" dirty="0"/>
              <a:t>(single quotes)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"foo" </a:t>
            </a:r>
            <a:r>
              <a:rPr lang="ko-KR" altLang="en-US" dirty="0"/>
              <a:t>또는 </a:t>
            </a:r>
            <a:r>
              <a:rPr lang="en-US" altLang="ko-KR" dirty="0"/>
              <a:t>'bar’</a:t>
            </a:r>
          </a:p>
          <a:p>
            <a:pPr lvl="1"/>
            <a:r>
              <a:rPr lang="ko-KR" altLang="en-US" dirty="0"/>
              <a:t>긴 스트링 문자열을 분할하는 것이 가능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"foo" "bar" 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en-US" altLang="ko-KR" dirty="0" err="1"/>
              <a:t>foobar</a:t>
            </a:r>
            <a:r>
              <a:rPr lang="en-US" altLang="ko-KR" dirty="0"/>
              <a:t>＂</a:t>
            </a:r>
            <a:r>
              <a:rPr lang="ko-KR" altLang="en-US" dirty="0"/>
              <a:t>과 동일</a:t>
            </a:r>
            <a:endParaRPr lang="en-US" altLang="ko-KR" dirty="0"/>
          </a:p>
          <a:p>
            <a:pPr lvl="1"/>
            <a:r>
              <a:rPr lang="ko-KR" altLang="en-US" dirty="0"/>
              <a:t>문자열 마지막에 </a:t>
            </a:r>
            <a:r>
              <a:rPr lang="en-US" altLang="ko-KR" dirty="0"/>
              <a:t>trailing zero</a:t>
            </a:r>
            <a:r>
              <a:rPr lang="ko-KR" altLang="en-US" dirty="0"/>
              <a:t>는 사용하지 않음</a:t>
            </a:r>
            <a:endParaRPr lang="en-US" altLang="ko-KR" dirty="0"/>
          </a:p>
          <a:p>
            <a:pPr lvl="2"/>
            <a:r>
              <a:rPr lang="en-US" altLang="ko-KR" dirty="0"/>
              <a:t>"foo“</a:t>
            </a:r>
            <a:r>
              <a:rPr lang="ko-KR" altLang="en-US" dirty="0"/>
              <a:t>는</a:t>
            </a:r>
            <a:r>
              <a:rPr lang="en-US" altLang="ko-KR" dirty="0"/>
              <a:t> 3 </a:t>
            </a:r>
            <a:r>
              <a:rPr lang="ko-KR" altLang="en-US" dirty="0"/>
              <a:t>바이트 </a:t>
            </a:r>
            <a:r>
              <a:rPr lang="en-US" altLang="ko-KR" dirty="0"/>
              <a:t>(4 </a:t>
            </a:r>
            <a:r>
              <a:rPr lang="ko-KR" altLang="en-US" dirty="0"/>
              <a:t>바이트 아님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예외 문자 </a:t>
            </a:r>
            <a:r>
              <a:rPr lang="en-US" altLang="ko-KR" dirty="0"/>
              <a:t>(Escape</a:t>
            </a:r>
            <a:r>
              <a:rPr lang="ko-KR" altLang="en-US" dirty="0"/>
              <a:t> </a:t>
            </a:r>
            <a:r>
              <a:rPr lang="en-US" altLang="ko-KR" dirty="0"/>
              <a:t>Characters)</a:t>
            </a:r>
          </a:p>
          <a:p>
            <a:pPr lvl="1"/>
            <a:r>
              <a:rPr lang="en-US" altLang="ko-KR" dirty="0"/>
              <a:t>\&lt;newline&gt; (escapes an actual newline)</a:t>
            </a:r>
          </a:p>
          <a:p>
            <a:pPr lvl="1"/>
            <a:r>
              <a:rPr lang="en-US" altLang="ko-KR" dirty="0"/>
              <a:t>\\ (backslash)</a:t>
            </a:r>
          </a:p>
          <a:p>
            <a:pPr lvl="1"/>
            <a:r>
              <a:rPr lang="en-US" altLang="ko-KR" dirty="0"/>
              <a:t>\' (single quote)</a:t>
            </a:r>
          </a:p>
          <a:p>
            <a:pPr lvl="1"/>
            <a:r>
              <a:rPr lang="en-US" altLang="ko-KR" dirty="0"/>
              <a:t>\" (double quote)</a:t>
            </a:r>
          </a:p>
          <a:p>
            <a:pPr lvl="1"/>
            <a:r>
              <a:rPr lang="en-US" altLang="ko-KR" dirty="0"/>
              <a:t>\n (newline)</a:t>
            </a:r>
          </a:p>
          <a:p>
            <a:pPr lvl="1"/>
            <a:r>
              <a:rPr lang="en-US" altLang="ko-KR" dirty="0"/>
              <a:t>\r (carriage return)</a:t>
            </a:r>
          </a:p>
          <a:p>
            <a:pPr lvl="1"/>
            <a:r>
              <a:rPr lang="en-US" altLang="ko-KR" dirty="0"/>
              <a:t>\t (tab)</a:t>
            </a:r>
          </a:p>
          <a:p>
            <a:pPr lvl="1"/>
            <a:r>
              <a:rPr lang="en-US" altLang="ko-KR" dirty="0"/>
              <a:t>\</a:t>
            </a:r>
            <a:r>
              <a:rPr lang="en-US" altLang="ko-KR" dirty="0" err="1"/>
              <a:t>xNN</a:t>
            </a:r>
            <a:r>
              <a:rPr lang="en-US" altLang="ko-KR" dirty="0"/>
              <a:t> (hex escape, see below)</a:t>
            </a:r>
          </a:p>
          <a:p>
            <a:pPr lvl="1"/>
            <a:r>
              <a:rPr lang="en-US" altLang="ko-KR" dirty="0"/>
              <a:t>\</a:t>
            </a:r>
            <a:r>
              <a:rPr lang="en-US" altLang="ko-KR" dirty="0" err="1"/>
              <a:t>uNNNN</a:t>
            </a:r>
            <a:r>
              <a:rPr lang="en-US" altLang="ko-KR" dirty="0"/>
              <a:t> (</a:t>
            </a:r>
            <a:r>
              <a:rPr lang="en-US" altLang="ko-KR" dirty="0" err="1"/>
              <a:t>unicode</a:t>
            </a:r>
            <a:r>
              <a:rPr lang="en-US" altLang="ko-KR" dirty="0"/>
              <a:t> escape, see below)</a:t>
            </a:r>
          </a:p>
          <a:p>
            <a:pPr lvl="1"/>
            <a:r>
              <a:rPr lang="en-US" altLang="ko-KR" dirty="0"/>
              <a:t>\</a:t>
            </a:r>
            <a:r>
              <a:rPr lang="en-US" altLang="ko-KR" dirty="0" err="1"/>
              <a:t>xNN</a:t>
            </a:r>
            <a:r>
              <a:rPr lang="en-US" altLang="ko-KR" dirty="0"/>
              <a:t> takes a hex value and inserts the appropriate byte, while \</a:t>
            </a:r>
            <a:r>
              <a:rPr lang="en-US" altLang="ko-KR" dirty="0" err="1"/>
              <a:t>uNNNN</a:t>
            </a:r>
            <a:r>
              <a:rPr lang="en-US" altLang="ko-KR" dirty="0"/>
              <a:t> takes a Unicode codepoint and inserts an UTF-8 sequence.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053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CC3E5-ACBE-4016-B5FA-18EB99CC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8A362-F151-4CBC-9174-E6EA2A70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유니코드</a:t>
            </a:r>
            <a:r>
              <a:rPr lang="en-US" altLang="ko-KR" dirty="0"/>
              <a:t> </a:t>
            </a:r>
            <a:r>
              <a:rPr lang="ko-KR" altLang="en-US" dirty="0"/>
              <a:t>문자열 </a:t>
            </a:r>
            <a:r>
              <a:rPr lang="en-US" altLang="ko-KR" dirty="0"/>
              <a:t>(Unicode Literals)</a:t>
            </a:r>
          </a:p>
          <a:p>
            <a:pPr lvl="1"/>
            <a:r>
              <a:rPr lang="en-US" altLang="ko-KR" dirty="0"/>
              <a:t>“</a:t>
            </a:r>
            <a:r>
              <a:rPr lang="en-US" altLang="ko-KR" dirty="0" err="1"/>
              <a:t>unicode</a:t>
            </a:r>
            <a:r>
              <a:rPr lang="en-US" altLang="ko-KR" dirty="0"/>
              <a:t>”</a:t>
            </a:r>
            <a:r>
              <a:rPr lang="ko-KR" altLang="en-US" dirty="0"/>
              <a:t>라는 키워드를 사용하여 </a:t>
            </a:r>
            <a:r>
              <a:rPr lang="en-US" altLang="ko-KR" dirty="0"/>
              <a:t>UTF-8 </a:t>
            </a:r>
            <a:r>
              <a:rPr lang="ko-KR" altLang="en-US" dirty="0"/>
              <a:t>문자를 포함하는 유니코드 문자열 사용 가능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string memory a = </a:t>
            </a:r>
            <a:r>
              <a:rPr lang="en-US" altLang="ko-KR" dirty="0" err="1"/>
              <a:t>unicode"Hello</a:t>
            </a:r>
            <a:r>
              <a:rPr lang="en-US" altLang="ko-KR" dirty="0"/>
              <a:t> </a:t>
            </a:r>
            <a:r>
              <a:rPr lang="ko-KR" altLang="en-US" dirty="0"/>
              <a:t>😃</a:t>
            </a:r>
            <a:r>
              <a:rPr lang="en-US" altLang="ko-KR" dirty="0"/>
              <a:t>";</a:t>
            </a:r>
          </a:p>
          <a:p>
            <a:endParaRPr lang="en-US" altLang="ko-KR" dirty="0"/>
          </a:p>
          <a:p>
            <a:r>
              <a:rPr lang="en-US" altLang="ko-KR" dirty="0"/>
              <a:t>16</a:t>
            </a:r>
            <a:r>
              <a:rPr lang="ko-KR" altLang="en-US" dirty="0"/>
              <a:t>진 문자열 </a:t>
            </a:r>
            <a:r>
              <a:rPr lang="en-US" altLang="ko-KR" dirty="0"/>
              <a:t>(Hexadecimal Literals)</a:t>
            </a:r>
          </a:p>
          <a:p>
            <a:pPr lvl="1"/>
            <a:r>
              <a:rPr lang="en-US" altLang="ko-KR" dirty="0"/>
              <a:t>“hex”</a:t>
            </a:r>
            <a:r>
              <a:rPr lang="ko-KR" altLang="en-US" dirty="0"/>
              <a:t> 키워드 및 따옴표를 사용하여 </a:t>
            </a:r>
            <a:r>
              <a:rPr lang="en-US" altLang="ko-KR" dirty="0"/>
              <a:t>16</a:t>
            </a:r>
            <a:r>
              <a:rPr lang="ko-KR" altLang="en-US" dirty="0"/>
              <a:t>진 표현 사용 가능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hex"001122FF“ </a:t>
            </a:r>
            <a:r>
              <a:rPr lang="ko-KR" altLang="en-US" dirty="0"/>
              <a:t>또는</a:t>
            </a:r>
            <a:r>
              <a:rPr lang="en-US" altLang="ko-KR" dirty="0"/>
              <a:t> hex’0011_22_FF‘</a:t>
            </a:r>
          </a:p>
          <a:p>
            <a:pPr lvl="1"/>
            <a:r>
              <a:rPr lang="ko-KR" altLang="en-US" dirty="0"/>
              <a:t>가독성을 위해 바이트 단위로 밑줄 삽입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2065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FE6CF-CA88-44F5-BAAC-F5F7BC629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</a:t>
            </a:r>
            <a:r>
              <a:rPr lang="ko-KR" altLang="en-US" dirty="0" err="1"/>
              <a:t>밸류형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2DDC63-DA5D-4B8F-AD67-2A151BE40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사용자 정의 </a:t>
            </a:r>
            <a:r>
              <a:rPr lang="ko-KR" altLang="en-US" dirty="0" err="1"/>
              <a:t>밸류형</a:t>
            </a:r>
            <a:r>
              <a:rPr lang="ko-KR" altLang="en-US" dirty="0"/>
              <a:t> </a:t>
            </a:r>
            <a:r>
              <a:rPr lang="en-US" altLang="ko-KR" dirty="0"/>
              <a:t>(User-Defined Values Types)</a:t>
            </a:r>
          </a:p>
          <a:p>
            <a:pPr lvl="1"/>
            <a:r>
              <a:rPr lang="en-US" altLang="ko-KR" dirty="0"/>
              <a:t>Solidity</a:t>
            </a:r>
            <a:r>
              <a:rPr lang="ko-KR" altLang="en-US" dirty="0"/>
              <a:t>에서 정의된 기본 </a:t>
            </a:r>
            <a:r>
              <a:rPr lang="ko-KR" altLang="en-US" dirty="0" err="1"/>
              <a:t>밸류형의</a:t>
            </a:r>
            <a:r>
              <a:rPr lang="ko-KR" altLang="en-US" dirty="0"/>
              <a:t> 명칭에 별칭</a:t>
            </a:r>
            <a:r>
              <a:rPr lang="en-US" altLang="ko-KR" dirty="0"/>
              <a:t>(alias)</a:t>
            </a:r>
            <a:r>
              <a:rPr lang="ko-KR" altLang="en-US" dirty="0"/>
              <a:t>을 부여하는 것이 가능</a:t>
            </a:r>
            <a:endParaRPr lang="en-US" altLang="ko-KR" dirty="0"/>
          </a:p>
          <a:p>
            <a:pPr lvl="2"/>
            <a:r>
              <a:rPr lang="ko-KR" altLang="en-US" dirty="0"/>
              <a:t>형식</a:t>
            </a:r>
            <a:r>
              <a:rPr lang="en-US" altLang="ko-KR" dirty="0"/>
              <a:t>) type C is V;</a:t>
            </a:r>
          </a:p>
          <a:p>
            <a:pPr lvl="2"/>
            <a:r>
              <a:rPr lang="ko-KR" altLang="en-US" dirty="0"/>
              <a:t>예시</a:t>
            </a:r>
            <a:r>
              <a:rPr lang="en-US" altLang="ko-KR" dirty="0"/>
              <a:t>) type Price is uint128;</a:t>
            </a:r>
          </a:p>
          <a:p>
            <a:pPr lvl="1"/>
            <a:r>
              <a:rPr lang="ko-KR" altLang="en-US" dirty="0"/>
              <a:t>사용자</a:t>
            </a:r>
            <a:r>
              <a:rPr lang="en-US" altLang="ko-KR" dirty="0"/>
              <a:t> </a:t>
            </a:r>
            <a:r>
              <a:rPr lang="ko-KR" altLang="en-US" dirty="0"/>
              <a:t>정의 </a:t>
            </a:r>
            <a:r>
              <a:rPr lang="ko-KR" altLang="en-US" dirty="0" err="1"/>
              <a:t>밸류형</a:t>
            </a:r>
            <a:r>
              <a:rPr lang="ko-KR" altLang="en-US" dirty="0"/>
              <a:t> </a:t>
            </a:r>
            <a:r>
              <a:rPr lang="en-US" altLang="ko-KR" dirty="0"/>
              <a:t>C</a:t>
            </a:r>
            <a:r>
              <a:rPr lang="ko-KR" altLang="en-US" dirty="0"/>
              <a:t>는 멤버 함수를 지원하지 않으며</a:t>
            </a:r>
            <a:r>
              <a:rPr lang="en-US" altLang="ko-KR" dirty="0"/>
              <a:t>, “==“ </a:t>
            </a:r>
            <a:r>
              <a:rPr lang="ko-KR" altLang="en-US" dirty="0"/>
              <a:t>연산도 미지원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형변환</a:t>
            </a:r>
            <a:endParaRPr lang="en-US" altLang="ko-KR" dirty="0"/>
          </a:p>
          <a:p>
            <a:pPr lvl="1"/>
            <a:r>
              <a:rPr lang="en-US" altLang="ko-KR" dirty="0" err="1"/>
              <a:t>C.wrap</a:t>
            </a:r>
            <a:r>
              <a:rPr lang="en-US" altLang="ko-KR" dirty="0"/>
              <a:t> </a:t>
            </a:r>
            <a:r>
              <a:rPr lang="ko-KR" altLang="en-US" dirty="0"/>
              <a:t>함수를 사용하면 기본 </a:t>
            </a:r>
            <a:r>
              <a:rPr lang="ko-KR" altLang="en-US" dirty="0" err="1"/>
              <a:t>밸류형을</a:t>
            </a:r>
            <a:r>
              <a:rPr lang="ko-KR" altLang="en-US" dirty="0"/>
              <a:t> 사용자 정의 </a:t>
            </a:r>
            <a:r>
              <a:rPr lang="ko-KR" altLang="en-US" dirty="0" err="1"/>
              <a:t>밸류형으로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lvl="1"/>
            <a:r>
              <a:rPr lang="en-US" altLang="ko-KR" dirty="0" err="1"/>
              <a:t>C.unwrap</a:t>
            </a:r>
            <a:r>
              <a:rPr lang="ko-KR" altLang="en-US" dirty="0"/>
              <a:t> 함수를 사용하면 사용자 정의 </a:t>
            </a:r>
            <a:r>
              <a:rPr lang="ko-KR" altLang="en-US" dirty="0" err="1"/>
              <a:t>밸류형을</a:t>
            </a:r>
            <a:r>
              <a:rPr lang="ko-KR" altLang="en-US" dirty="0"/>
              <a:t> 기본 </a:t>
            </a:r>
            <a:r>
              <a:rPr lang="ko-KR" altLang="en-US" dirty="0" err="1"/>
              <a:t>밸류형으로</a:t>
            </a:r>
            <a:r>
              <a:rPr lang="ko-KR" altLang="en-US" dirty="0"/>
              <a:t> 변환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1032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C.</a:t>
            </a:r>
            <a:r>
              <a:rPr lang="ko-KR" altLang="en-US" dirty="0"/>
              <a:t> 참조형 </a:t>
            </a:r>
            <a:r>
              <a:rPr lang="en-US" altLang="ko-KR" dirty="0"/>
              <a:t>(Value Types) </a:t>
            </a:r>
          </a:p>
        </p:txBody>
      </p:sp>
    </p:spTree>
    <p:extLst>
      <p:ext uri="{BB962C8B-B14F-4D97-AF65-F5344CB8AC3E}">
        <p14:creationId xmlns:p14="http://schemas.microsoft.com/office/powerpoint/2010/main" val="3250137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3DBC1-D3BF-46A8-84FF-A4878BDD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</a:t>
            </a:r>
            <a:r>
              <a:rPr lang="en-US" altLang="ko-KR" dirty="0"/>
              <a:t>(1)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AD0EF2-D45A-45FB-8DC7-5E20B4FD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가지 유형</a:t>
            </a:r>
            <a:endParaRPr lang="en-US" altLang="ko-KR" dirty="0"/>
          </a:p>
          <a:p>
            <a:pPr lvl="1"/>
            <a:r>
              <a:rPr lang="ko-KR" altLang="en-US" dirty="0"/>
              <a:t>고정 배열 </a:t>
            </a:r>
            <a:r>
              <a:rPr lang="en-US" altLang="ko-KR" dirty="0"/>
              <a:t>(fixed-size array)</a:t>
            </a:r>
          </a:p>
          <a:p>
            <a:pPr lvl="2"/>
            <a:r>
              <a:rPr lang="en-US" altLang="ko-KR" dirty="0"/>
              <a:t>bool[128], int[8], </a:t>
            </a:r>
            <a:r>
              <a:rPr lang="en-US" altLang="ko-KR" dirty="0" err="1"/>
              <a:t>uint</a:t>
            </a:r>
            <a:r>
              <a:rPr lang="en-US" altLang="ko-KR" dirty="0"/>
              <a:t>[16], fixed[32], </a:t>
            </a:r>
            <a:r>
              <a:rPr lang="en-US" altLang="ko-KR" dirty="0" err="1"/>
              <a:t>ufixed</a:t>
            </a:r>
            <a:r>
              <a:rPr lang="en-US" altLang="ko-KR" dirty="0"/>
              <a:t>[64], …</a:t>
            </a:r>
          </a:p>
          <a:p>
            <a:pPr lvl="1"/>
            <a:r>
              <a:rPr lang="ko-KR" altLang="en-US" dirty="0"/>
              <a:t>동적</a:t>
            </a:r>
            <a:r>
              <a:rPr lang="en-US" altLang="ko-KR" dirty="0"/>
              <a:t> </a:t>
            </a:r>
            <a:r>
              <a:rPr lang="ko-KR" altLang="en-US" dirty="0"/>
              <a:t>배열 </a:t>
            </a:r>
            <a:r>
              <a:rPr lang="en-US" altLang="ko-KR" dirty="0"/>
              <a:t>(dynamic storage array)</a:t>
            </a:r>
          </a:p>
          <a:p>
            <a:pPr lvl="2"/>
            <a:r>
              <a:rPr lang="en-US" altLang="ko-KR" dirty="0"/>
              <a:t>bool[ ], int[ ], </a:t>
            </a:r>
            <a:r>
              <a:rPr lang="en-US" altLang="ko-KR" dirty="0" err="1"/>
              <a:t>uint</a:t>
            </a:r>
            <a:r>
              <a:rPr lang="en-US" altLang="ko-KR" dirty="0"/>
              <a:t>[ ], fixed[ ], </a:t>
            </a:r>
            <a:r>
              <a:rPr lang="en-US" altLang="ko-KR" dirty="0" err="1"/>
              <a:t>ufixed</a:t>
            </a:r>
            <a:r>
              <a:rPr lang="en-US" altLang="ko-KR" dirty="0"/>
              <a:t>[ ], bytes, string, …</a:t>
            </a:r>
          </a:p>
          <a:p>
            <a:endParaRPr lang="en-US" altLang="ko-KR" dirty="0"/>
          </a:p>
          <a:p>
            <a:r>
              <a:rPr lang="ko-KR" altLang="en-US" dirty="0"/>
              <a:t>배열의 멤버 함수</a:t>
            </a:r>
            <a:endParaRPr lang="en-US" altLang="ko-KR" dirty="0"/>
          </a:p>
          <a:p>
            <a:pPr lvl="2"/>
            <a:r>
              <a:rPr lang="en-US" altLang="ko-KR" dirty="0"/>
              <a:t>length: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크기 </a:t>
            </a:r>
            <a:r>
              <a:rPr lang="en-US" altLang="ko-KR" dirty="0"/>
              <a:t>(string</a:t>
            </a:r>
            <a:r>
              <a:rPr lang="ko-KR" altLang="en-US" dirty="0"/>
              <a:t>에서는 사용 불가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push(x):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맨 뒤에 </a:t>
            </a:r>
            <a:r>
              <a:rPr lang="en-US" altLang="ko-KR" dirty="0"/>
              <a:t>x </a:t>
            </a:r>
            <a:r>
              <a:rPr lang="ko-KR" altLang="en-US" dirty="0"/>
              <a:t>추가 </a:t>
            </a:r>
            <a:r>
              <a:rPr lang="en-US" altLang="ko-KR" dirty="0"/>
              <a:t>(</a:t>
            </a:r>
            <a:r>
              <a:rPr lang="ko-KR" altLang="en-US" dirty="0"/>
              <a:t>동적 배열에서 사용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push(): </a:t>
            </a:r>
            <a:r>
              <a:rPr lang="ko-KR" altLang="en-US" dirty="0"/>
              <a:t>배열의</a:t>
            </a:r>
            <a:r>
              <a:rPr lang="en-US" altLang="ko-KR" dirty="0"/>
              <a:t> </a:t>
            </a:r>
            <a:r>
              <a:rPr lang="ko-KR" altLang="en-US" dirty="0"/>
              <a:t>맨 뒤에 </a:t>
            </a:r>
            <a:r>
              <a:rPr lang="en-US" altLang="ko-KR" dirty="0"/>
              <a:t>0</a:t>
            </a:r>
            <a:r>
              <a:rPr lang="ko-KR" altLang="en-US" dirty="0"/>
              <a:t> 값을 추가 </a:t>
            </a:r>
            <a:r>
              <a:rPr lang="en-US" altLang="ko-KR" dirty="0"/>
              <a:t>(</a:t>
            </a:r>
            <a:r>
              <a:rPr lang="ko-KR" altLang="en-US" dirty="0"/>
              <a:t>동적 배열에서 사용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pop(): </a:t>
            </a:r>
            <a:r>
              <a:rPr lang="ko-KR" altLang="en-US" dirty="0"/>
              <a:t>배열의 맨 뒤 값을 반환</a:t>
            </a:r>
            <a:r>
              <a:rPr lang="en-US" altLang="ko-KR" dirty="0"/>
              <a:t> </a:t>
            </a:r>
            <a:r>
              <a:rPr lang="ko-KR" altLang="en-US" dirty="0"/>
              <a:t>및 삭제</a:t>
            </a:r>
            <a:r>
              <a:rPr lang="en-US" altLang="ko-KR" dirty="0"/>
              <a:t> (</a:t>
            </a:r>
            <a:r>
              <a:rPr lang="ko-KR" altLang="en-US" dirty="0"/>
              <a:t>동적 배열에서 사용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2991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39F43-33D7-4BBE-BD52-0987CC45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bytes </a:t>
            </a:r>
            <a:r>
              <a:rPr lang="ko-KR" altLang="en-US" dirty="0"/>
              <a:t>및 </a:t>
            </a:r>
            <a:r>
              <a:rPr lang="en-US" altLang="ko-KR" dirty="0"/>
              <a:t>string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28F6D-0D6F-4E3A-8456-93EA4B716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“bytes”</a:t>
            </a:r>
            <a:r>
              <a:rPr lang="ko-KR" altLang="en-US" dirty="0"/>
              <a:t> 및 </a:t>
            </a:r>
            <a:r>
              <a:rPr lang="en-US" altLang="ko-KR" dirty="0"/>
              <a:t>“string”</a:t>
            </a:r>
            <a:r>
              <a:rPr lang="ko-KR" altLang="en-US" dirty="0"/>
              <a:t>은 특수한 성질을 가지는 배열</a:t>
            </a:r>
            <a:endParaRPr lang="en-US" altLang="ko-KR" dirty="0"/>
          </a:p>
          <a:p>
            <a:pPr lvl="1"/>
            <a:r>
              <a:rPr lang="ko-KR" altLang="en-US" dirty="0" err="1"/>
              <a:t>사용례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bytes public </a:t>
            </a:r>
            <a:r>
              <a:rPr lang="en-US" altLang="ko-KR" dirty="0" err="1"/>
              <a:t>xarray</a:t>
            </a:r>
            <a:r>
              <a:rPr lang="en-US" altLang="ko-KR" dirty="0"/>
              <a:t> = "good"; // </a:t>
            </a:r>
            <a:r>
              <a:rPr lang="ko-KR" altLang="en-US" dirty="0"/>
              <a:t>값을 읽으면 </a:t>
            </a:r>
            <a:r>
              <a:rPr lang="en-US" altLang="ko-KR" dirty="0"/>
              <a:t>0x676f6f64</a:t>
            </a:r>
          </a:p>
          <a:p>
            <a:pPr lvl="2"/>
            <a:r>
              <a:rPr lang="en-US" altLang="ko-KR" dirty="0"/>
              <a:t>string public </a:t>
            </a:r>
            <a:r>
              <a:rPr lang="en-US" altLang="ko-KR" dirty="0" err="1"/>
              <a:t>xstring</a:t>
            </a:r>
            <a:r>
              <a:rPr lang="en-US" altLang="ko-KR" dirty="0"/>
              <a:t> = "hello"; // </a:t>
            </a:r>
            <a:r>
              <a:rPr lang="ko-KR" altLang="en-US" dirty="0"/>
              <a:t>값을 읽으면 </a:t>
            </a:r>
            <a:r>
              <a:rPr lang="en-US" altLang="ko-KR" dirty="0"/>
              <a:t>hello</a:t>
            </a:r>
          </a:p>
          <a:p>
            <a:pPr lvl="1"/>
            <a:r>
              <a:rPr lang="en-US" altLang="ko-KR" dirty="0"/>
              <a:t>“bytes”</a:t>
            </a:r>
            <a:r>
              <a:rPr lang="ko-KR" altLang="en-US" dirty="0"/>
              <a:t>는 </a:t>
            </a:r>
            <a:r>
              <a:rPr lang="en-US" altLang="ko-KR" dirty="0"/>
              <a:t>“bytes1[ ]”</a:t>
            </a:r>
            <a:r>
              <a:rPr lang="ko-KR" altLang="en-US" dirty="0"/>
              <a:t>과 유사하지만</a:t>
            </a:r>
            <a:r>
              <a:rPr lang="en-US" altLang="ko-KR" dirty="0"/>
              <a:t> </a:t>
            </a:r>
            <a:r>
              <a:rPr lang="ko-KR" altLang="en-US" dirty="0"/>
              <a:t>저장</a:t>
            </a:r>
            <a:r>
              <a:rPr lang="en-US" altLang="ko-KR" dirty="0"/>
              <a:t> </a:t>
            </a:r>
            <a:r>
              <a:rPr lang="ko-KR" altLang="en-US" dirty="0"/>
              <a:t>공간 측면에서 유리</a:t>
            </a:r>
            <a:endParaRPr lang="en-US" altLang="ko-KR" dirty="0"/>
          </a:p>
          <a:p>
            <a:pPr lvl="2"/>
            <a:r>
              <a:rPr lang="en-US" altLang="ko-KR" dirty="0"/>
              <a:t>“bytes1[</a:t>
            </a:r>
            <a:r>
              <a:rPr lang="ko-KR" altLang="en-US" dirty="0"/>
              <a:t> </a:t>
            </a:r>
            <a:r>
              <a:rPr lang="en-US" altLang="ko-KR" dirty="0"/>
              <a:t>]”</a:t>
            </a:r>
            <a:r>
              <a:rPr lang="ko-KR" altLang="en-US" dirty="0"/>
              <a:t>은 원소 사이에 </a:t>
            </a:r>
            <a:r>
              <a:rPr lang="en-US" altLang="ko-KR" dirty="0"/>
              <a:t>31 </a:t>
            </a:r>
            <a:r>
              <a:rPr lang="ko-KR" altLang="en-US" dirty="0"/>
              <a:t>바이트의 패딩</a:t>
            </a:r>
            <a:r>
              <a:rPr lang="en-US" altLang="ko-KR" dirty="0"/>
              <a:t>(padding)</a:t>
            </a:r>
            <a:r>
              <a:rPr lang="ko-KR" altLang="en-US" dirty="0"/>
              <a:t>을 삽입</a:t>
            </a:r>
            <a:endParaRPr lang="en-US" altLang="ko-KR" dirty="0"/>
          </a:p>
          <a:p>
            <a:pPr lvl="1"/>
            <a:r>
              <a:rPr lang="en-US" altLang="ko-KR" dirty="0"/>
              <a:t>“string”</a:t>
            </a:r>
            <a:r>
              <a:rPr lang="ko-KR" altLang="en-US" dirty="0"/>
              <a:t>은 </a:t>
            </a:r>
            <a:r>
              <a:rPr lang="en-US" altLang="ko-KR" dirty="0"/>
              <a:t>“bytes”</a:t>
            </a:r>
            <a:r>
              <a:rPr lang="ko-KR" altLang="en-US" dirty="0"/>
              <a:t>와 기능이 동일하지만 </a:t>
            </a:r>
            <a:r>
              <a:rPr lang="en-US" altLang="ko-KR" dirty="0"/>
              <a:t>length access </a:t>
            </a:r>
            <a:r>
              <a:rPr lang="ko-KR" altLang="en-US" dirty="0"/>
              <a:t>및 </a:t>
            </a:r>
            <a:r>
              <a:rPr lang="en-US" altLang="ko-KR" dirty="0"/>
              <a:t>index access </a:t>
            </a:r>
            <a:r>
              <a:rPr lang="ko-KR" altLang="en-US" dirty="0"/>
              <a:t>불가능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Solidity</a:t>
            </a:r>
            <a:r>
              <a:rPr lang="ko-KR" altLang="en-US" dirty="0"/>
              <a:t>는 스트링 조작에 필요한 기능을 제한적으로 제공</a:t>
            </a:r>
            <a:endParaRPr lang="en-US" altLang="ko-KR" dirty="0"/>
          </a:p>
          <a:p>
            <a:pPr lvl="1"/>
            <a:r>
              <a:rPr lang="ko-KR" altLang="en-US" dirty="0"/>
              <a:t>따라서 스트링 조작을 위해 별도의 라이브러리가 필요할 수 있음</a:t>
            </a:r>
            <a:endParaRPr lang="en-US" altLang="ko-KR" dirty="0"/>
          </a:p>
          <a:p>
            <a:pPr lvl="1"/>
            <a:r>
              <a:rPr lang="ko-KR" altLang="en-US" dirty="0"/>
              <a:t>두 개의 스트링을 비교할 경우 </a:t>
            </a:r>
            <a:r>
              <a:rPr lang="en-US" altLang="ko-KR" dirty="0"/>
              <a:t>keccak256 </a:t>
            </a:r>
            <a:r>
              <a:rPr lang="ko-KR" altLang="en-US" dirty="0"/>
              <a:t>함수를 활용</a:t>
            </a:r>
            <a:endParaRPr lang="en-US" altLang="ko-KR" dirty="0"/>
          </a:p>
          <a:p>
            <a:pPr lvl="2"/>
            <a:r>
              <a:rPr lang="en-US" altLang="ko-KR" dirty="0"/>
              <a:t>keccak256(</a:t>
            </a:r>
            <a:r>
              <a:rPr lang="en-US" altLang="ko-KR" dirty="0" err="1"/>
              <a:t>abi.encodePacked</a:t>
            </a:r>
            <a:r>
              <a:rPr lang="en-US" altLang="ko-KR" dirty="0"/>
              <a:t>(s1)) == keccak256(</a:t>
            </a:r>
            <a:r>
              <a:rPr lang="en-US" altLang="ko-KR" dirty="0" err="1"/>
              <a:t>abi.encodePacked</a:t>
            </a:r>
            <a:r>
              <a:rPr lang="en-US" altLang="ko-KR" dirty="0"/>
              <a:t>(s2)) </a:t>
            </a:r>
          </a:p>
          <a:p>
            <a:pPr lvl="1"/>
            <a:r>
              <a:rPr lang="ko-KR" altLang="en-US" dirty="0"/>
              <a:t>두 개의 스트링을 붙일 경우 </a:t>
            </a:r>
            <a:r>
              <a:rPr lang="en-US" altLang="ko-KR" dirty="0" err="1"/>
              <a:t>string.concat</a:t>
            </a:r>
            <a:r>
              <a:rPr lang="en-US" altLang="ko-KR" dirty="0"/>
              <a:t>(s1, s2) </a:t>
            </a:r>
            <a:r>
              <a:rPr lang="ko-KR" altLang="en-US" dirty="0"/>
              <a:t>방법 사용 가능</a:t>
            </a:r>
            <a:endParaRPr lang="en-US" altLang="ko-KR" dirty="0"/>
          </a:p>
          <a:p>
            <a:pPr lvl="2"/>
            <a:r>
              <a:rPr lang="en-US" altLang="ko-KR" dirty="0"/>
              <a:t>“bytes”</a:t>
            </a:r>
            <a:r>
              <a:rPr lang="ko-KR" altLang="en-US" dirty="0"/>
              <a:t>도 </a:t>
            </a:r>
            <a:r>
              <a:rPr lang="en-US" altLang="ko-KR" dirty="0" err="1"/>
              <a:t>concat</a:t>
            </a:r>
            <a:r>
              <a:rPr lang="en-US" altLang="ko-KR" dirty="0"/>
              <a:t> </a:t>
            </a:r>
            <a:r>
              <a:rPr lang="ko-KR" altLang="en-US" dirty="0"/>
              <a:t>함수 사용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0086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864B7-60FC-4036-89A3-0251E116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슬라이스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DC360-FC20-48ED-9D32-898E50238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배열의 일부를 연속적으로 접근할 때 사용</a:t>
            </a:r>
            <a:endParaRPr lang="en-US" altLang="ko-KR" dirty="0"/>
          </a:p>
          <a:p>
            <a:pPr lvl="1"/>
            <a:r>
              <a:rPr lang="en-US" altLang="ko-KR" dirty="0"/>
              <a:t>x</a:t>
            </a:r>
            <a:r>
              <a:rPr lang="ko-KR" altLang="en-US" dirty="0"/>
              <a:t>라는 배열이 존재할 때 </a:t>
            </a:r>
            <a:r>
              <a:rPr lang="en-US" altLang="ko-KR" dirty="0"/>
              <a:t>x[</a:t>
            </a:r>
            <a:r>
              <a:rPr lang="en-US" altLang="ko-KR" dirty="0" err="1"/>
              <a:t>start:end</a:t>
            </a:r>
            <a:r>
              <a:rPr lang="en-US" altLang="ko-KR" dirty="0"/>
              <a:t>]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취급</a:t>
            </a:r>
            <a:endParaRPr lang="en-US" altLang="ko-KR" dirty="0"/>
          </a:p>
          <a:p>
            <a:pPr lvl="2"/>
            <a:r>
              <a:rPr lang="en-US" altLang="ko-KR" dirty="0"/>
              <a:t>start </a:t>
            </a:r>
            <a:r>
              <a:rPr lang="ko-KR" altLang="en-US" dirty="0"/>
              <a:t>및</a:t>
            </a:r>
            <a:r>
              <a:rPr lang="en-US" altLang="ko-KR" dirty="0"/>
              <a:t> end</a:t>
            </a:r>
            <a:r>
              <a:rPr lang="ko-KR" altLang="en-US" dirty="0"/>
              <a:t>는</a:t>
            </a:r>
            <a:r>
              <a:rPr lang="en-US" altLang="ko-KR" dirty="0"/>
              <a:t> uint256 </a:t>
            </a:r>
            <a:r>
              <a:rPr lang="ko-KR" altLang="en-US" dirty="0"/>
              <a:t>자료형</a:t>
            </a:r>
            <a:r>
              <a:rPr lang="en-US" altLang="ko-KR" dirty="0"/>
              <a:t>, </a:t>
            </a:r>
            <a:r>
              <a:rPr lang="ko-KR" altLang="en-US" dirty="0"/>
              <a:t>배열의 크기를 벗어나도록 지정하면 예외</a:t>
            </a:r>
            <a:r>
              <a:rPr lang="en-US" altLang="ko-KR" dirty="0"/>
              <a:t>(exception) </a:t>
            </a:r>
            <a:r>
              <a:rPr lang="ko-KR" altLang="en-US" dirty="0"/>
              <a:t>발생</a:t>
            </a:r>
            <a:endParaRPr lang="en-US" altLang="ko-KR" dirty="0"/>
          </a:p>
          <a:p>
            <a:pPr lvl="2"/>
            <a:r>
              <a:rPr lang="en-US" altLang="ko-KR" dirty="0"/>
              <a:t>start </a:t>
            </a:r>
            <a:r>
              <a:rPr lang="ko-KR" altLang="en-US" dirty="0"/>
              <a:t>및</a:t>
            </a:r>
            <a:r>
              <a:rPr lang="en-US" altLang="ko-KR" dirty="0"/>
              <a:t> end</a:t>
            </a:r>
            <a:r>
              <a:rPr lang="ko-KR" altLang="en-US" dirty="0"/>
              <a:t>의 기본값</a:t>
            </a:r>
            <a:r>
              <a:rPr lang="en-US" altLang="ko-KR" dirty="0"/>
              <a:t>(default value)</a:t>
            </a:r>
            <a:r>
              <a:rPr lang="ko-KR" altLang="en-US" dirty="0"/>
              <a:t>는 각각 </a:t>
            </a:r>
            <a:r>
              <a:rPr lang="en-US" altLang="ko-KR" dirty="0"/>
              <a:t>0</a:t>
            </a:r>
            <a:r>
              <a:rPr lang="ko-KR" altLang="en-US" dirty="0"/>
              <a:t>과 배열의</a:t>
            </a:r>
            <a:r>
              <a:rPr lang="en-US" altLang="ko-KR" dirty="0"/>
              <a:t> </a:t>
            </a:r>
            <a:r>
              <a:rPr lang="ko-KR" altLang="en-US" dirty="0"/>
              <a:t>마지막</a:t>
            </a:r>
            <a:r>
              <a:rPr lang="en-US" altLang="ko-KR" dirty="0"/>
              <a:t> </a:t>
            </a:r>
            <a:r>
              <a:rPr lang="ko-KR" altLang="en-US" dirty="0"/>
              <a:t>위치 </a:t>
            </a:r>
            <a:r>
              <a:rPr lang="en-US" altLang="ko-KR" dirty="0"/>
              <a:t>(</a:t>
            </a:r>
            <a:r>
              <a:rPr lang="ko-KR" altLang="en-US" dirty="0" err="1"/>
              <a:t>생략시</a:t>
            </a:r>
            <a:r>
              <a:rPr lang="ko-KR" altLang="en-US" dirty="0"/>
              <a:t> 기본값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  <a:p>
            <a:pPr marL="525463" lvl="2" indent="0">
              <a:buNone/>
            </a:pPr>
            <a:r>
              <a:rPr lang="en-US" altLang="ko-KR" dirty="0"/>
              <a:t>bytes </a:t>
            </a:r>
            <a:r>
              <a:rPr lang="en-US" altLang="ko-KR" dirty="0" err="1"/>
              <a:t>exampleBytes</a:t>
            </a:r>
            <a:r>
              <a:rPr lang="en-US" altLang="ko-KR" dirty="0"/>
              <a:t> = '0xabcd'</a:t>
            </a:r>
          </a:p>
          <a:p>
            <a:pPr marL="525463" lvl="2" indent="0">
              <a:buNone/>
            </a:pPr>
            <a:r>
              <a:rPr lang="en-US" altLang="ko-KR" dirty="0" err="1"/>
              <a:t>exampleBytes</a:t>
            </a:r>
            <a:r>
              <a:rPr lang="en-US" altLang="ko-KR" dirty="0"/>
              <a:t>[2:5]; // '</a:t>
            </a:r>
            <a:r>
              <a:rPr lang="en-US" altLang="ko-KR" dirty="0" err="1"/>
              <a:t>abc</a:t>
            </a:r>
            <a:r>
              <a:rPr lang="en-US" altLang="ko-KR" dirty="0"/>
              <a:t>' </a:t>
            </a:r>
          </a:p>
          <a:p>
            <a:pPr marL="525463" lvl="2" indent="0">
              <a:buNone/>
            </a:pPr>
            <a:r>
              <a:rPr lang="en-US" altLang="ko-KR" dirty="0" err="1"/>
              <a:t>exampleBytes</a:t>
            </a:r>
            <a:r>
              <a:rPr lang="en-US" altLang="ko-KR" dirty="0"/>
              <a:t>[:5]; // '0xabc' </a:t>
            </a:r>
          </a:p>
          <a:p>
            <a:pPr marL="525463" lvl="2" indent="0">
              <a:buNone/>
            </a:pPr>
            <a:r>
              <a:rPr lang="en-US" altLang="ko-KR" dirty="0" err="1"/>
              <a:t>exampleBytes</a:t>
            </a:r>
            <a:r>
              <a:rPr lang="en-US" altLang="ko-KR" dirty="0"/>
              <a:t>[2:]; // '</a:t>
            </a:r>
            <a:r>
              <a:rPr lang="en-US" altLang="ko-KR" dirty="0" err="1"/>
              <a:t>abcd</a:t>
            </a:r>
            <a:r>
              <a:rPr lang="en-US" altLang="ko-KR" dirty="0"/>
              <a:t>' </a:t>
            </a:r>
          </a:p>
          <a:p>
            <a:pPr marL="525463" lvl="2" indent="0">
              <a:buNone/>
            </a:pPr>
            <a:r>
              <a:rPr lang="en-US" altLang="ko-KR" dirty="0" err="1"/>
              <a:t>exampleBytes</a:t>
            </a:r>
            <a:r>
              <a:rPr lang="en-US" altLang="ko-KR" dirty="0"/>
              <a:t>[:]; // '0xabcd＇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배열 슬라이스는 멤버를 가지지 않음</a:t>
            </a:r>
            <a:endParaRPr lang="en-US" altLang="ko-KR" dirty="0"/>
          </a:p>
          <a:p>
            <a:pPr lvl="2"/>
            <a:r>
              <a:rPr lang="ko-KR" altLang="en-US" dirty="0"/>
              <a:t>그러나 배열로 변환한 후 </a:t>
            </a:r>
            <a:r>
              <a:rPr lang="en-US" altLang="ko-KR" dirty="0"/>
              <a:t>index access</a:t>
            </a:r>
            <a:r>
              <a:rPr lang="ko-KR" altLang="en-US" dirty="0"/>
              <a:t>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1885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구조체 </a:t>
            </a:r>
            <a:r>
              <a:rPr lang="en-US" altLang="ko-KR" dirty="0"/>
              <a:t>(struct)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구조체 </a:t>
            </a:r>
            <a:r>
              <a:rPr lang="en-US" altLang="ko-KR" dirty="0"/>
              <a:t>(</a:t>
            </a:r>
            <a:r>
              <a:rPr lang="en-US" altLang="ko-KR" dirty="0" err="1"/>
              <a:t>struct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사용자 정의형으로서 여러 변수를 묶은 자료형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marL="525463" lvl="2" indent="0">
              <a:buNone/>
            </a:pPr>
            <a:endParaRPr lang="en-US" altLang="ko-KR" dirty="0"/>
          </a:p>
          <a:p>
            <a:pPr marL="525463" lvl="2" indent="0">
              <a:buNone/>
            </a:pPr>
            <a:r>
              <a:rPr lang="en-US" altLang="ko-KR" dirty="0"/>
              <a:t>struct Vaccine{</a:t>
            </a:r>
          </a:p>
          <a:p>
            <a:pPr marL="525463" lvl="2" indent="0">
              <a:buNone/>
            </a:pPr>
            <a:r>
              <a:rPr lang="en-US" altLang="ko-KR" dirty="0"/>
              <a:t>      string name;</a:t>
            </a:r>
          </a:p>
          <a:p>
            <a:pPr marL="525463" lvl="2" indent="0">
              <a:buNone/>
            </a:pPr>
            <a:r>
              <a:rPr lang="en-US" altLang="ko-KR" dirty="0"/>
              <a:t>      </a:t>
            </a:r>
            <a:r>
              <a:rPr lang="en-US" altLang="ko-KR" dirty="0" err="1"/>
              <a:t>uint</a:t>
            </a:r>
            <a:r>
              <a:rPr lang="en-US" altLang="ko-KR" dirty="0"/>
              <a:t> id;</a:t>
            </a:r>
          </a:p>
          <a:p>
            <a:pPr marL="525463" lvl="2" indent="0">
              <a:buNone/>
            </a:pPr>
            <a:r>
              <a:rPr lang="en-US" altLang="ko-KR" dirty="0"/>
              <a:t>      bool vaccinated;</a:t>
            </a:r>
          </a:p>
          <a:p>
            <a:pPr marL="525463" lvl="2" indent="0">
              <a:buNone/>
            </a:pPr>
            <a:r>
              <a:rPr lang="en-US" altLang="ko-KR" dirty="0"/>
              <a:t>}</a:t>
            </a:r>
          </a:p>
          <a:p>
            <a:endParaRPr lang="en-US" altLang="ko-KR" dirty="0"/>
          </a:p>
          <a:p>
            <a:r>
              <a:rPr lang="ko-KR" altLang="en-US" dirty="0"/>
              <a:t>초기화 방법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방법 </a:t>
            </a:r>
            <a:r>
              <a:rPr lang="en-US" altLang="ko-KR" dirty="0"/>
              <a:t>1: Vaccine memory polio = Vaccine({vaccinated: false, name: “Tetanus”, id: 3});</a:t>
            </a:r>
          </a:p>
          <a:p>
            <a:pPr lvl="1"/>
            <a:r>
              <a:rPr lang="ko-KR" altLang="en-US" dirty="0"/>
              <a:t>방법 </a:t>
            </a:r>
            <a:r>
              <a:rPr lang="en-US" altLang="ko-KR" dirty="0"/>
              <a:t>2: polio.id = 3;</a:t>
            </a:r>
          </a:p>
          <a:p>
            <a:pPr lvl="1"/>
            <a:r>
              <a:rPr lang="ko-KR" altLang="en-US" dirty="0"/>
              <a:t>방법 </a:t>
            </a:r>
            <a:r>
              <a:rPr lang="en-US" altLang="ko-KR" dirty="0"/>
              <a:t>3: Vaccine memory polio = Vaccine("Measles", 2, false);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7151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매핑형 </a:t>
            </a:r>
            <a:r>
              <a:rPr lang="en-US" altLang="ko-KR" dirty="0"/>
              <a:t>(mapping)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매핑 </a:t>
            </a:r>
            <a:r>
              <a:rPr lang="en-US" altLang="ko-KR" dirty="0"/>
              <a:t>(mapping)</a:t>
            </a:r>
          </a:p>
          <a:p>
            <a:pPr lvl="1"/>
            <a:r>
              <a:rPr lang="en-US" altLang="ko-KR" dirty="0"/>
              <a:t>mapping(Key =&gt; Value): Key </a:t>
            </a:r>
            <a:r>
              <a:rPr lang="ko-KR" altLang="en-US" dirty="0" err="1"/>
              <a:t>자료형을</a:t>
            </a:r>
            <a:r>
              <a:rPr lang="ko-KR" altLang="en-US" dirty="0"/>
              <a:t> </a:t>
            </a:r>
            <a:r>
              <a:rPr lang="en-US" altLang="ko-KR" dirty="0"/>
              <a:t>Value </a:t>
            </a:r>
            <a:r>
              <a:rPr lang="ko-KR" altLang="en-US" dirty="0" err="1"/>
              <a:t>자료형으로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lvl="2"/>
            <a:r>
              <a:rPr lang="en-US" altLang="ko-KR" dirty="0"/>
              <a:t>Key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밸류형</a:t>
            </a:r>
            <a:r>
              <a:rPr lang="en-US" altLang="ko-KR" dirty="0"/>
              <a:t>(value type)</a:t>
            </a:r>
          </a:p>
          <a:p>
            <a:pPr lvl="2"/>
            <a:r>
              <a:rPr lang="en-US" altLang="ko-KR" dirty="0"/>
              <a:t>Value</a:t>
            </a:r>
            <a:r>
              <a:rPr lang="ko-KR" altLang="en-US" dirty="0"/>
              <a:t>는 임의의 </a:t>
            </a:r>
            <a:r>
              <a:rPr lang="ko-KR" altLang="en-US" dirty="0" err="1"/>
              <a:t>자료형</a:t>
            </a:r>
            <a:r>
              <a:rPr lang="en-US" altLang="ko-KR" dirty="0"/>
              <a:t> (</a:t>
            </a:r>
            <a:r>
              <a:rPr lang="en-US" altLang="ko-KR" dirty="0" err="1"/>
              <a:t>struct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array </a:t>
            </a:r>
            <a:r>
              <a:rPr lang="ko-KR" altLang="en-US" dirty="0"/>
              <a:t>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marL="914400" lvl="2" indent="0">
              <a:buNone/>
            </a:pPr>
            <a:r>
              <a:rPr lang="en-US" altLang="ko-KR" dirty="0"/>
              <a:t>mapping(address =&gt; </a:t>
            </a:r>
            <a:r>
              <a:rPr lang="en-US" altLang="ko-KR" dirty="0" err="1"/>
              <a:t>uint</a:t>
            </a:r>
            <a:r>
              <a:rPr lang="en-US" altLang="ko-KR" dirty="0"/>
              <a:t>) balances;</a:t>
            </a:r>
          </a:p>
          <a:p>
            <a:pPr marL="914400" lvl="2" indent="0">
              <a:buNone/>
            </a:pPr>
            <a:r>
              <a:rPr lang="en-US" altLang="ko-KR" dirty="0"/>
              <a:t>balances[</a:t>
            </a:r>
            <a:r>
              <a:rPr lang="en-US" altLang="ko-KR" dirty="0" err="1"/>
              <a:t>msg.sender</a:t>
            </a:r>
            <a:r>
              <a:rPr lang="en-US" altLang="ko-KR" dirty="0"/>
              <a:t>] = </a:t>
            </a:r>
            <a:r>
              <a:rPr lang="en-US" altLang="ko-KR" dirty="0" err="1"/>
              <a:t>newBalance</a:t>
            </a:r>
            <a:r>
              <a:rPr lang="en-US" altLang="ko-KR" dirty="0"/>
              <a:t>;</a:t>
            </a:r>
          </a:p>
          <a:p>
            <a:pPr lvl="2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2" name="TextBox 11"/>
          <p:cNvSpPr txBox="1"/>
          <p:nvPr/>
        </p:nvSpPr>
        <p:spPr>
          <a:xfrm>
            <a:off x="1892660" y="3877307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FF5050"/>
                </a:solidFill>
              </a:rPr>
              <a:t>key</a:t>
            </a:r>
            <a:endParaRPr lang="ko-KR" altLang="en-US" sz="1400" dirty="0">
              <a:solidFill>
                <a:srgbClr val="FF505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 bwMode="auto">
          <a:xfrm flipV="1">
            <a:off x="2124454" y="3685774"/>
            <a:ext cx="533168" cy="2421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772240" y="382588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FF5050"/>
                </a:solidFill>
              </a:rPr>
              <a:t>value</a:t>
            </a:r>
            <a:endParaRPr lang="ko-KR" altLang="en-US" sz="1400" dirty="0">
              <a:solidFill>
                <a:srgbClr val="FF5050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 bwMode="auto">
          <a:xfrm flipH="1" flipV="1">
            <a:off x="4529830" y="3685772"/>
            <a:ext cx="504056" cy="1915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타원 15"/>
          <p:cNvSpPr/>
          <p:nvPr/>
        </p:nvSpPr>
        <p:spPr bwMode="auto">
          <a:xfrm>
            <a:off x="1926468" y="3423872"/>
            <a:ext cx="1451234" cy="261900"/>
          </a:xfrm>
          <a:prstGeom prst="ellipse">
            <a:avLst/>
          </a:prstGeom>
          <a:noFill/>
          <a:ln w="9525" cap="flat" cmpd="sng" algn="ctr">
            <a:solidFill>
              <a:srgbClr val="FF5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 eaLnBrk="1" fontAlgn="ctr" latinLnBrk="1" hangingPunct="1"/>
            <a:endParaRPr lang="ko-KR" altLang="en-US" sz="1600">
              <a:latin typeface="Arial" pitchFamily="34" charset="0"/>
            </a:endParaRPr>
          </a:p>
        </p:txBody>
      </p:sp>
      <p:sp>
        <p:nvSpPr>
          <p:cNvPr id="17" name="타원 16"/>
          <p:cNvSpPr/>
          <p:nvPr/>
        </p:nvSpPr>
        <p:spPr bwMode="auto">
          <a:xfrm>
            <a:off x="3549854" y="3423872"/>
            <a:ext cx="1368152" cy="261900"/>
          </a:xfrm>
          <a:prstGeom prst="ellipse">
            <a:avLst/>
          </a:prstGeom>
          <a:noFill/>
          <a:ln w="9525" cap="flat" cmpd="sng" algn="ctr">
            <a:solidFill>
              <a:srgbClr val="FF5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 eaLnBrk="1" fontAlgn="ctr" latinLnBrk="1" hangingPunct="1"/>
            <a:endParaRPr lang="ko-KR" altLang="en-US" sz="16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169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D.</a:t>
            </a:r>
            <a:r>
              <a:rPr lang="ko-KR" altLang="en-US" dirty="0"/>
              <a:t> 단위 및 특수 변수</a:t>
            </a:r>
            <a:r>
              <a:rPr lang="en-US" altLang="ko-KR" dirty="0"/>
              <a:t>/</a:t>
            </a:r>
            <a:r>
              <a:rPr lang="ko-KR" altLang="en-US" dirty="0"/>
              <a:t>함수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8660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2ED44-2EC7-4396-8694-D70B0EC3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2361C-DAB2-45EE-ABC9-44DCCE8F0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ETH </a:t>
            </a:r>
            <a:r>
              <a:rPr lang="ko-KR" altLang="en-US" dirty="0"/>
              <a:t>수량 표현</a:t>
            </a:r>
            <a:endParaRPr lang="en-US" altLang="ko-KR" dirty="0"/>
          </a:p>
          <a:p>
            <a:pPr lvl="1"/>
            <a:r>
              <a:rPr lang="en-US" altLang="ko-KR" dirty="0"/>
              <a:t>assert(1 </a:t>
            </a:r>
            <a:r>
              <a:rPr lang="en-US" altLang="ko-KR" dirty="0" err="1">
                <a:solidFill>
                  <a:srgbClr val="C00000"/>
                </a:solidFill>
              </a:rPr>
              <a:t>wei</a:t>
            </a:r>
            <a:r>
              <a:rPr lang="en-US" altLang="ko-KR" dirty="0"/>
              <a:t> == 1);</a:t>
            </a:r>
          </a:p>
          <a:p>
            <a:pPr lvl="1"/>
            <a:r>
              <a:rPr lang="en-US" altLang="ko-KR" dirty="0"/>
              <a:t>assert(1 </a:t>
            </a:r>
            <a:r>
              <a:rPr lang="en-US" altLang="ko-KR" dirty="0" err="1"/>
              <a:t>gwei</a:t>
            </a:r>
            <a:r>
              <a:rPr lang="en-US" altLang="ko-KR" dirty="0"/>
              <a:t> == 1e9);</a:t>
            </a:r>
          </a:p>
          <a:p>
            <a:pPr lvl="1"/>
            <a:r>
              <a:rPr lang="en-US" altLang="ko-KR" dirty="0"/>
              <a:t>assert(1 ether == 1e18);</a:t>
            </a:r>
          </a:p>
          <a:p>
            <a:endParaRPr lang="en-US" altLang="ko-KR" dirty="0"/>
          </a:p>
          <a:p>
            <a:r>
              <a:rPr lang="ko-KR" altLang="en-US" dirty="0"/>
              <a:t>시간 표현</a:t>
            </a:r>
            <a:endParaRPr lang="en-US" altLang="ko-KR" dirty="0"/>
          </a:p>
          <a:p>
            <a:pPr lvl="1"/>
            <a:r>
              <a:rPr lang="en-US" altLang="ko-KR" dirty="0"/>
              <a:t>1 == 1 </a:t>
            </a:r>
            <a:r>
              <a:rPr lang="en-US" altLang="ko-KR" dirty="0">
                <a:solidFill>
                  <a:srgbClr val="C00000"/>
                </a:solidFill>
              </a:rPr>
              <a:t>seconds</a:t>
            </a:r>
          </a:p>
          <a:p>
            <a:pPr lvl="1"/>
            <a:r>
              <a:rPr lang="en-US" altLang="ko-KR" dirty="0"/>
              <a:t>1 minutes == 60 seconds</a:t>
            </a:r>
          </a:p>
          <a:p>
            <a:pPr lvl="1"/>
            <a:r>
              <a:rPr lang="en-US" altLang="ko-KR" dirty="0"/>
              <a:t>1 hours == 60 minutes</a:t>
            </a:r>
          </a:p>
          <a:p>
            <a:pPr lvl="1"/>
            <a:r>
              <a:rPr lang="en-US" altLang="ko-KR" dirty="0"/>
              <a:t>1 days == 24 hours</a:t>
            </a:r>
          </a:p>
          <a:p>
            <a:pPr lvl="1"/>
            <a:r>
              <a:rPr lang="en-US" altLang="ko-KR" dirty="0"/>
              <a:t>1 weeks == 7 days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1919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A0826-0802-4284-8F0E-C5638AA5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 변수 및 함수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750E53-E940-4974-B64B-C5E0B769C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Block and Transaction Properties</a:t>
            </a:r>
          </a:p>
          <a:p>
            <a:pPr lvl="1"/>
            <a:r>
              <a:rPr lang="en-US" altLang="ko-KR" dirty="0" err="1"/>
              <a:t>blockhash</a:t>
            </a:r>
            <a:r>
              <a:rPr lang="en-US" altLang="ko-KR" dirty="0"/>
              <a:t>(</a:t>
            </a:r>
            <a:r>
              <a:rPr lang="en-US" altLang="ko-KR" dirty="0" err="1"/>
              <a:t>uint</a:t>
            </a:r>
            <a:r>
              <a:rPr lang="en-US" altLang="ko-KR" dirty="0"/>
              <a:t> </a:t>
            </a:r>
            <a:r>
              <a:rPr lang="en-US" altLang="ko-KR" dirty="0" err="1"/>
              <a:t>blockNumber</a:t>
            </a:r>
            <a:r>
              <a:rPr lang="en-US" altLang="ko-KR" dirty="0"/>
              <a:t>) returns (bytes32): hash of the given block when </a:t>
            </a:r>
            <a:r>
              <a:rPr lang="en-US" altLang="ko-KR" dirty="0" err="1"/>
              <a:t>blocknumber</a:t>
            </a:r>
            <a:r>
              <a:rPr lang="en-US" altLang="ko-KR" dirty="0"/>
              <a:t> is one of the 256 most recent blocks; otherwise returns zero</a:t>
            </a:r>
          </a:p>
          <a:p>
            <a:pPr lvl="1"/>
            <a:r>
              <a:rPr lang="en-US" altLang="ko-KR" dirty="0" err="1"/>
              <a:t>blobhash</a:t>
            </a:r>
            <a:r>
              <a:rPr lang="en-US" altLang="ko-KR" dirty="0"/>
              <a:t>(</a:t>
            </a:r>
            <a:r>
              <a:rPr lang="en-US" altLang="ko-KR" dirty="0" err="1"/>
              <a:t>uint</a:t>
            </a:r>
            <a:r>
              <a:rPr lang="en-US" altLang="ko-KR" dirty="0"/>
              <a:t> index) returns (bytes32): versioned hash of the index-</a:t>
            </a:r>
            <a:r>
              <a:rPr lang="en-US" altLang="ko-KR" dirty="0" err="1"/>
              <a:t>th</a:t>
            </a:r>
            <a:r>
              <a:rPr lang="en-US" altLang="ko-KR" dirty="0"/>
              <a:t> blob associated with the current transaction. A versioned hash consists of a single byte representing the version (currently 0x01), followed by the last 31 bytes of the SHA256 hash of the KZG commitment (EIP-4844). Returns zero if no blob with the given index exists.</a:t>
            </a:r>
          </a:p>
          <a:p>
            <a:pPr lvl="1"/>
            <a:r>
              <a:rPr lang="en-US" altLang="ko-KR" dirty="0" err="1"/>
              <a:t>block.basefee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block’s base fee (EIP-3198 and EIP-1559)</a:t>
            </a:r>
          </a:p>
          <a:p>
            <a:pPr lvl="1"/>
            <a:r>
              <a:rPr lang="en-US" altLang="ko-KR" dirty="0" err="1"/>
              <a:t>block.blobbasefee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block’s blob base fee (EIP-7516 and EIP-4844)</a:t>
            </a:r>
          </a:p>
          <a:p>
            <a:pPr lvl="1"/>
            <a:r>
              <a:rPr lang="en-US" altLang="ko-KR" dirty="0" err="1"/>
              <a:t>block.chainid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chain id</a:t>
            </a:r>
          </a:p>
          <a:p>
            <a:pPr lvl="1"/>
            <a:r>
              <a:rPr lang="en-US" altLang="ko-KR" dirty="0" err="1"/>
              <a:t>block.coinbase</a:t>
            </a:r>
            <a:r>
              <a:rPr lang="en-US" altLang="ko-KR" dirty="0"/>
              <a:t> (address payable): current block miner’s address</a:t>
            </a:r>
          </a:p>
          <a:p>
            <a:pPr lvl="1"/>
            <a:r>
              <a:rPr lang="en-US" altLang="ko-KR" dirty="0" err="1"/>
              <a:t>block.difficulty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block difficulty (EVM &lt; Paris). For other EVM versions it behaves as a deprecated alias for </a:t>
            </a:r>
            <a:r>
              <a:rPr lang="en-US" altLang="ko-KR" dirty="0" err="1"/>
              <a:t>block.prevrandao</a:t>
            </a:r>
            <a:r>
              <a:rPr lang="en-US" altLang="ko-KR" dirty="0"/>
              <a:t> (EIP-4399 )</a:t>
            </a:r>
          </a:p>
          <a:p>
            <a:pPr lvl="1"/>
            <a:r>
              <a:rPr lang="en-US" altLang="ko-KR" dirty="0" err="1"/>
              <a:t>block.gaslimit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block </a:t>
            </a:r>
            <a:r>
              <a:rPr lang="en-US" altLang="ko-KR" dirty="0" err="1"/>
              <a:t>gaslimit</a:t>
            </a:r>
            <a:endParaRPr lang="en-US" altLang="ko-KR" dirty="0"/>
          </a:p>
          <a:p>
            <a:pPr lvl="1"/>
            <a:r>
              <a:rPr lang="en-US" altLang="ko-KR" dirty="0" err="1"/>
              <a:t>block.number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block number</a:t>
            </a:r>
          </a:p>
          <a:p>
            <a:pPr lvl="1"/>
            <a:r>
              <a:rPr lang="en-US" altLang="ko-KR" dirty="0" err="1"/>
              <a:t>block.prevrandao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random number provided by the beacon chain (EVM &gt;= Paris)</a:t>
            </a:r>
          </a:p>
          <a:p>
            <a:pPr lvl="1"/>
            <a:r>
              <a:rPr lang="en-US" altLang="ko-KR" dirty="0" err="1"/>
              <a:t>block.timestamp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current block timestamp as seconds since </a:t>
            </a:r>
            <a:r>
              <a:rPr lang="en-US" altLang="ko-KR" dirty="0" err="1"/>
              <a:t>unix</a:t>
            </a:r>
            <a:r>
              <a:rPr lang="en-US" altLang="ko-KR" dirty="0"/>
              <a:t> epoch</a:t>
            </a:r>
          </a:p>
          <a:p>
            <a:pPr lvl="1"/>
            <a:r>
              <a:rPr lang="en-US" altLang="ko-KR" dirty="0" err="1"/>
              <a:t>gasleft</a:t>
            </a:r>
            <a:r>
              <a:rPr lang="en-US" altLang="ko-KR" dirty="0"/>
              <a:t>() returns (uint256): remaining gas</a:t>
            </a:r>
          </a:p>
          <a:p>
            <a:pPr lvl="1"/>
            <a:r>
              <a:rPr lang="en-US" altLang="ko-KR" dirty="0" err="1"/>
              <a:t>msg.data</a:t>
            </a:r>
            <a:r>
              <a:rPr lang="en-US" altLang="ko-KR" dirty="0"/>
              <a:t> (bytes </a:t>
            </a:r>
            <a:r>
              <a:rPr lang="en-US" altLang="ko-KR" dirty="0" err="1"/>
              <a:t>calldata</a:t>
            </a:r>
            <a:r>
              <a:rPr lang="en-US" altLang="ko-KR" dirty="0"/>
              <a:t>): complete </a:t>
            </a:r>
            <a:r>
              <a:rPr lang="en-US" altLang="ko-KR" dirty="0" err="1"/>
              <a:t>calldata</a:t>
            </a:r>
            <a:endParaRPr lang="en-US" altLang="ko-KR" dirty="0"/>
          </a:p>
          <a:p>
            <a:pPr lvl="1"/>
            <a:r>
              <a:rPr lang="en-US" altLang="ko-KR" dirty="0" err="1"/>
              <a:t>msg.sender</a:t>
            </a:r>
            <a:r>
              <a:rPr lang="en-US" altLang="ko-KR" dirty="0"/>
              <a:t> (address): sender of the message (current call)</a:t>
            </a:r>
          </a:p>
          <a:p>
            <a:pPr lvl="1"/>
            <a:r>
              <a:rPr lang="en-US" altLang="ko-KR" dirty="0" err="1"/>
              <a:t>msg.sig</a:t>
            </a:r>
            <a:r>
              <a:rPr lang="en-US" altLang="ko-KR" dirty="0"/>
              <a:t> (bytes4): first four bytes of the </a:t>
            </a:r>
            <a:r>
              <a:rPr lang="en-US" altLang="ko-KR" dirty="0" err="1"/>
              <a:t>calldata</a:t>
            </a:r>
            <a:r>
              <a:rPr lang="en-US" altLang="ko-KR" dirty="0"/>
              <a:t> (i.e. function identifier)</a:t>
            </a:r>
          </a:p>
          <a:p>
            <a:pPr lvl="1"/>
            <a:r>
              <a:rPr lang="en-US" altLang="ko-KR" dirty="0" err="1"/>
              <a:t>msg.value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number of </a:t>
            </a:r>
            <a:r>
              <a:rPr lang="en-US" altLang="ko-KR" dirty="0" err="1"/>
              <a:t>wei</a:t>
            </a:r>
            <a:r>
              <a:rPr lang="en-US" altLang="ko-KR" dirty="0"/>
              <a:t> sent with the message</a:t>
            </a:r>
          </a:p>
          <a:p>
            <a:pPr lvl="1"/>
            <a:r>
              <a:rPr lang="en-US" altLang="ko-KR" dirty="0" err="1"/>
              <a:t>tx.gasprice</a:t>
            </a:r>
            <a:r>
              <a:rPr lang="en-US" altLang="ko-KR" dirty="0"/>
              <a:t> (</a:t>
            </a:r>
            <a:r>
              <a:rPr lang="en-US" altLang="ko-KR" dirty="0" err="1"/>
              <a:t>uint</a:t>
            </a:r>
            <a:r>
              <a:rPr lang="en-US" altLang="ko-KR" dirty="0"/>
              <a:t>): gas price of the transaction</a:t>
            </a:r>
          </a:p>
          <a:p>
            <a:pPr lvl="1"/>
            <a:r>
              <a:rPr lang="en-US" altLang="ko-KR" dirty="0" err="1"/>
              <a:t>tx.origin</a:t>
            </a:r>
            <a:r>
              <a:rPr lang="en-US" altLang="ko-KR" dirty="0"/>
              <a:t> (address): sender of the transaction (full call chain)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1900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20A07-0C98-49ED-8CA3-A2862D18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 변수 및 함수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C0378-EE76-4D08-8F62-066FD1002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ABI Encoding and Decoding Functions</a:t>
            </a:r>
          </a:p>
          <a:p>
            <a:pPr lvl="1"/>
            <a:r>
              <a:rPr lang="en-US" altLang="ko-KR" dirty="0" err="1"/>
              <a:t>abi.decode</a:t>
            </a:r>
            <a:r>
              <a:rPr lang="en-US" altLang="ko-KR" dirty="0"/>
              <a:t>(bytes memory </a:t>
            </a:r>
            <a:r>
              <a:rPr lang="en-US" altLang="ko-KR" dirty="0" err="1"/>
              <a:t>encodedData</a:t>
            </a:r>
            <a:r>
              <a:rPr lang="en-US" altLang="ko-KR" dirty="0"/>
              <a:t>, (...)) returns (...): ABI-decodes the given data, while the types are given in parentheses as second argument. Example: (</a:t>
            </a:r>
            <a:r>
              <a:rPr lang="en-US" altLang="ko-KR" dirty="0" err="1"/>
              <a:t>uint</a:t>
            </a:r>
            <a:r>
              <a:rPr lang="en-US" altLang="ko-KR" dirty="0"/>
              <a:t> a, </a:t>
            </a:r>
            <a:r>
              <a:rPr lang="en-US" altLang="ko-KR" dirty="0" err="1"/>
              <a:t>uint</a:t>
            </a:r>
            <a:r>
              <a:rPr lang="en-US" altLang="ko-KR" dirty="0"/>
              <a:t>[2] memory b, bytes memory c) = </a:t>
            </a:r>
            <a:r>
              <a:rPr lang="en-US" altLang="ko-KR" dirty="0" err="1"/>
              <a:t>abi.decode</a:t>
            </a:r>
            <a:r>
              <a:rPr lang="en-US" altLang="ko-KR" dirty="0"/>
              <a:t>(data, (</a:t>
            </a:r>
            <a:r>
              <a:rPr lang="en-US" altLang="ko-KR" dirty="0" err="1"/>
              <a:t>uint</a:t>
            </a:r>
            <a:r>
              <a:rPr lang="en-US" altLang="ko-KR" dirty="0"/>
              <a:t>, </a:t>
            </a:r>
            <a:r>
              <a:rPr lang="en-US" altLang="ko-KR" dirty="0" err="1"/>
              <a:t>uint</a:t>
            </a:r>
            <a:r>
              <a:rPr lang="en-US" altLang="ko-KR" dirty="0"/>
              <a:t>[2], bytes))</a:t>
            </a:r>
          </a:p>
          <a:p>
            <a:pPr lvl="1"/>
            <a:r>
              <a:rPr lang="en-US" altLang="ko-KR" dirty="0" err="1"/>
              <a:t>abi.encode</a:t>
            </a:r>
            <a:r>
              <a:rPr lang="en-US" altLang="ko-KR" dirty="0"/>
              <a:t>(...) returns (bytes memory): ABI-encodes the given arguments</a:t>
            </a:r>
          </a:p>
          <a:p>
            <a:pPr lvl="1"/>
            <a:r>
              <a:rPr lang="en-US" altLang="ko-KR" dirty="0" err="1"/>
              <a:t>abi.encodePacked</a:t>
            </a:r>
            <a:r>
              <a:rPr lang="en-US" altLang="ko-KR" dirty="0"/>
              <a:t>(...) returns (bytes memory): Performs packed encoding of the given arguments. Note that packed encoding can be ambiguous!</a:t>
            </a:r>
          </a:p>
          <a:p>
            <a:pPr lvl="1"/>
            <a:r>
              <a:rPr lang="en-US" altLang="ko-KR" dirty="0" err="1"/>
              <a:t>abi.encodeWithSelector</a:t>
            </a:r>
            <a:r>
              <a:rPr lang="en-US" altLang="ko-KR" dirty="0"/>
              <a:t>(bytes4 selector, ...) returns (bytes memory): ABI-encodes the given arguments starting from the second and prepends the given four-byte selector</a:t>
            </a:r>
          </a:p>
          <a:p>
            <a:pPr lvl="1"/>
            <a:r>
              <a:rPr lang="en-US" altLang="ko-KR" dirty="0" err="1"/>
              <a:t>abi.encodeWithSignature</a:t>
            </a:r>
            <a:r>
              <a:rPr lang="en-US" altLang="ko-KR" dirty="0"/>
              <a:t>(string memory signature, ...) returns (bytes memory): Equivalent to </a:t>
            </a:r>
            <a:r>
              <a:rPr lang="en-US" altLang="ko-KR" dirty="0" err="1"/>
              <a:t>abi.encodeWithSelector</a:t>
            </a:r>
            <a:r>
              <a:rPr lang="en-US" altLang="ko-KR" dirty="0"/>
              <a:t>(bytes4(keccak256(bytes(signature))), ...)</a:t>
            </a:r>
          </a:p>
          <a:p>
            <a:pPr lvl="1"/>
            <a:r>
              <a:rPr lang="en-US" altLang="ko-KR" dirty="0" err="1"/>
              <a:t>abi.encodeCall</a:t>
            </a:r>
            <a:r>
              <a:rPr lang="en-US" altLang="ko-KR" dirty="0"/>
              <a:t>(function </a:t>
            </a:r>
            <a:r>
              <a:rPr lang="en-US" altLang="ko-KR" dirty="0" err="1"/>
              <a:t>functionPointer</a:t>
            </a:r>
            <a:r>
              <a:rPr lang="en-US" altLang="ko-KR" dirty="0"/>
              <a:t>, (...)) returns (bytes memory): ABI-encodes a call to </a:t>
            </a:r>
            <a:r>
              <a:rPr lang="en-US" altLang="ko-KR" dirty="0" err="1"/>
              <a:t>functionPointer</a:t>
            </a:r>
            <a:r>
              <a:rPr lang="en-US" altLang="ko-KR" dirty="0"/>
              <a:t> with the arguments found in the tuple. Performs a full type-check, ensuring the types match the function signature. Result equals </a:t>
            </a:r>
            <a:r>
              <a:rPr lang="en-US" altLang="ko-KR" dirty="0" err="1"/>
              <a:t>abi.encodeWithSelector</a:t>
            </a:r>
            <a:r>
              <a:rPr lang="en-US" altLang="ko-KR" dirty="0"/>
              <a:t>(</a:t>
            </a:r>
            <a:r>
              <a:rPr lang="en-US" altLang="ko-KR" dirty="0" err="1"/>
              <a:t>functionPointer.selector</a:t>
            </a:r>
            <a:r>
              <a:rPr lang="en-US" altLang="ko-KR" dirty="0"/>
              <a:t>, (...))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221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E262F-F05C-4245-989E-F398372B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 변수 및 함수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5C488D-5FB0-4870-9754-3C7F5F1C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Error Handling</a:t>
            </a:r>
          </a:p>
          <a:p>
            <a:pPr lvl="1"/>
            <a:r>
              <a:rPr lang="en-US" altLang="ko-KR" dirty="0"/>
              <a:t>assert(bool condition): causes a Panic error and thus state change reversion if the condition is not met - to be used for internal errors.</a:t>
            </a:r>
          </a:p>
          <a:p>
            <a:pPr lvl="1"/>
            <a:r>
              <a:rPr lang="en-US" altLang="ko-KR" dirty="0"/>
              <a:t>require(bool condition): reverts if the condition is not met - to be used for errors in inputs or external components.</a:t>
            </a:r>
          </a:p>
          <a:p>
            <a:pPr lvl="1"/>
            <a:r>
              <a:rPr lang="en-US" altLang="ko-KR" dirty="0"/>
              <a:t>require(bool condition, string memory message): reverts if the condition is not met - to be used for errors in inputs or external components. Also provides an error message.</a:t>
            </a:r>
          </a:p>
          <a:p>
            <a:pPr lvl="1"/>
            <a:r>
              <a:rPr lang="en-US" altLang="ko-KR" dirty="0"/>
              <a:t>revert(): abort execution and revert state changes</a:t>
            </a:r>
          </a:p>
          <a:p>
            <a:pPr lvl="1"/>
            <a:r>
              <a:rPr lang="en-US" altLang="ko-KR" dirty="0"/>
              <a:t>revert(string memory reason): abort execution and revert state changes, providing an explanatory string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3844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164FD-D9E1-4372-8747-9A269B79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 변수 및 함수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C3E335-DCF0-406C-8F23-FAC33E47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Mathematical and Cryptographic Functions</a:t>
            </a:r>
          </a:p>
          <a:p>
            <a:pPr lvl="1"/>
            <a:r>
              <a:rPr lang="en-US" altLang="ko-KR" dirty="0" err="1"/>
              <a:t>addmod</a:t>
            </a:r>
            <a:r>
              <a:rPr lang="en-US" altLang="ko-KR" dirty="0"/>
              <a:t>(</a:t>
            </a:r>
            <a:r>
              <a:rPr lang="en-US" altLang="ko-KR" dirty="0" err="1"/>
              <a:t>uint</a:t>
            </a:r>
            <a:r>
              <a:rPr lang="en-US" altLang="ko-KR" dirty="0"/>
              <a:t> x, </a:t>
            </a:r>
            <a:r>
              <a:rPr lang="en-US" altLang="ko-KR" dirty="0" err="1"/>
              <a:t>uint</a:t>
            </a:r>
            <a:r>
              <a:rPr lang="en-US" altLang="ko-KR" dirty="0"/>
              <a:t> y, </a:t>
            </a:r>
            <a:r>
              <a:rPr lang="en-US" altLang="ko-KR" dirty="0" err="1"/>
              <a:t>uint</a:t>
            </a:r>
            <a:r>
              <a:rPr lang="en-US" altLang="ko-KR" dirty="0"/>
              <a:t> k) returns (</a:t>
            </a:r>
            <a:r>
              <a:rPr lang="en-US" altLang="ko-KR" dirty="0" err="1"/>
              <a:t>uint</a:t>
            </a:r>
            <a:r>
              <a:rPr lang="en-US" altLang="ko-KR" dirty="0"/>
              <a:t>): compute (x + y) % k where the addition is performed with arbitrary precision and does not wrap around at 2**256. Assert that k != 0 starting from version 0.5.0.</a:t>
            </a:r>
          </a:p>
          <a:p>
            <a:pPr lvl="1"/>
            <a:r>
              <a:rPr lang="en-US" altLang="ko-KR" dirty="0" err="1"/>
              <a:t>mulmod</a:t>
            </a:r>
            <a:r>
              <a:rPr lang="en-US" altLang="ko-KR" dirty="0"/>
              <a:t>(</a:t>
            </a:r>
            <a:r>
              <a:rPr lang="en-US" altLang="ko-KR" dirty="0" err="1"/>
              <a:t>uint</a:t>
            </a:r>
            <a:r>
              <a:rPr lang="en-US" altLang="ko-KR" dirty="0"/>
              <a:t> x, </a:t>
            </a:r>
            <a:r>
              <a:rPr lang="en-US" altLang="ko-KR" dirty="0" err="1"/>
              <a:t>uint</a:t>
            </a:r>
            <a:r>
              <a:rPr lang="en-US" altLang="ko-KR" dirty="0"/>
              <a:t> y, </a:t>
            </a:r>
            <a:r>
              <a:rPr lang="en-US" altLang="ko-KR" dirty="0" err="1"/>
              <a:t>uint</a:t>
            </a:r>
            <a:r>
              <a:rPr lang="en-US" altLang="ko-KR" dirty="0"/>
              <a:t> k) returns (</a:t>
            </a:r>
            <a:r>
              <a:rPr lang="en-US" altLang="ko-KR" dirty="0" err="1"/>
              <a:t>uint</a:t>
            </a:r>
            <a:r>
              <a:rPr lang="en-US" altLang="ko-KR" dirty="0"/>
              <a:t>): compute (x * y) % k where the multiplication is performed with arbitrary precision and does not wrap around at 2**256. Assert that k != 0 starting from version 0.5.0.</a:t>
            </a:r>
          </a:p>
          <a:p>
            <a:pPr lvl="1"/>
            <a:r>
              <a:rPr lang="en-US" altLang="ko-KR" dirty="0"/>
              <a:t>keccak256(bytes memory) returns (bytes32): compute the Keccak-256 hash of the input</a:t>
            </a:r>
          </a:p>
          <a:p>
            <a:pPr lvl="1"/>
            <a:r>
              <a:rPr lang="en-US" altLang="ko-KR" dirty="0"/>
              <a:t>sha256(bytes memory) returns (bytes32): compute the SHA-256 hash of the input</a:t>
            </a:r>
          </a:p>
          <a:p>
            <a:pPr lvl="1"/>
            <a:r>
              <a:rPr lang="en-US" altLang="ko-KR" dirty="0"/>
              <a:t>ripemd160(bytes memory) returns (bytes20): compute RIPEMD-160 hash of the input</a:t>
            </a:r>
          </a:p>
          <a:p>
            <a:pPr lvl="1"/>
            <a:r>
              <a:rPr lang="en-US" altLang="ko-KR" dirty="0" err="1"/>
              <a:t>ecrecover</a:t>
            </a:r>
            <a:r>
              <a:rPr lang="en-US" altLang="ko-KR" dirty="0"/>
              <a:t>(bytes32 hash, uint8 v, bytes32 r, bytes32 s) returns (address): recover the address associated with the public key from elliptic curve signature or return zero on error. The function parameters correspond to ECDSA values of the signature:</a:t>
            </a:r>
          </a:p>
          <a:p>
            <a:pPr lvl="2"/>
            <a:r>
              <a:rPr lang="en-US" altLang="ko-KR" dirty="0"/>
              <a:t>r = first 32 bytes of signature</a:t>
            </a:r>
          </a:p>
          <a:p>
            <a:pPr lvl="2"/>
            <a:r>
              <a:rPr lang="en-US" altLang="ko-KR" dirty="0"/>
              <a:t>s = second 32 bytes of signature</a:t>
            </a:r>
          </a:p>
          <a:p>
            <a:pPr lvl="2"/>
            <a:r>
              <a:rPr lang="en-US" altLang="ko-KR" dirty="0"/>
              <a:t>v = final 1 byte of signature</a:t>
            </a:r>
          </a:p>
          <a:p>
            <a:pPr lvl="2"/>
            <a:r>
              <a:rPr lang="en-US" altLang="ko-KR" dirty="0" err="1"/>
              <a:t>ecrecover</a:t>
            </a:r>
            <a:r>
              <a:rPr lang="en-US" altLang="ko-KR" dirty="0"/>
              <a:t> returns an address, and not an address payable. See address payable for conversion, in case you need to transfer funds to the recovered address.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614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03AFE-D3C8-4A6C-85B2-2361B6EF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 변수 및 함수 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4266C-6AC8-49EC-B888-5814CDACC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Contract-related</a:t>
            </a:r>
          </a:p>
          <a:p>
            <a:pPr lvl="1"/>
            <a:r>
              <a:rPr lang="en-US" altLang="ko-KR" dirty="0"/>
              <a:t>this (current contract’s type): The current contract, explicitly convertible to Address</a:t>
            </a:r>
          </a:p>
          <a:p>
            <a:pPr lvl="1"/>
            <a:r>
              <a:rPr lang="en-US" altLang="ko-KR" dirty="0"/>
              <a:t>super: A contract one level higher in the inheritance hierarchy</a:t>
            </a:r>
          </a:p>
          <a:p>
            <a:pPr lvl="1"/>
            <a:r>
              <a:rPr lang="en-US" altLang="ko-KR" dirty="0" err="1"/>
              <a:t>selfdestruct</a:t>
            </a:r>
            <a:r>
              <a:rPr lang="en-US" altLang="ko-KR" dirty="0"/>
              <a:t>(address payable recipient): Destroy the current contract, sending its funds to the given Address and end execution. Note that </a:t>
            </a:r>
            <a:r>
              <a:rPr lang="en-US" altLang="ko-KR" dirty="0" err="1"/>
              <a:t>selfdestruct</a:t>
            </a:r>
            <a:r>
              <a:rPr lang="en-US" altLang="ko-KR" dirty="0"/>
              <a:t> has some peculiarities inherited from the EVM:</a:t>
            </a:r>
          </a:p>
          <a:p>
            <a:pPr lvl="2"/>
            <a:r>
              <a:rPr lang="en-US" altLang="ko-KR" dirty="0"/>
              <a:t>the receiving contract’s receive function is not executed.</a:t>
            </a:r>
          </a:p>
          <a:p>
            <a:pPr lvl="2"/>
            <a:r>
              <a:rPr lang="en-US" altLang="ko-KR" dirty="0"/>
              <a:t>the contract is only really destroyed at the end of the transaction and revert s might “undo” the destruction.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538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E.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다양한</a:t>
            </a:r>
            <a:r>
              <a:rPr lang="en-US" altLang="ko-KR" dirty="0"/>
              <a:t> </a:t>
            </a:r>
            <a:r>
              <a:rPr lang="ko-KR" altLang="en-US" dirty="0"/>
              <a:t>자료형 연습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3359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“02-VariablesAndTypes-P.sol”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8637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1866" y="2204864"/>
            <a:ext cx="5322269" cy="2505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6086</TotalTime>
  <Words>3275</Words>
  <Application>Microsoft Office PowerPoint</Application>
  <PresentationFormat>A4 용지(210x297mm)</PresentationFormat>
  <Paragraphs>363</Paragraphs>
  <Slides>33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33</vt:i4>
      </vt:variant>
    </vt:vector>
  </HeadingPairs>
  <TitlesOfParts>
    <vt:vector size="41" baseType="lpstr">
      <vt:lpstr>굴림</vt:lpstr>
      <vt:lpstr>나눔고딕</vt:lpstr>
      <vt:lpstr>맑은 고딕</vt:lpstr>
      <vt:lpstr>Arial</vt:lpstr>
      <vt:lpstr>Univers Condensed</vt:lpstr>
      <vt:lpstr>Wingdings</vt:lpstr>
      <vt:lpstr>기본 디자인</vt:lpstr>
      <vt:lpstr>디자인 사용자 지정</vt:lpstr>
      <vt:lpstr>3-8. (Lab) Variables and Types</vt:lpstr>
      <vt:lpstr>순서</vt:lpstr>
      <vt:lpstr> 변수의 종류 및 가시성</vt:lpstr>
      <vt:lpstr>변수의 종류</vt:lpstr>
      <vt:lpstr>상태변수 가시성 (Visibility)</vt:lpstr>
      <vt:lpstr>“constant” 및 “immutable” 상태변수</vt:lpstr>
      <vt:lpstr>데이터 자료형 (Types)</vt:lpstr>
      <vt:lpstr>B. 밸류형 (Value Types) </vt:lpstr>
      <vt:lpstr>부울형, 정수형, 열거형</vt:lpstr>
      <vt:lpstr>고정 소수점 실수형</vt:lpstr>
      <vt:lpstr>주소형</vt:lpstr>
      <vt:lpstr>컨트랙트형</vt:lpstr>
      <vt:lpstr>고정 크기 바이트 배열</vt:lpstr>
      <vt:lpstr>문자열 (1)</vt:lpstr>
      <vt:lpstr>문자열 (2)</vt:lpstr>
      <vt:lpstr>문자열 (3)</vt:lpstr>
      <vt:lpstr>사용자 정의 밸류형</vt:lpstr>
      <vt:lpstr>C. 참조형 (Value Types) </vt:lpstr>
      <vt:lpstr>배열 (1) </vt:lpstr>
      <vt:lpstr>bytes 및 string</vt:lpstr>
      <vt:lpstr>배열 슬라이스</vt:lpstr>
      <vt:lpstr>구조체 (struct)</vt:lpstr>
      <vt:lpstr>매핑형 (mapping)</vt:lpstr>
      <vt:lpstr>D. 단위 및 특수 변수/함수</vt:lpstr>
      <vt:lpstr>단위</vt:lpstr>
      <vt:lpstr>특수 변수 및 함수 (1)</vt:lpstr>
      <vt:lpstr>특수 변수 및 함수 (2)</vt:lpstr>
      <vt:lpstr>특수 변수 및 함수 (3)</vt:lpstr>
      <vt:lpstr>특수 변수 및 함수 (4)</vt:lpstr>
      <vt:lpstr>특수 변수 및 함수 (5)</vt:lpstr>
      <vt:lpstr>E. (실습) 다양한 자료형 연습</vt:lpstr>
      <vt:lpstr>연습</vt:lpstr>
      <vt:lpstr>PowerPoint 프레젠테이션</vt:lpstr>
    </vt:vector>
  </TitlesOfParts>
  <Company>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159</cp:revision>
  <dcterms:created xsi:type="dcterms:W3CDTF">2011-01-27T23:33:23Z</dcterms:created>
  <dcterms:modified xsi:type="dcterms:W3CDTF">2025-03-28T01:37:34Z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blob>PE5TQ1BIPgAAADYAMABDAEEAQgA5AEQAQgBFADMAOAAxAEYANAA5ADkANgBEADEAMAAwAEQAMABD
AEEAOQAxADUANABCADkARABDADcANQAxADUANgA1AEIAQwAxAEQANQBGADEAOQA3ADUAMQA4ADcA
OQBCADYAMABGADQAMQA5AEEAQQAyADYAAAA=</vt:blob>
  </property>
  <property fmtid="{D5CDD505-2E9C-101B-9397-08002B2CF9AE}" pid="2" name="FLCMData">
    <vt:lpwstr>2B6DB54876A7E7A49A5B3AB6B6042F62482DCF38C5130AC721DBD6324B318018BAE7F1B0DF3B9CD78176916D97C269836255A0A1C9FBCA599EAF2CDA2AD877A1</vt:lpwstr>
  </property>
</Properties>
</file>