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49" r:id="rId2"/>
  </p:sldMasterIdLst>
  <p:notesMasterIdLst>
    <p:notesMasterId r:id="rId23"/>
  </p:notesMasterIdLst>
  <p:sldIdLst>
    <p:sldId id="518" r:id="rId3"/>
    <p:sldId id="480" r:id="rId4"/>
    <p:sldId id="535" r:id="rId5"/>
    <p:sldId id="536" r:id="rId6"/>
    <p:sldId id="537" r:id="rId7"/>
    <p:sldId id="538" r:id="rId8"/>
    <p:sldId id="539" r:id="rId9"/>
    <p:sldId id="540" r:id="rId10"/>
    <p:sldId id="521" r:id="rId11"/>
    <p:sldId id="491" r:id="rId12"/>
    <p:sldId id="541" r:id="rId13"/>
    <p:sldId id="492" r:id="rId14"/>
    <p:sldId id="523" r:id="rId15"/>
    <p:sldId id="524" r:id="rId16"/>
    <p:sldId id="525" r:id="rId17"/>
    <p:sldId id="526" r:id="rId18"/>
    <p:sldId id="496" r:id="rId19"/>
    <p:sldId id="542" r:id="rId20"/>
    <p:sldId id="487" r:id="rId21"/>
    <p:sldId id="292" r:id="rId22"/>
  </p:sldIdLst>
  <p:sldSz cx="9906000" cy="6858000" type="A4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214">
          <p15:clr>
            <a:srgbClr val="A4A3A4"/>
          </p15:clr>
        </p15:guide>
        <p15:guide id="3" orient="horz" pos="618">
          <p15:clr>
            <a:srgbClr val="A4A3A4"/>
          </p15:clr>
        </p15:guide>
        <p15:guide id="4" orient="horz" pos="754">
          <p15:clr>
            <a:srgbClr val="A4A3A4"/>
          </p15:clr>
        </p15:guide>
        <p15:guide id="5" orient="horz" pos="3974">
          <p15:clr>
            <a:srgbClr val="A4A3A4"/>
          </p15:clr>
        </p15:guide>
        <p15:guide id="6" pos="3120">
          <p15:clr>
            <a:srgbClr val="A4A3A4"/>
          </p15:clr>
        </p15:guide>
        <p15:guide id="7" pos="6019">
          <p15:clr>
            <a:srgbClr val="A4A3A4"/>
          </p15:clr>
        </p15:guide>
        <p15:guide id="8" pos="221">
          <p15:clr>
            <a:srgbClr val="A4A3A4"/>
          </p15:clr>
        </p15:guide>
        <p15:guide id="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4">
          <p15:clr>
            <a:srgbClr val="A4A3A4"/>
          </p15:clr>
        </p15:guide>
        <p15:guide id="2" orient="horz" pos="5397">
          <p15:clr>
            <a:srgbClr val="A4A3A4"/>
          </p15:clr>
        </p15:guide>
        <p15:guide id="3" orient="horz" pos="544">
          <p15:clr>
            <a:srgbClr val="A4A3A4"/>
          </p15:clr>
        </p15:guide>
        <p15:guide id="4" orient="horz" pos="453">
          <p15:clr>
            <a:srgbClr val="A4A3A4"/>
          </p15:clr>
        </p15:guide>
        <p15:guide id="5" orient="horz" pos="3198">
          <p15:clr>
            <a:srgbClr val="A4A3A4"/>
          </p15:clr>
        </p15:guide>
        <p15:guide id="6" orient="horz" pos="1192">
          <p15:clr>
            <a:srgbClr val="A4A3A4"/>
          </p15:clr>
        </p15:guide>
        <p15:guide id="7" orient="horz">
          <p15:clr>
            <a:srgbClr val="A4A3A4"/>
          </p15:clr>
        </p15:guide>
        <p15:guide id="8" pos="436">
          <p15:clr>
            <a:srgbClr val="A4A3A4"/>
          </p15:clr>
        </p15:guide>
        <p15:guide id="9" pos="2161">
          <p15:clr>
            <a:srgbClr val="A4A3A4"/>
          </p15:clr>
        </p15:guide>
        <p15:guide id="10" pos="3997">
          <p15:clr>
            <a:srgbClr val="A4A3A4"/>
          </p15:clr>
        </p15:guide>
        <p15:guide id="11" pos="3884">
          <p15:clr>
            <a:srgbClr val="A4A3A4"/>
          </p15:clr>
        </p15:guide>
        <p15:guide id="12" pos="32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4E4E4"/>
    <a:srgbClr val="DDDDDD"/>
    <a:srgbClr val="FDFDFD"/>
    <a:srgbClr val="DAEDFD"/>
    <a:srgbClr val="48AE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70" autoAdjust="0"/>
  </p:normalViewPr>
  <p:slideViewPr>
    <p:cSldViewPr>
      <p:cViewPr varScale="1">
        <p:scale>
          <a:sx n="117" d="100"/>
          <a:sy n="117" d="100"/>
        </p:scale>
        <p:origin x="618" y="96"/>
      </p:cViewPr>
      <p:guideLst>
        <p:guide orient="horz" pos="2160"/>
        <p:guide orient="horz" pos="214"/>
        <p:guide orient="horz" pos="618"/>
        <p:guide orient="horz" pos="754"/>
        <p:guide orient="horz" pos="3974"/>
        <p:guide pos="3120"/>
        <p:guide pos="6019"/>
        <p:guide pos="221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50"/>
    </p:cViewPr>
  </p:sorterViewPr>
  <p:notesViewPr>
    <p:cSldViewPr>
      <p:cViewPr varScale="1">
        <p:scale>
          <a:sx n="104" d="100"/>
          <a:sy n="104" d="100"/>
        </p:scale>
        <p:origin x="2946" y="126"/>
      </p:cViewPr>
      <p:guideLst>
        <p:guide orient="horz" pos="3084"/>
        <p:guide orient="horz" pos="5397"/>
        <p:guide orient="horz" pos="544"/>
        <p:guide orient="horz" pos="453"/>
        <p:guide orient="horz" pos="3198"/>
        <p:guide orient="horz" pos="1192"/>
        <p:guide orient="horz"/>
        <p:guide pos="436"/>
        <p:guide pos="2161"/>
        <p:guide pos="3997"/>
        <p:guide pos="3884"/>
        <p:guide pos="323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512763" y="863600"/>
            <a:ext cx="5832475" cy="4038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2150" y="5076825"/>
            <a:ext cx="5473700" cy="349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endParaRPr lang="en-US" altLang="ko-KR" noProof="0"/>
          </a:p>
        </p:txBody>
      </p:sp>
      <p:sp>
        <p:nvSpPr>
          <p:cNvPr id="4100" name="Line 38"/>
          <p:cNvSpPr>
            <a:spLocks noChangeShapeType="1"/>
          </p:cNvSpPr>
          <p:nvPr/>
        </p:nvSpPr>
        <p:spPr bwMode="auto">
          <a:xfrm>
            <a:off x="512763" y="719138"/>
            <a:ext cx="5832475" cy="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4341" name="Text Box 39"/>
          <p:cNvSpPr txBox="1">
            <a:spLocks noChangeArrowheads="1"/>
          </p:cNvSpPr>
          <p:nvPr/>
        </p:nvSpPr>
        <p:spPr bwMode="auto">
          <a:xfrm>
            <a:off x="441325" y="515938"/>
            <a:ext cx="3424238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ko-KR" altLang="en-US" sz="900" dirty="0" err="1">
                <a:latin typeface="Univers Condensed" pitchFamily="34" charset="0"/>
                <a:ea typeface="맑은 고딕" panose="020B0503020000020004" pitchFamily="50" charset="-127"/>
              </a:rPr>
              <a:t>과정명</a:t>
            </a:r>
            <a:r>
              <a:rPr lang="en-US" altLang="ko-KR" sz="900" dirty="0">
                <a:latin typeface="Univers Condensed" pitchFamily="34" charset="0"/>
                <a:ea typeface="맑은 고딕" panose="020B0503020000020004" pitchFamily="50" charset="-127"/>
              </a:rPr>
              <a:t>......</a:t>
            </a:r>
          </a:p>
        </p:txBody>
      </p:sp>
      <p:sp>
        <p:nvSpPr>
          <p:cNvPr id="3112" name="Rectangle 40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944688" y="8567738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025C4DC-F23E-4392-86C6-C88720889732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  <p:grpSp>
        <p:nvGrpSpPr>
          <p:cNvPr id="4103" name="Group 60"/>
          <p:cNvGrpSpPr>
            <a:grpSpLocks/>
          </p:cNvGrpSpPr>
          <p:nvPr/>
        </p:nvGrpSpPr>
        <p:grpSpPr bwMode="auto">
          <a:xfrm>
            <a:off x="760413" y="5240338"/>
            <a:ext cx="5241925" cy="2984500"/>
            <a:chOff x="479" y="3301"/>
            <a:chExt cx="3302" cy="1880"/>
          </a:xfrm>
        </p:grpSpPr>
        <p:pic>
          <p:nvPicPr>
            <p:cNvPr id="4104" name="Picture 11" descr="21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" y="3301"/>
              <a:ext cx="488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105" name="Group 59"/>
            <p:cNvGrpSpPr>
              <a:grpSpLocks/>
            </p:cNvGrpSpPr>
            <p:nvPr/>
          </p:nvGrpSpPr>
          <p:grpSpPr bwMode="auto">
            <a:xfrm>
              <a:off x="527" y="3454"/>
              <a:ext cx="3254" cy="1727"/>
              <a:chOff x="589" y="3454"/>
              <a:chExt cx="3254" cy="1727"/>
            </a:xfrm>
          </p:grpSpPr>
          <p:sp>
            <p:nvSpPr>
              <p:cNvPr id="4106" name="Line 12"/>
              <p:cNvSpPr>
                <a:spLocks noChangeShapeType="1"/>
              </p:cNvSpPr>
              <p:nvPr/>
            </p:nvSpPr>
            <p:spPr bwMode="auto">
              <a:xfrm>
                <a:off x="1092" y="3454"/>
                <a:ext cx="2751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07" name="Line 13"/>
              <p:cNvSpPr>
                <a:spLocks noChangeShapeType="1"/>
              </p:cNvSpPr>
              <p:nvPr/>
            </p:nvSpPr>
            <p:spPr bwMode="auto">
              <a:xfrm>
                <a:off x="589" y="3669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08" name="Line 14"/>
              <p:cNvSpPr>
                <a:spLocks noChangeShapeType="1"/>
              </p:cNvSpPr>
              <p:nvPr/>
            </p:nvSpPr>
            <p:spPr bwMode="auto">
              <a:xfrm>
                <a:off x="589" y="3886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09" name="Line 15"/>
              <p:cNvSpPr>
                <a:spLocks noChangeShapeType="1"/>
              </p:cNvSpPr>
              <p:nvPr/>
            </p:nvSpPr>
            <p:spPr bwMode="auto">
              <a:xfrm>
                <a:off x="589" y="4102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10" name="Line 16"/>
              <p:cNvSpPr>
                <a:spLocks noChangeShapeType="1"/>
              </p:cNvSpPr>
              <p:nvPr/>
            </p:nvSpPr>
            <p:spPr bwMode="auto">
              <a:xfrm>
                <a:off x="589" y="4317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11" name="Line 17"/>
              <p:cNvSpPr>
                <a:spLocks noChangeShapeType="1"/>
              </p:cNvSpPr>
              <p:nvPr/>
            </p:nvSpPr>
            <p:spPr bwMode="auto">
              <a:xfrm>
                <a:off x="589" y="4533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12" name="Line 18"/>
              <p:cNvSpPr>
                <a:spLocks noChangeShapeType="1"/>
              </p:cNvSpPr>
              <p:nvPr/>
            </p:nvSpPr>
            <p:spPr bwMode="auto">
              <a:xfrm>
                <a:off x="589" y="4749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13" name="Line 19"/>
              <p:cNvSpPr>
                <a:spLocks noChangeShapeType="1"/>
              </p:cNvSpPr>
              <p:nvPr/>
            </p:nvSpPr>
            <p:spPr bwMode="auto">
              <a:xfrm>
                <a:off x="589" y="4965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14" name="Line 20"/>
              <p:cNvSpPr>
                <a:spLocks noChangeShapeType="1"/>
              </p:cNvSpPr>
              <p:nvPr/>
            </p:nvSpPr>
            <p:spPr bwMode="auto">
              <a:xfrm>
                <a:off x="589" y="5181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notesStyle>
    <a:lvl1pPr marL="165100" indent="-165100" algn="l" rtl="0" eaLnBrk="0" fontAlgn="base" latinLnBrk="1" hangingPunct="0">
      <a:lnSpc>
        <a:spcPct val="120000"/>
      </a:lnSpc>
      <a:spcBef>
        <a:spcPct val="50000"/>
      </a:spcBef>
      <a:spcAft>
        <a:spcPct val="0"/>
      </a:spcAft>
      <a:buFont typeface="나눔고딕" pitchFamily="50" charset="-127"/>
      <a:buChar char="■"/>
      <a:defRPr kumimoji="1" sz="1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304800" indent="-138113" algn="l" rtl="0" eaLnBrk="0" fontAlgn="base" latinLnBrk="1" hangingPunct="0">
      <a:lnSpc>
        <a:spcPct val="120000"/>
      </a:lnSpc>
      <a:spcBef>
        <a:spcPct val="50000"/>
      </a:spcBef>
      <a:spcAft>
        <a:spcPct val="0"/>
      </a:spcAft>
      <a:buFont typeface="Wingdings" panose="05000000000000000000" pitchFamily="2" charset="2"/>
      <a:buChar char="§"/>
      <a:defRPr kumimoji="1" sz="9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419100" indent="-112713" algn="l" rtl="0" eaLnBrk="0" fontAlgn="base" latinLnBrk="1" hangingPunct="0">
      <a:lnSpc>
        <a:spcPct val="120000"/>
      </a:lnSpc>
      <a:spcBef>
        <a:spcPct val="50000"/>
      </a:spcBef>
      <a:spcAft>
        <a:spcPct val="0"/>
      </a:spcAft>
      <a:buFont typeface="맑은 고딕" panose="020B0503020000020004" pitchFamily="50" charset="-127"/>
      <a:buChar char="–"/>
      <a:defRPr kumimoji="1" sz="9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600200" indent="-228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2057400" indent="-228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025C4DC-F23E-4392-86C6-C88720889732}" type="slidenum">
              <a:rPr lang="en-US" altLang="ko-KR" smtClean="0"/>
              <a:pPr>
                <a:defRPr/>
              </a:pPr>
              <a:t>2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11124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속간지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7F1A589F-322F-4FBB-A7F4-8E4171BE5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472" y="764704"/>
            <a:ext cx="9505056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18B47862-13CA-4396-9130-880F20C85D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2560" y="3886200"/>
            <a:ext cx="7920880" cy="1752600"/>
          </a:xfrm>
        </p:spPr>
        <p:txBody>
          <a:bodyPr anchor="ctr"/>
          <a:lstStyle>
            <a:lvl1pPr marL="0" indent="0" algn="ctr">
              <a:buFont typeface="+mj-lt"/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839443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908024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83666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63538" y="1192213"/>
            <a:ext cx="4519612" cy="511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192213"/>
            <a:ext cx="4519613" cy="511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976062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30888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158785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4017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384660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411026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949041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254875" y="339725"/>
            <a:ext cx="2300288" cy="59690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50838" y="339725"/>
            <a:ext cx="6751637" cy="59690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890426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6" descr="140917템플릿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960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72480" y="2564904"/>
            <a:ext cx="9361040" cy="1575048"/>
          </a:xfrm>
        </p:spPr>
        <p:txBody>
          <a:bodyPr lIns="91429" tIns="45715" rIns="91429" bIns="45715" anchor="ctr"/>
          <a:lstStyle>
            <a:lvl1pPr algn="ctr">
              <a:defRPr sz="4000">
                <a:solidFill>
                  <a:srgbClr val="003366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035716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892056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59279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821988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065495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87252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2418780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9432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858026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989611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9756743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18543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140917템플릿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6075" y="115888"/>
            <a:ext cx="8915400" cy="60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7188" y="1160463"/>
            <a:ext cx="9191625" cy="5116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32" r:id="rId12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나눔고딕" pitchFamily="50" charset="-127"/>
          <a:ea typeface="나눔고딕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나눔고딕" pitchFamily="50" charset="-127"/>
          <a:ea typeface="나눔고딕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나눔고딕" pitchFamily="50" charset="-127"/>
          <a:ea typeface="나눔고딕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나눔고딕" pitchFamily="50" charset="-127"/>
          <a:ea typeface="나눔고딕" pitchFamily="50" charset="-127"/>
        </a:defRPr>
      </a:lvl9pPr>
    </p:titleStyle>
    <p:bodyStyle>
      <a:lvl1pPr marL="258763" indent="-258763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SzPct val="80000"/>
        <a:buFont typeface="Wingdings" panose="05000000000000000000" pitchFamily="2" charset="2"/>
        <a:buBlip>
          <a:blip r:embed="rId15"/>
        </a:buBlip>
        <a:defRPr kumimoji="1" sz="20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498475" indent="-238125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Font typeface="Wingdings" panose="05000000000000000000" pitchFamily="2" charset="2"/>
        <a:buChar char="§"/>
        <a:defRPr kumimoji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marL="763588" indent="-263525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 kumimoji="1" sz="16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marL="1014413" indent="-239713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soliditylang.org/en/latest/" TargetMode="External"/><Relationship Id="rId3" Type="http://schemas.openxmlformats.org/officeDocument/2006/relationships/hyperlink" Target="https://ethereum.org/en/developers/" TargetMode="External"/><Relationship Id="rId7" Type="http://schemas.openxmlformats.org/officeDocument/2006/relationships/hyperlink" Target="https://ethereum.org/en/developers/local-environment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thereum.org/en/developers/learning-tools/" TargetMode="External"/><Relationship Id="rId11" Type="http://schemas.openxmlformats.org/officeDocument/2006/relationships/hyperlink" Target="https://hardhat.org/tutorial" TargetMode="External"/><Relationship Id="rId5" Type="http://schemas.openxmlformats.org/officeDocument/2006/relationships/hyperlink" Target="https://ethereum.org/en/developers/tutorials/" TargetMode="External"/><Relationship Id="rId10" Type="http://schemas.openxmlformats.org/officeDocument/2006/relationships/hyperlink" Target="https://github.com/OpenZeppelin/openzeppelin-contracts" TargetMode="External"/><Relationship Id="rId4" Type="http://schemas.openxmlformats.org/officeDocument/2006/relationships/hyperlink" Target="https://ethereum.org/en/developers/docs/" TargetMode="External"/><Relationship Id="rId9" Type="http://schemas.openxmlformats.org/officeDocument/2006/relationships/hyperlink" Target="https://solidity-by-example.org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3-10. (Lab) </a:t>
            </a:r>
            <a:r>
              <a:rPr lang="ko-KR" altLang="en-US" dirty="0"/>
              <a:t>예외</a:t>
            </a:r>
            <a:r>
              <a:rPr lang="en-US" altLang="ko-KR" dirty="0"/>
              <a:t> </a:t>
            </a:r>
            <a:r>
              <a:rPr lang="ko-KR" altLang="en-US" dirty="0"/>
              <a:t>처리</a:t>
            </a:r>
            <a:r>
              <a:rPr lang="en-US" altLang="ko-KR" dirty="0"/>
              <a:t>, </a:t>
            </a:r>
            <a:r>
              <a:rPr lang="ko-KR" altLang="en-US" dirty="0"/>
              <a:t>라이브러리</a:t>
            </a:r>
            <a:r>
              <a:rPr lang="en-US" altLang="ko-KR"/>
              <a:t>, </a:t>
            </a:r>
            <a:r>
              <a:rPr lang="ko-KR" altLang="en-US"/>
              <a:t>상속</a:t>
            </a:r>
            <a:endParaRPr lang="ko-KR" altLang="en-US" dirty="0"/>
          </a:p>
        </p:txBody>
      </p:sp>
      <p:sp>
        <p:nvSpPr>
          <p:cNvPr id="5123" name="부제목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ko-KR" altLang="en-US" dirty="0"/>
              <a:t>한양대학교 </a:t>
            </a:r>
            <a:r>
              <a:rPr lang="ko-KR" altLang="en-US" dirty="0" err="1"/>
              <a:t>컴퓨터소프트웨어학부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 algn="ctr">
              <a:buNone/>
            </a:pPr>
            <a:r>
              <a:rPr lang="ko-KR" altLang="en-US" dirty="0"/>
              <a:t>유민수 교수</a:t>
            </a:r>
            <a:endParaRPr lang="en-US" altLang="ko-K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6F952F-F54D-421E-A814-9CE4AF921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4A4792-48EF-4AAF-B67C-9F5298512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lphaUcPeriod"/>
            </a:pPr>
            <a:r>
              <a:rPr lang="ko-KR" altLang="en-US" dirty="0"/>
              <a:t>예외 처리 </a:t>
            </a:r>
            <a:endParaRPr lang="en-US" altLang="ko-KR" dirty="0"/>
          </a:p>
          <a:p>
            <a:pPr marL="457200" indent="-457200">
              <a:buFont typeface="+mj-lt"/>
              <a:buAutoNum type="alphaUcPeriod"/>
            </a:pPr>
            <a:r>
              <a:rPr lang="ko-KR" altLang="en-US" dirty="0"/>
              <a:t>라이브러리</a:t>
            </a:r>
            <a:endParaRPr lang="en-US" altLang="ko-KR" dirty="0"/>
          </a:p>
          <a:p>
            <a:pPr marL="457200" indent="-457200">
              <a:buFont typeface="+mj-lt"/>
              <a:buAutoNum type="alphaUcPeriod"/>
            </a:pPr>
            <a:r>
              <a:rPr lang="ko-KR" altLang="en-US" dirty="0"/>
              <a:t>상속</a:t>
            </a:r>
            <a:endParaRPr lang="en-US" altLang="ko-KR" dirty="0"/>
          </a:p>
          <a:p>
            <a:pPr marL="457200" indent="-457200">
              <a:buFont typeface="+mj-lt"/>
              <a:buAutoNum type="alphaUcPeriod"/>
            </a:pPr>
            <a:r>
              <a:rPr lang="en-US" altLang="ko-KR" dirty="0"/>
              <a:t>(</a:t>
            </a:r>
            <a:r>
              <a:rPr lang="ko-KR" altLang="en-US" dirty="0"/>
              <a:t>실습</a:t>
            </a:r>
            <a:r>
              <a:rPr lang="en-US" altLang="ko-KR" dirty="0"/>
              <a:t>) </a:t>
            </a:r>
            <a:r>
              <a:rPr lang="ko-KR" altLang="en-US" dirty="0"/>
              <a:t>예외 처리 및 </a:t>
            </a:r>
            <a:r>
              <a:rPr lang="en-US" altLang="ko-KR" dirty="0"/>
              <a:t>ERC20 </a:t>
            </a:r>
            <a:r>
              <a:rPr lang="ko-KR" altLang="en-US" dirty="0"/>
              <a:t>토큰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참고자료</a:t>
            </a:r>
            <a:endParaRPr lang="en-US" altLang="ko-KR" dirty="0"/>
          </a:p>
          <a:p>
            <a:pPr lvl="1"/>
            <a:r>
              <a:rPr lang="en-US" altLang="ko-KR" dirty="0"/>
              <a:t>Ethereum Developer Resources: </a:t>
            </a:r>
            <a:r>
              <a:rPr lang="en-US" altLang="ko-KR" dirty="0">
                <a:hlinkClick r:id="rId3"/>
              </a:rPr>
              <a:t>https://ethereum.org/en/developers/</a:t>
            </a:r>
            <a:endParaRPr lang="en-US" altLang="ko-KR" dirty="0"/>
          </a:p>
          <a:p>
            <a:pPr lvl="2"/>
            <a:r>
              <a:rPr lang="en-US" altLang="ko-KR" dirty="0"/>
              <a:t>Ethereum Developer Documentation: </a:t>
            </a:r>
            <a:r>
              <a:rPr lang="en-US" altLang="ko-KR" dirty="0">
                <a:hlinkClick r:id="rId4"/>
              </a:rPr>
              <a:t>https://ethereum.org/en/developers/docs/</a:t>
            </a:r>
            <a:endParaRPr lang="en-US" altLang="ko-KR" dirty="0"/>
          </a:p>
          <a:p>
            <a:pPr lvl="2"/>
            <a:r>
              <a:rPr lang="en-US" altLang="ko-KR" dirty="0"/>
              <a:t>Ethereum Development Tutorials: </a:t>
            </a:r>
            <a:r>
              <a:rPr lang="en-US" altLang="ko-KR" dirty="0">
                <a:hlinkClick r:id="rId5"/>
              </a:rPr>
              <a:t>https://ethereum.org/en/developers/tutorials/</a:t>
            </a:r>
            <a:endParaRPr lang="en-US" altLang="ko-KR" dirty="0"/>
          </a:p>
          <a:p>
            <a:pPr lvl="2"/>
            <a:r>
              <a:rPr lang="en-US" altLang="ko-KR" dirty="0"/>
              <a:t>Learn by Coding: </a:t>
            </a:r>
            <a:r>
              <a:rPr lang="en-US" altLang="ko-KR" dirty="0">
                <a:hlinkClick r:id="rId6"/>
              </a:rPr>
              <a:t>https://ethereum.org/en/developers/learning-tools/</a:t>
            </a:r>
            <a:endParaRPr lang="en-US" altLang="ko-KR" dirty="0"/>
          </a:p>
          <a:p>
            <a:pPr lvl="2"/>
            <a:r>
              <a:rPr lang="en-US" altLang="ko-KR" dirty="0"/>
              <a:t>Local Environment: </a:t>
            </a:r>
            <a:r>
              <a:rPr lang="en-US" altLang="ko-KR" dirty="0">
                <a:hlinkClick r:id="rId7"/>
              </a:rPr>
              <a:t>https://ethereum.org/en/developers/local-environment/</a:t>
            </a:r>
            <a:endParaRPr lang="en-US" altLang="ko-KR" dirty="0"/>
          </a:p>
          <a:p>
            <a:pPr lvl="1"/>
            <a:r>
              <a:rPr lang="en-US" altLang="ko-KR" dirty="0"/>
              <a:t>Solidity Language: </a:t>
            </a:r>
            <a:r>
              <a:rPr lang="en-US" altLang="ko-KR" dirty="0">
                <a:hlinkClick r:id="rId8"/>
              </a:rPr>
              <a:t>https://docs.soliditylang.org/en/latest/</a:t>
            </a:r>
            <a:endParaRPr lang="en-US" altLang="ko-KR" dirty="0"/>
          </a:p>
          <a:p>
            <a:pPr lvl="2"/>
            <a:r>
              <a:rPr lang="en-US" altLang="ko-KR" dirty="0">
                <a:hlinkClick r:id="rId9"/>
              </a:rPr>
              <a:t>https://solidity-by-example.org/</a:t>
            </a:r>
            <a:endParaRPr lang="en-US" altLang="ko-KR" dirty="0"/>
          </a:p>
          <a:p>
            <a:pPr lvl="2"/>
            <a:r>
              <a:rPr lang="en-US" altLang="ko-KR" dirty="0">
                <a:hlinkClick r:id="rId10"/>
              </a:rPr>
              <a:t>https://github.com/OpenZeppelin/openzeppelin-contracts</a:t>
            </a:r>
            <a:endParaRPr lang="en-US" altLang="ko-KR" dirty="0"/>
          </a:p>
          <a:p>
            <a:pPr lvl="1"/>
            <a:r>
              <a:rPr lang="en-US" altLang="ko-KR" dirty="0"/>
              <a:t>Hardhat Tutorial: </a:t>
            </a:r>
            <a:r>
              <a:rPr lang="en-US" altLang="ko-KR" dirty="0">
                <a:hlinkClick r:id="rId11"/>
              </a:rPr>
              <a:t>https://hardhat.org/tutorial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7166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3"/>
          <p:cNvSpPr>
            <a:spLocks noGrp="1"/>
          </p:cNvSpPr>
          <p:nvPr>
            <p:ph type="ctrTitle"/>
          </p:nvPr>
        </p:nvSpPr>
        <p:spPr>
          <a:xfrm>
            <a:off x="273050" y="2565400"/>
            <a:ext cx="9359900" cy="1574800"/>
          </a:xfrm>
        </p:spPr>
        <p:txBody>
          <a:bodyPr/>
          <a:lstStyle/>
          <a:p>
            <a:r>
              <a:rPr lang="en-US" altLang="ko-KR" dirty="0"/>
              <a:t>A.</a:t>
            </a:r>
            <a:r>
              <a:rPr lang="ko-KR" altLang="en-US" dirty="0"/>
              <a:t> 예외 처리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30931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 처리 및 상태 복원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Solidity</a:t>
            </a:r>
            <a:r>
              <a:rPr lang="ko-KR" altLang="en-US" dirty="0"/>
              <a:t>에서는 에러 발생시 원래 상태를 복원</a:t>
            </a:r>
            <a:endParaRPr lang="en-US" altLang="ko-KR" dirty="0"/>
          </a:p>
          <a:p>
            <a:pPr lvl="1"/>
            <a:r>
              <a:rPr lang="ko-KR" altLang="en-US" dirty="0"/>
              <a:t>에러 발생 시점까지 만들어진 상태 변화를 취소하고 원래의 상태</a:t>
            </a:r>
            <a:r>
              <a:rPr lang="en-US" altLang="ko-KR" dirty="0"/>
              <a:t>(</a:t>
            </a:r>
            <a:r>
              <a:rPr lang="ko-KR" altLang="en-US" dirty="0"/>
              <a:t>트랜잭션 실행 직전</a:t>
            </a:r>
            <a:r>
              <a:rPr lang="en-US" altLang="ko-KR" dirty="0"/>
              <a:t>)</a:t>
            </a:r>
            <a:r>
              <a:rPr lang="ko-KR" altLang="en-US" dirty="0"/>
              <a:t>로 복원</a:t>
            </a:r>
            <a:endParaRPr lang="en-US" altLang="ko-KR" dirty="0"/>
          </a:p>
          <a:p>
            <a:pPr lvl="1"/>
            <a:r>
              <a:rPr lang="en-US" altLang="ko-KR" dirty="0"/>
              <a:t>try/catch </a:t>
            </a:r>
            <a:r>
              <a:rPr lang="ko-KR" altLang="en-US" dirty="0"/>
              <a:t>방법을 통해 별도로 대응하지 않으면 상위 함수로 에러가 연속적으로 전파</a:t>
            </a:r>
            <a:r>
              <a:rPr lang="en-US" altLang="ko-KR" dirty="0"/>
              <a:t>(bubble up)</a:t>
            </a:r>
          </a:p>
          <a:p>
            <a:pPr lvl="2"/>
            <a:r>
              <a:rPr lang="ko-KR" altLang="en-US" dirty="0"/>
              <a:t>그러나</a:t>
            </a:r>
            <a:r>
              <a:rPr lang="en-US" altLang="ko-KR" dirty="0"/>
              <a:t> send, call, </a:t>
            </a:r>
            <a:r>
              <a:rPr lang="en-US" altLang="ko-KR" dirty="0" err="1"/>
              <a:t>delegatecall</a:t>
            </a:r>
            <a:r>
              <a:rPr lang="en-US" altLang="ko-KR" dirty="0"/>
              <a:t>, </a:t>
            </a:r>
            <a:r>
              <a:rPr lang="en-US" altLang="ko-KR" dirty="0" err="1"/>
              <a:t>staticcall</a:t>
            </a:r>
            <a:r>
              <a:rPr lang="ko-KR" altLang="en-US" dirty="0"/>
              <a:t>은 예외적으로 에러를 전파하지 않고 </a:t>
            </a:r>
            <a:r>
              <a:rPr lang="en-US" altLang="ko-KR" dirty="0"/>
              <a:t>false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리턴하고 종료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프로그래머에 의한 예외</a:t>
            </a:r>
            <a:r>
              <a:rPr lang="en-US" altLang="ko-KR" dirty="0"/>
              <a:t> </a:t>
            </a:r>
            <a:r>
              <a:rPr lang="ko-KR" altLang="en-US" dirty="0"/>
              <a:t>처리</a:t>
            </a:r>
            <a:r>
              <a:rPr lang="en-US" altLang="ko-KR" dirty="0"/>
              <a:t>: assert(X) </a:t>
            </a:r>
            <a:r>
              <a:rPr lang="ko-KR" altLang="en-US" dirty="0"/>
              <a:t>및 </a:t>
            </a:r>
            <a:r>
              <a:rPr lang="en-US" altLang="ko-KR" dirty="0"/>
              <a:t>require(X)</a:t>
            </a:r>
          </a:p>
          <a:p>
            <a:pPr lvl="1"/>
            <a:r>
              <a:rPr lang="ko-KR" altLang="en-US" dirty="0"/>
              <a:t>조건 </a:t>
            </a:r>
            <a:r>
              <a:rPr lang="en-US" altLang="ko-KR" dirty="0"/>
              <a:t>X</a:t>
            </a:r>
            <a:r>
              <a:rPr lang="ko-KR" altLang="en-US" dirty="0"/>
              <a:t>를 검사하여 </a:t>
            </a:r>
            <a:r>
              <a:rPr lang="en-US" altLang="ko-KR" dirty="0"/>
              <a:t>false </a:t>
            </a:r>
            <a:r>
              <a:rPr lang="ko-KR" altLang="en-US" dirty="0"/>
              <a:t>발생시 현재 호출된 함수까지 진행된 상태 변화를 모두 원상으로 복원</a:t>
            </a:r>
            <a:endParaRPr lang="en-US" altLang="ko-KR" dirty="0"/>
          </a:p>
          <a:p>
            <a:pPr lvl="1"/>
            <a:r>
              <a:rPr lang="en-US" altLang="ko-KR" dirty="0"/>
              <a:t>0.6.0 </a:t>
            </a:r>
            <a:r>
              <a:rPr lang="ko-KR" altLang="en-US" dirty="0"/>
              <a:t>버전부터</a:t>
            </a:r>
            <a:r>
              <a:rPr lang="en-US" altLang="ko-KR" dirty="0"/>
              <a:t> try/catch </a:t>
            </a:r>
            <a:r>
              <a:rPr lang="ko-KR" altLang="en-US" dirty="0"/>
              <a:t>구문 지원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프로그래머에 의한 상태 복원</a:t>
            </a:r>
            <a:r>
              <a:rPr lang="en-US" altLang="ko-KR" dirty="0"/>
              <a:t>: revert </a:t>
            </a:r>
            <a:r>
              <a:rPr lang="ko-KR" altLang="en-US" dirty="0"/>
              <a:t>및 </a:t>
            </a:r>
            <a:r>
              <a:rPr lang="en-US" altLang="ko-KR" dirty="0"/>
              <a:t>revert()</a:t>
            </a:r>
          </a:p>
          <a:p>
            <a:pPr lvl="1"/>
            <a:r>
              <a:rPr lang="ko-KR" altLang="en-US" dirty="0"/>
              <a:t>강제로 원래 상태를 복원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4236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assert </a:t>
            </a:r>
            <a:r>
              <a:rPr lang="ko-KR" altLang="en-US" dirty="0"/>
              <a:t>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ko-KR" altLang="en-US" dirty="0"/>
              <a:t>주요 용도</a:t>
            </a:r>
            <a:endParaRPr lang="en-US" altLang="ko-KR" dirty="0"/>
          </a:p>
          <a:p>
            <a:pPr lvl="1"/>
            <a:r>
              <a:rPr lang="ko-KR" altLang="en-US" dirty="0"/>
              <a:t>내부 에러</a:t>
            </a:r>
            <a:r>
              <a:rPr lang="en-US" altLang="ko-KR" dirty="0"/>
              <a:t>(internal</a:t>
            </a:r>
            <a:r>
              <a:rPr lang="ko-KR" altLang="en-US" dirty="0"/>
              <a:t> </a:t>
            </a:r>
            <a:r>
              <a:rPr lang="en-US" altLang="ko-KR" dirty="0"/>
              <a:t>errors)</a:t>
            </a:r>
            <a:r>
              <a:rPr lang="ko-KR" altLang="en-US" dirty="0"/>
              <a:t> 및 불변성질</a:t>
            </a:r>
            <a:r>
              <a:rPr lang="en-US" altLang="ko-KR" dirty="0"/>
              <a:t>(invariants)</a:t>
            </a:r>
            <a:r>
              <a:rPr lang="ko-KR" altLang="en-US" dirty="0"/>
              <a:t> 검사 등에 적용 </a:t>
            </a:r>
            <a:r>
              <a:rPr lang="en-US" altLang="ko-KR" dirty="0"/>
              <a:t>(</a:t>
            </a:r>
            <a:r>
              <a:rPr lang="ko-KR" altLang="en-US" dirty="0"/>
              <a:t>주로 프로그램 버그를 찾기 위한 용도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검사</a:t>
            </a:r>
            <a:r>
              <a:rPr lang="en-US" altLang="ko-KR" dirty="0"/>
              <a:t> </a:t>
            </a:r>
            <a:r>
              <a:rPr lang="ko-KR" altLang="en-US" dirty="0"/>
              <a:t>결과가 </a:t>
            </a:r>
            <a:r>
              <a:rPr lang="en-US" altLang="ko-KR" dirty="0"/>
              <a:t>false</a:t>
            </a:r>
            <a:r>
              <a:rPr lang="ko-KR" altLang="en-US" dirty="0"/>
              <a:t>이면 </a:t>
            </a:r>
            <a:r>
              <a:rPr lang="en-US" altLang="ko-KR" dirty="0"/>
              <a:t>Panic(uint256) </a:t>
            </a:r>
            <a:r>
              <a:rPr lang="ko-KR" altLang="en-US" dirty="0"/>
              <a:t>예외를 발생 </a:t>
            </a:r>
            <a:r>
              <a:rPr lang="en-US" altLang="ko-KR" dirty="0"/>
              <a:t>(</a:t>
            </a:r>
            <a:r>
              <a:rPr lang="ko-KR" altLang="en-US" dirty="0"/>
              <a:t>컴파일러에서도 동일한 예외를 발생시키기도 함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형식</a:t>
            </a:r>
            <a:endParaRPr lang="en-US" altLang="ko-KR" dirty="0"/>
          </a:p>
          <a:p>
            <a:pPr lvl="1"/>
            <a:r>
              <a:rPr lang="en-US" altLang="ko-KR" dirty="0"/>
              <a:t>assert(bool condition);</a:t>
            </a:r>
          </a:p>
          <a:p>
            <a:endParaRPr lang="en-US" altLang="ko-KR" dirty="0"/>
          </a:p>
          <a:p>
            <a:r>
              <a:rPr lang="en-US" altLang="ko-KR" dirty="0"/>
              <a:t>Error code</a:t>
            </a:r>
          </a:p>
          <a:p>
            <a:pPr lvl="1"/>
            <a:r>
              <a:rPr lang="en-US" altLang="ko-KR" dirty="0"/>
              <a:t>0x00: Used for generic compiler inserted panics</a:t>
            </a:r>
          </a:p>
          <a:p>
            <a:pPr lvl="1"/>
            <a:r>
              <a:rPr lang="en-US" altLang="ko-KR" dirty="0"/>
              <a:t>0x01: If you call assert with an argument that evaluates to false</a:t>
            </a:r>
          </a:p>
          <a:p>
            <a:pPr lvl="1"/>
            <a:r>
              <a:rPr lang="en-US" altLang="ko-KR" dirty="0"/>
              <a:t>0x11: If an arithmetic operation results in underflow or overflow outside of an unchecked { ... } block</a:t>
            </a:r>
          </a:p>
          <a:p>
            <a:pPr lvl="1"/>
            <a:r>
              <a:rPr lang="en-US" altLang="ko-KR" dirty="0"/>
              <a:t>0x12; If you divide or modulo by zero (e.g. 5 / 0 or 23 % 0)</a:t>
            </a:r>
          </a:p>
          <a:p>
            <a:pPr lvl="1"/>
            <a:r>
              <a:rPr lang="en-US" altLang="ko-KR" dirty="0"/>
              <a:t>0x21: If you convert a value that is too big or negative into an </a:t>
            </a:r>
            <a:r>
              <a:rPr lang="en-US" altLang="ko-KR" dirty="0" err="1"/>
              <a:t>enum</a:t>
            </a:r>
            <a:r>
              <a:rPr lang="en-US" altLang="ko-KR" dirty="0"/>
              <a:t> type</a:t>
            </a:r>
          </a:p>
          <a:p>
            <a:pPr lvl="1"/>
            <a:r>
              <a:rPr lang="en-US" altLang="ko-KR" dirty="0"/>
              <a:t>0x22, 0x31, 0x32, 0x41, 0x51 </a:t>
            </a:r>
            <a:r>
              <a:rPr lang="ko-KR" altLang="en-US" dirty="0"/>
              <a:t>등 </a:t>
            </a:r>
            <a:r>
              <a:rPr lang="en-US" altLang="ko-KR" dirty="0"/>
              <a:t>…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3274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DF3E0A-DD7F-4724-BE9C-5C8363BB6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require </a:t>
            </a:r>
            <a:r>
              <a:rPr lang="ko-KR" altLang="en-US" dirty="0"/>
              <a:t>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733D1B-D173-4961-B4A3-017B48902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주요 용도</a:t>
            </a:r>
            <a:endParaRPr lang="en-US" altLang="ko-KR" dirty="0"/>
          </a:p>
          <a:p>
            <a:pPr lvl="1"/>
            <a:r>
              <a:rPr lang="ko-KR" altLang="en-US" dirty="0"/>
              <a:t>입력 파라미터 또는 </a:t>
            </a:r>
            <a:r>
              <a:rPr lang="ko-KR" altLang="en-US" dirty="0" err="1"/>
              <a:t>출력값</a:t>
            </a:r>
            <a:r>
              <a:rPr lang="ko-KR" altLang="en-US" dirty="0"/>
              <a:t> 조건 검사 등에 적용</a:t>
            </a:r>
            <a:endParaRPr lang="en-US" altLang="ko-KR" dirty="0"/>
          </a:p>
          <a:p>
            <a:pPr lvl="1"/>
            <a:r>
              <a:rPr lang="ko-KR" altLang="en-US" dirty="0"/>
              <a:t>검사</a:t>
            </a:r>
            <a:r>
              <a:rPr lang="en-US" altLang="ko-KR" dirty="0"/>
              <a:t> </a:t>
            </a:r>
            <a:r>
              <a:rPr lang="ko-KR" altLang="en-US" dirty="0"/>
              <a:t>결과가 </a:t>
            </a:r>
            <a:r>
              <a:rPr lang="en-US" altLang="ko-KR" dirty="0"/>
              <a:t>false</a:t>
            </a:r>
            <a:r>
              <a:rPr lang="ko-KR" altLang="en-US" dirty="0"/>
              <a:t>이면 </a:t>
            </a:r>
            <a:r>
              <a:rPr lang="en-US" altLang="ko-KR" dirty="0"/>
              <a:t>Error(string) </a:t>
            </a:r>
            <a:r>
              <a:rPr lang="ko-KR" altLang="en-US" dirty="0"/>
              <a:t>예외를 발생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세</a:t>
            </a:r>
            <a:r>
              <a:rPr lang="en-US" altLang="ko-KR" dirty="0"/>
              <a:t> </a:t>
            </a:r>
            <a:r>
              <a:rPr lang="ko-KR" altLang="en-US" dirty="0"/>
              <a:t>가지 형식</a:t>
            </a:r>
            <a:endParaRPr lang="en-US" altLang="ko-KR" dirty="0"/>
          </a:p>
          <a:p>
            <a:pPr lvl="1"/>
            <a:r>
              <a:rPr lang="en-US" altLang="ko-KR" dirty="0"/>
              <a:t>require(bool); 		// </a:t>
            </a:r>
            <a:r>
              <a:rPr lang="ko-KR" altLang="en-US" dirty="0"/>
              <a:t>상태 복원</a:t>
            </a:r>
            <a:endParaRPr lang="en-US" altLang="ko-KR" dirty="0"/>
          </a:p>
          <a:p>
            <a:pPr lvl="1"/>
            <a:r>
              <a:rPr lang="en-US" altLang="ko-KR" dirty="0"/>
              <a:t>require(bool, string); 		// </a:t>
            </a:r>
            <a:r>
              <a:rPr lang="ko-KR" altLang="en-US" dirty="0"/>
              <a:t>상태 복원 및 </a:t>
            </a:r>
            <a:r>
              <a:rPr lang="en-US" altLang="ko-KR" dirty="0"/>
              <a:t>Error(string) </a:t>
            </a:r>
            <a:r>
              <a:rPr lang="ko-KR" altLang="en-US" dirty="0"/>
              <a:t>전달</a:t>
            </a:r>
            <a:endParaRPr lang="en-US" altLang="ko-KR" dirty="0"/>
          </a:p>
          <a:p>
            <a:pPr lvl="1"/>
            <a:r>
              <a:rPr lang="en-US" altLang="ko-KR" dirty="0"/>
              <a:t>require(bool, error);		// </a:t>
            </a:r>
            <a:r>
              <a:rPr lang="ko-KR" altLang="en-US" dirty="0"/>
              <a:t>상태 복원 및 커스텀 에러 전달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06445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4102CE-9190-4D01-8BE9-FDCEF7ECB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revert</a:t>
            </a:r>
            <a:r>
              <a:rPr lang="ko-KR" altLang="en-US" dirty="0"/>
              <a:t> 문장 및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F3C153-F44E-41BA-B273-342C24F25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Custom</a:t>
            </a:r>
            <a:r>
              <a:rPr lang="ko-KR" altLang="en-US" dirty="0"/>
              <a:t> </a:t>
            </a:r>
            <a:r>
              <a:rPr lang="en-US" altLang="ko-KR" dirty="0"/>
              <a:t>error</a:t>
            </a:r>
            <a:r>
              <a:rPr lang="ko-KR" altLang="en-US" dirty="0"/>
              <a:t> 및 </a:t>
            </a:r>
            <a:r>
              <a:rPr lang="en-US" altLang="ko-KR" dirty="0"/>
              <a:t>revert </a:t>
            </a:r>
            <a:r>
              <a:rPr lang="ko-KR" altLang="en-US" dirty="0"/>
              <a:t>문장</a:t>
            </a:r>
            <a:endParaRPr lang="en-US" altLang="ko-KR" dirty="0"/>
          </a:p>
          <a:p>
            <a:pPr lvl="1"/>
            <a:r>
              <a:rPr lang="en-US" altLang="ko-KR" dirty="0"/>
              <a:t>Solidity v0.8.4</a:t>
            </a:r>
            <a:r>
              <a:rPr lang="ko-KR" altLang="en-US" dirty="0"/>
              <a:t>부터 아래와 같은 형태의 커스텀 에러 기능을 지원</a:t>
            </a:r>
            <a:endParaRPr lang="en-US" altLang="ko-KR" dirty="0"/>
          </a:p>
          <a:p>
            <a:pPr lvl="2"/>
            <a:r>
              <a:rPr lang="en-US" altLang="ko-KR" dirty="0"/>
              <a:t>error </a:t>
            </a:r>
            <a:r>
              <a:rPr lang="en-US" altLang="ko-KR" dirty="0" err="1"/>
              <a:t>NumberTooHigh</a:t>
            </a:r>
            <a:r>
              <a:rPr lang="en-US" altLang="ko-KR" dirty="0"/>
              <a:t>(uint256 from, uint256 number); 	// </a:t>
            </a:r>
            <a:r>
              <a:rPr lang="ko-KR" altLang="en-US" dirty="0"/>
              <a:t>파라미터 사용</a:t>
            </a:r>
            <a:endParaRPr lang="en-US" altLang="ko-KR" dirty="0"/>
          </a:p>
          <a:p>
            <a:pPr lvl="2"/>
            <a:r>
              <a:rPr lang="en-US" altLang="ko-KR" dirty="0"/>
              <a:t>error Unauthorized();					// </a:t>
            </a:r>
            <a:r>
              <a:rPr lang="ko-KR" altLang="en-US" dirty="0"/>
              <a:t>파라미터 미사용</a:t>
            </a:r>
            <a:endParaRPr lang="en-US" altLang="ko-KR" dirty="0"/>
          </a:p>
          <a:p>
            <a:pPr lvl="1"/>
            <a:r>
              <a:rPr lang="en-US" altLang="ko-KR" dirty="0"/>
              <a:t>revert </a:t>
            </a:r>
            <a:r>
              <a:rPr lang="ko-KR" altLang="en-US" dirty="0"/>
              <a:t>문장을 이용하여 아래와 같은</a:t>
            </a:r>
            <a:r>
              <a:rPr lang="en-US" altLang="ko-KR" dirty="0"/>
              <a:t> </a:t>
            </a:r>
            <a:r>
              <a:rPr lang="ko-KR" altLang="en-US" dirty="0"/>
              <a:t>형태로 커스텀 에러를 발생</a:t>
            </a:r>
            <a:endParaRPr lang="en-US" altLang="ko-KR" dirty="0"/>
          </a:p>
          <a:p>
            <a:pPr lvl="2"/>
            <a:r>
              <a:rPr lang="en-US" altLang="ko-KR" dirty="0"/>
              <a:t>revert </a:t>
            </a:r>
            <a:r>
              <a:rPr lang="en-US" altLang="ko-KR" dirty="0" err="1"/>
              <a:t>NumberTooHigh</a:t>
            </a:r>
            <a:r>
              <a:rPr lang="en-US" altLang="ko-KR" dirty="0"/>
              <a:t>(uint256 from, uint256 number);</a:t>
            </a:r>
          </a:p>
          <a:p>
            <a:pPr lvl="2"/>
            <a:r>
              <a:rPr lang="en-US" altLang="ko-KR" dirty="0"/>
              <a:t>revert Unauthorized();</a:t>
            </a:r>
          </a:p>
          <a:p>
            <a:pPr lvl="1"/>
            <a:r>
              <a:rPr lang="ko-KR" altLang="en-US" dirty="0"/>
              <a:t>커스텀 에러는</a:t>
            </a:r>
            <a:r>
              <a:rPr lang="en-US" altLang="ko-KR" dirty="0"/>
              <a:t> ethers.js </a:t>
            </a:r>
            <a:r>
              <a:rPr lang="ko-KR" altLang="en-US" dirty="0"/>
              <a:t>또는 </a:t>
            </a:r>
            <a:r>
              <a:rPr lang="en-US" altLang="ko-KR" dirty="0"/>
              <a:t>web3.js</a:t>
            </a:r>
            <a:r>
              <a:rPr lang="ko-KR" altLang="en-US" dirty="0"/>
              <a:t>를 활용하여 사용자</a:t>
            </a:r>
            <a:r>
              <a:rPr lang="en-US" altLang="ko-KR" dirty="0"/>
              <a:t> </a:t>
            </a:r>
            <a:r>
              <a:rPr lang="ko-KR" altLang="en-US" dirty="0"/>
              <a:t>또는 개발자에게 적절한 정보를 제공하는 것을 허용 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revert() </a:t>
            </a:r>
            <a:r>
              <a:rPr lang="ko-KR" altLang="en-US" dirty="0"/>
              <a:t>함수</a:t>
            </a:r>
            <a:endParaRPr lang="en-US" altLang="ko-KR" dirty="0"/>
          </a:p>
          <a:p>
            <a:pPr lvl="1"/>
            <a:r>
              <a:rPr lang="ko-KR" altLang="en-US" dirty="0"/>
              <a:t>과거 버전에 대한 호환성을 위해 </a:t>
            </a:r>
            <a:r>
              <a:rPr lang="en-US" altLang="ko-KR" dirty="0"/>
              <a:t>revert( ) </a:t>
            </a:r>
            <a:r>
              <a:rPr lang="ko-KR" altLang="en-US" dirty="0"/>
              <a:t>함수를 여전히 지원</a:t>
            </a:r>
            <a:endParaRPr lang="en-US" altLang="ko-KR" dirty="0"/>
          </a:p>
          <a:p>
            <a:pPr lvl="2"/>
            <a:r>
              <a:rPr lang="en-US" altLang="ko-KR" dirty="0"/>
              <a:t>revert(); </a:t>
            </a:r>
          </a:p>
          <a:p>
            <a:pPr lvl="2"/>
            <a:r>
              <a:rPr lang="en-US" altLang="ko-KR" dirty="0"/>
              <a:t>revert(“description”);</a:t>
            </a:r>
          </a:p>
          <a:p>
            <a:pPr lvl="1"/>
            <a:r>
              <a:rPr lang="en-US" altLang="ko-KR" dirty="0"/>
              <a:t>revert </a:t>
            </a:r>
            <a:r>
              <a:rPr lang="ko-KR" altLang="en-US" dirty="0"/>
              <a:t>문장에 비해 가스비가 높음</a:t>
            </a:r>
          </a:p>
        </p:txBody>
      </p:sp>
    </p:spTree>
    <p:extLst>
      <p:ext uri="{BB962C8B-B14F-4D97-AF65-F5344CB8AC3E}">
        <p14:creationId xmlns:p14="http://schemas.microsoft.com/office/powerpoint/2010/main" val="1845556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E487CE-67BF-4F78-A5EC-552717B05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try/catch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4432F6-32EE-4338-990E-E8870A453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ko-KR" dirty="0"/>
              <a:t>External</a:t>
            </a:r>
            <a:r>
              <a:rPr lang="ko-KR" altLang="en-US" dirty="0"/>
              <a:t> </a:t>
            </a:r>
            <a:r>
              <a:rPr lang="en-US" altLang="ko-KR" dirty="0"/>
              <a:t>function </a:t>
            </a:r>
            <a:r>
              <a:rPr lang="ko-KR" altLang="en-US" dirty="0"/>
              <a:t>호출 및 외부 </a:t>
            </a:r>
            <a:r>
              <a:rPr lang="ko-KR" altLang="en-US" dirty="0" err="1"/>
              <a:t>컨트랙트</a:t>
            </a:r>
            <a:r>
              <a:rPr lang="ko-KR" altLang="en-US" dirty="0"/>
              <a:t> 생성시 </a:t>
            </a:r>
            <a:r>
              <a:rPr lang="en-US" altLang="ko-KR" dirty="0"/>
              <a:t>try/catch</a:t>
            </a:r>
            <a:r>
              <a:rPr lang="ko-KR" altLang="en-US" dirty="0"/>
              <a:t>를 사용 가능</a:t>
            </a:r>
            <a:endParaRPr lang="en-US" altLang="ko-KR" dirty="0"/>
          </a:p>
          <a:p>
            <a:pPr lvl="1"/>
            <a:r>
              <a:rPr lang="ko-KR" altLang="en-US" dirty="0"/>
              <a:t>호출된 함수에서만 상태 복원이 발생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예시</a:t>
            </a:r>
            <a:r>
              <a:rPr lang="en-US" altLang="ko-KR" dirty="0"/>
              <a:t>)</a:t>
            </a:r>
          </a:p>
          <a:p>
            <a:pPr marL="260350" lvl="1" indent="0">
              <a:buNone/>
            </a:pPr>
            <a:endParaRPr lang="en-US" altLang="ko-KR" dirty="0"/>
          </a:p>
          <a:p>
            <a:pPr marL="260350" lvl="1" indent="0">
              <a:buNone/>
            </a:pPr>
            <a:r>
              <a:rPr lang="en-US" altLang="ko-KR" dirty="0"/>
              <a:t>contract </a:t>
            </a:r>
            <a:r>
              <a:rPr lang="en-US" altLang="ko-KR" dirty="0" err="1"/>
              <a:t>FeedConsumer</a:t>
            </a:r>
            <a:r>
              <a:rPr lang="en-US" altLang="ko-KR" dirty="0"/>
              <a:t> {</a:t>
            </a:r>
          </a:p>
          <a:p>
            <a:pPr marL="260350" lvl="1" indent="0">
              <a:buNone/>
            </a:pPr>
            <a:r>
              <a:rPr lang="en-US" altLang="ko-KR" dirty="0"/>
              <a:t>     function rate(address token) public returns (</a:t>
            </a:r>
            <a:r>
              <a:rPr lang="en-US" altLang="ko-KR" dirty="0" err="1"/>
              <a:t>uint</a:t>
            </a:r>
            <a:r>
              <a:rPr lang="en-US" altLang="ko-KR" dirty="0"/>
              <a:t> value, bool success) {      </a:t>
            </a:r>
          </a:p>
          <a:p>
            <a:pPr marL="260350" lvl="1" indent="0">
              <a:buNone/>
            </a:pPr>
            <a:r>
              <a:rPr lang="en-US" altLang="ko-KR" dirty="0"/>
              <a:t>        try </a:t>
            </a:r>
            <a:r>
              <a:rPr lang="en-US" altLang="ko-KR" dirty="0" err="1"/>
              <a:t>feed.getData</a:t>
            </a:r>
            <a:r>
              <a:rPr lang="en-US" altLang="ko-KR" dirty="0"/>
              <a:t>(token) returns (</a:t>
            </a:r>
            <a:r>
              <a:rPr lang="en-US" altLang="ko-KR" dirty="0" err="1"/>
              <a:t>uint</a:t>
            </a:r>
            <a:r>
              <a:rPr lang="en-US" altLang="ko-KR" dirty="0"/>
              <a:t> v) {</a:t>
            </a:r>
          </a:p>
          <a:p>
            <a:pPr marL="260350" lvl="1" indent="0">
              <a:buNone/>
            </a:pPr>
            <a:r>
              <a:rPr lang="en-US" altLang="ko-KR" dirty="0"/>
              <a:t>            return (v, true);</a:t>
            </a:r>
          </a:p>
          <a:p>
            <a:pPr marL="260350" lvl="1" indent="0">
              <a:buNone/>
            </a:pPr>
            <a:r>
              <a:rPr lang="en-US" altLang="ko-KR" dirty="0"/>
              <a:t>        } catch Error(string memory /*reason*/) {</a:t>
            </a:r>
          </a:p>
          <a:p>
            <a:pPr marL="260350" lvl="1" indent="0">
              <a:buNone/>
            </a:pPr>
            <a:r>
              <a:rPr lang="en-US" altLang="ko-KR" dirty="0"/>
              <a:t>            </a:t>
            </a:r>
            <a:r>
              <a:rPr lang="en-US" altLang="ko-KR" dirty="0" err="1"/>
              <a:t>errorCount</a:t>
            </a:r>
            <a:r>
              <a:rPr lang="en-US" altLang="ko-KR" dirty="0"/>
              <a:t>++;</a:t>
            </a:r>
          </a:p>
          <a:p>
            <a:pPr marL="260350" lvl="1" indent="0">
              <a:buNone/>
            </a:pPr>
            <a:r>
              <a:rPr lang="en-US" altLang="ko-KR" dirty="0"/>
              <a:t>            return (0, false);</a:t>
            </a:r>
          </a:p>
          <a:p>
            <a:pPr marL="260350" lvl="1" indent="0">
              <a:buNone/>
            </a:pPr>
            <a:r>
              <a:rPr lang="en-US" altLang="ko-KR" dirty="0"/>
              <a:t>        } catch Panic(</a:t>
            </a:r>
            <a:r>
              <a:rPr lang="en-US" altLang="ko-KR" dirty="0" err="1"/>
              <a:t>uint</a:t>
            </a:r>
            <a:r>
              <a:rPr lang="en-US" altLang="ko-KR" dirty="0"/>
              <a:t> /*</a:t>
            </a:r>
            <a:r>
              <a:rPr lang="en-US" altLang="ko-KR" dirty="0" err="1"/>
              <a:t>errorCode</a:t>
            </a:r>
            <a:r>
              <a:rPr lang="en-US" altLang="ko-KR" dirty="0"/>
              <a:t>*/) {            </a:t>
            </a:r>
          </a:p>
          <a:p>
            <a:pPr marL="260350" lvl="1" indent="0">
              <a:buNone/>
            </a:pPr>
            <a:r>
              <a:rPr lang="en-US" altLang="ko-KR" dirty="0"/>
              <a:t>            </a:t>
            </a:r>
            <a:r>
              <a:rPr lang="en-US" altLang="ko-KR" dirty="0" err="1"/>
              <a:t>errorCount</a:t>
            </a:r>
            <a:r>
              <a:rPr lang="en-US" altLang="ko-KR" dirty="0"/>
              <a:t>++;</a:t>
            </a:r>
          </a:p>
          <a:p>
            <a:pPr marL="260350" lvl="1" indent="0">
              <a:buNone/>
            </a:pPr>
            <a:r>
              <a:rPr lang="en-US" altLang="ko-KR" dirty="0"/>
              <a:t>            return (0, false);</a:t>
            </a:r>
          </a:p>
          <a:p>
            <a:pPr marL="260350" lvl="1" indent="0">
              <a:buNone/>
            </a:pPr>
            <a:r>
              <a:rPr lang="en-US" altLang="ko-KR" dirty="0"/>
              <a:t>        } catch (bytes memory /*</a:t>
            </a:r>
            <a:r>
              <a:rPr lang="en-US" altLang="ko-KR" dirty="0" err="1"/>
              <a:t>lowLevelData</a:t>
            </a:r>
            <a:r>
              <a:rPr lang="en-US" altLang="ko-KR" dirty="0"/>
              <a:t>*/) {</a:t>
            </a:r>
          </a:p>
          <a:p>
            <a:pPr marL="260350" lvl="1" indent="0">
              <a:buNone/>
            </a:pPr>
            <a:r>
              <a:rPr lang="en-US" altLang="ko-KR" dirty="0"/>
              <a:t>            </a:t>
            </a:r>
            <a:r>
              <a:rPr lang="en-US" altLang="ko-KR" dirty="0" err="1"/>
              <a:t>errorCount</a:t>
            </a:r>
            <a:r>
              <a:rPr lang="en-US" altLang="ko-KR" dirty="0"/>
              <a:t>++;</a:t>
            </a:r>
          </a:p>
          <a:p>
            <a:pPr marL="260350" lvl="1" indent="0">
              <a:buNone/>
            </a:pPr>
            <a:r>
              <a:rPr lang="en-US" altLang="ko-KR" dirty="0"/>
              <a:t>            return (0, false);</a:t>
            </a:r>
          </a:p>
          <a:p>
            <a:pPr marL="260350" lvl="1" indent="0">
              <a:buNone/>
            </a:pPr>
            <a:r>
              <a:rPr lang="en-US" altLang="ko-KR" dirty="0"/>
              <a:t>        }</a:t>
            </a:r>
          </a:p>
          <a:p>
            <a:pPr marL="260350" lvl="1" indent="0">
              <a:buNone/>
            </a:pPr>
            <a:r>
              <a:rPr lang="en-US" altLang="ko-KR" dirty="0"/>
              <a:t>    }</a:t>
            </a:r>
          </a:p>
          <a:p>
            <a:pPr marL="260350" lvl="1" indent="0">
              <a:buNone/>
            </a:pPr>
            <a:r>
              <a:rPr lang="en-US" altLang="ko-KR" dirty="0"/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8823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3"/>
          <p:cNvSpPr>
            <a:spLocks noGrp="1"/>
          </p:cNvSpPr>
          <p:nvPr>
            <p:ph type="ctrTitle"/>
          </p:nvPr>
        </p:nvSpPr>
        <p:spPr>
          <a:xfrm>
            <a:off x="273050" y="2565400"/>
            <a:ext cx="9359900" cy="1574800"/>
          </a:xfrm>
        </p:spPr>
        <p:txBody>
          <a:bodyPr/>
          <a:lstStyle/>
          <a:p>
            <a:r>
              <a:rPr lang="en-US" altLang="ko-KR" dirty="0"/>
              <a:t>B. </a:t>
            </a:r>
            <a:r>
              <a:rPr lang="ko-KR" altLang="en-US" dirty="0"/>
              <a:t>라이브러리 </a:t>
            </a:r>
            <a:r>
              <a:rPr lang="en-US" altLang="ko-KR" dirty="0"/>
              <a:t>(Libraries)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3776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라이브러리 </a:t>
            </a:r>
            <a:r>
              <a:rPr lang="en-US" altLang="ko-KR" dirty="0"/>
              <a:t>(Libraries)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라이브러리 용도 및 특징</a:t>
            </a:r>
            <a:endParaRPr lang="en-US" altLang="ko-KR" dirty="0"/>
          </a:p>
          <a:p>
            <a:pPr lvl="1"/>
            <a:r>
              <a:rPr lang="ko-KR" altLang="en-US" dirty="0" err="1"/>
              <a:t>컨트랙트와</a:t>
            </a:r>
            <a:r>
              <a:rPr lang="ko-KR" altLang="en-US" dirty="0"/>
              <a:t> 유사하게 취급되지만 코드 재사용이 목적</a:t>
            </a:r>
            <a:endParaRPr lang="en-US" altLang="ko-KR" dirty="0"/>
          </a:p>
          <a:p>
            <a:pPr lvl="1"/>
            <a:r>
              <a:rPr lang="ko-KR" altLang="en-US" dirty="0"/>
              <a:t>호출 </a:t>
            </a:r>
            <a:r>
              <a:rPr lang="ko-KR" altLang="en-US" dirty="0" err="1"/>
              <a:t>컨트랙트</a:t>
            </a:r>
            <a:r>
              <a:rPr lang="en-US" altLang="ko-KR" dirty="0"/>
              <a:t>(calling contract)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컨텍스트에서 실행됨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특징</a:t>
            </a:r>
            <a:endParaRPr lang="en-US" altLang="ko-KR" dirty="0"/>
          </a:p>
          <a:p>
            <a:pPr lvl="1"/>
            <a:r>
              <a:rPr lang="ko-KR" altLang="en-US" dirty="0" err="1"/>
              <a:t>상태변수</a:t>
            </a:r>
            <a:r>
              <a:rPr lang="ko-KR" altLang="en-US" dirty="0"/>
              <a:t> 선언 불가</a:t>
            </a:r>
            <a:endParaRPr lang="en-US" altLang="ko-KR" dirty="0"/>
          </a:p>
          <a:p>
            <a:pPr lvl="1"/>
            <a:r>
              <a:rPr lang="ko-KR" altLang="en-US" dirty="0"/>
              <a:t>상속 또는 </a:t>
            </a:r>
            <a:r>
              <a:rPr lang="ko-KR" altLang="en-US" dirty="0" err="1"/>
              <a:t>피상속</a:t>
            </a:r>
            <a:r>
              <a:rPr lang="ko-KR" altLang="en-US" dirty="0"/>
              <a:t> 불가</a:t>
            </a:r>
            <a:endParaRPr lang="en-US" altLang="ko-KR" dirty="0"/>
          </a:p>
          <a:p>
            <a:pPr lvl="1"/>
            <a:r>
              <a:rPr lang="ko-KR" altLang="en-US" dirty="0" err="1"/>
              <a:t>이더</a:t>
            </a:r>
            <a:r>
              <a:rPr lang="en-US" altLang="ko-KR" dirty="0"/>
              <a:t> </a:t>
            </a:r>
            <a:r>
              <a:rPr lang="ko-KR" altLang="en-US" dirty="0"/>
              <a:t>수신 불가 </a:t>
            </a:r>
            <a:r>
              <a:rPr lang="en-US" altLang="ko-KR" dirty="0"/>
              <a:t>(payable </a:t>
            </a:r>
            <a:r>
              <a:rPr lang="ko-KR" altLang="en-US" dirty="0"/>
              <a:t>함수 포함 불가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라이브러리의 모든 함수가 </a:t>
            </a:r>
            <a:r>
              <a:rPr lang="en-US" altLang="ko-KR" dirty="0"/>
              <a:t>internal</a:t>
            </a:r>
            <a:r>
              <a:rPr lang="ko-KR" altLang="en-US" dirty="0"/>
              <a:t>로 선언될 경우 </a:t>
            </a:r>
            <a:r>
              <a:rPr lang="ko-KR" altLang="en-US" dirty="0" err="1"/>
              <a:t>컨트랙트</a:t>
            </a:r>
            <a:r>
              <a:rPr lang="ko-KR" altLang="en-US" dirty="0"/>
              <a:t> 내부에 삽입됨 </a:t>
            </a:r>
            <a:r>
              <a:rPr lang="en-US" altLang="ko-KR" dirty="0"/>
              <a:t>(</a:t>
            </a:r>
            <a:r>
              <a:rPr lang="ko-KR" altLang="en-US" dirty="0"/>
              <a:t>그렇지 않은 경우에는 별도로 배포되어야 함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93961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D93A89-3CD8-4C3A-8BA4-02519A687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라이브러리 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E0383F-E6C4-4CFE-879F-779A1A3EB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ko-KR" b="0" dirty="0">
                <a:effectLst/>
                <a:latin typeface="Consolas" panose="020B0609020204030204" pitchFamily="49" charset="0"/>
              </a:rPr>
              <a:t>// SPDX-License-Identifier: MIT</a:t>
            </a:r>
          </a:p>
          <a:p>
            <a:pPr marL="0" indent="0">
              <a:buNone/>
            </a:pPr>
            <a:r>
              <a:rPr lang="en-US" altLang="ko-KR" b="0" dirty="0">
                <a:effectLst/>
                <a:latin typeface="Consolas" panose="020B0609020204030204" pitchFamily="49" charset="0"/>
              </a:rPr>
              <a:t>pragma solidity ^0.8.26;</a:t>
            </a:r>
          </a:p>
          <a:p>
            <a:pPr marL="0" indent="0">
              <a:buNone/>
            </a:pPr>
            <a:br>
              <a:rPr lang="en-US" altLang="ko-KR" b="0" dirty="0"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effectLst/>
                <a:latin typeface="Consolas" panose="020B0609020204030204" pitchFamily="49" charset="0"/>
              </a:rPr>
              <a:t>library Math {</a:t>
            </a:r>
          </a:p>
          <a:p>
            <a:pPr marL="0" indent="0">
              <a:buNone/>
            </a:pPr>
            <a:r>
              <a:rPr lang="en-US" altLang="ko-KR" b="0" dirty="0">
                <a:effectLst/>
                <a:latin typeface="Consolas" panose="020B0609020204030204" pitchFamily="49" charset="0"/>
              </a:rPr>
              <a:t>    function sqrt(uint256 y) internal pure returns (uint256 z) {</a:t>
            </a:r>
          </a:p>
          <a:p>
            <a:pPr marL="0" indent="0">
              <a:buNone/>
            </a:pPr>
            <a:r>
              <a:rPr lang="en-US" altLang="ko-KR" b="0" dirty="0">
                <a:effectLst/>
                <a:latin typeface="Consolas" panose="020B0609020204030204" pitchFamily="49" charset="0"/>
              </a:rPr>
              <a:t>        if (y &gt; 3) {</a:t>
            </a:r>
          </a:p>
          <a:p>
            <a:pPr marL="0" indent="0">
              <a:buNone/>
            </a:pPr>
            <a:r>
              <a:rPr lang="en-US" altLang="ko-KR" b="0" dirty="0">
                <a:effectLst/>
                <a:latin typeface="Consolas" panose="020B0609020204030204" pitchFamily="49" charset="0"/>
              </a:rPr>
              <a:t>            z = y;</a:t>
            </a:r>
          </a:p>
          <a:p>
            <a:pPr marL="0" indent="0">
              <a:buNone/>
            </a:pPr>
            <a:r>
              <a:rPr lang="en-US" altLang="ko-KR" b="0" dirty="0">
                <a:effectLst/>
                <a:latin typeface="Consolas" panose="020B0609020204030204" pitchFamily="49" charset="0"/>
              </a:rPr>
              <a:t>            uint256 x = y / 2 + 1;</a:t>
            </a:r>
          </a:p>
          <a:p>
            <a:pPr marL="0" indent="0">
              <a:buNone/>
            </a:pPr>
            <a:r>
              <a:rPr lang="en-US" altLang="ko-KR" b="0" dirty="0">
                <a:effectLst/>
                <a:latin typeface="Consolas" panose="020B0609020204030204" pitchFamily="49" charset="0"/>
              </a:rPr>
              <a:t>            while (x &lt; z) {</a:t>
            </a:r>
          </a:p>
          <a:p>
            <a:pPr marL="0" indent="0">
              <a:buNone/>
            </a:pPr>
            <a:r>
              <a:rPr lang="en-US" altLang="ko-KR" b="0" dirty="0">
                <a:effectLst/>
                <a:latin typeface="Consolas" panose="020B0609020204030204" pitchFamily="49" charset="0"/>
              </a:rPr>
              <a:t>                z = x;</a:t>
            </a:r>
          </a:p>
          <a:p>
            <a:pPr marL="0" indent="0">
              <a:buNone/>
            </a:pPr>
            <a:r>
              <a:rPr lang="en-US" altLang="ko-KR" b="0" dirty="0">
                <a:effectLst/>
                <a:latin typeface="Consolas" panose="020B0609020204030204" pitchFamily="49" charset="0"/>
              </a:rPr>
              <a:t>                x = (y / x + x) / 2;</a:t>
            </a:r>
          </a:p>
          <a:p>
            <a:pPr marL="0" indent="0">
              <a:buNone/>
            </a:pPr>
            <a:r>
              <a:rPr lang="en-US" altLang="ko-KR" b="0" dirty="0">
                <a:effectLst/>
                <a:latin typeface="Consolas" panose="020B0609020204030204" pitchFamily="49" charset="0"/>
              </a:rPr>
              <a:t>            }</a:t>
            </a:r>
          </a:p>
          <a:p>
            <a:pPr marL="0" indent="0">
              <a:buNone/>
            </a:pPr>
            <a:r>
              <a:rPr lang="en-US" altLang="ko-KR" b="0" dirty="0">
                <a:effectLst/>
                <a:latin typeface="Consolas" panose="020B0609020204030204" pitchFamily="49" charset="0"/>
              </a:rPr>
              <a:t>        } else if (y != 0) {</a:t>
            </a:r>
          </a:p>
          <a:p>
            <a:pPr marL="0" indent="0">
              <a:buNone/>
            </a:pPr>
            <a:r>
              <a:rPr lang="en-US" altLang="ko-KR" b="0" dirty="0">
                <a:effectLst/>
                <a:latin typeface="Consolas" panose="020B0609020204030204" pitchFamily="49" charset="0"/>
              </a:rPr>
              <a:t>            z = 1;</a:t>
            </a:r>
          </a:p>
          <a:p>
            <a:pPr marL="0" indent="0">
              <a:buNone/>
            </a:pPr>
            <a:r>
              <a:rPr lang="en-US" altLang="ko-KR" b="0" dirty="0">
                <a:effectLst/>
                <a:latin typeface="Consolas" panose="020B0609020204030204" pitchFamily="49" charset="0"/>
              </a:rPr>
              <a:t>        }</a:t>
            </a:r>
          </a:p>
          <a:p>
            <a:pPr marL="0" indent="0">
              <a:buNone/>
            </a:pPr>
            <a:r>
              <a:rPr lang="en-US" altLang="ko-KR" b="0" dirty="0">
                <a:effectLst/>
                <a:latin typeface="Consolas" panose="020B0609020204030204" pitchFamily="49" charset="0"/>
              </a:rPr>
              <a:t>        // else z = 0 (default value)</a:t>
            </a:r>
          </a:p>
          <a:p>
            <a:pPr marL="0" indent="0">
              <a:buNone/>
            </a:pPr>
            <a:r>
              <a:rPr lang="en-US" altLang="ko-KR" b="0" dirty="0"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altLang="ko-KR" b="0" dirty="0"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altLang="ko-KR" b="0" dirty="0"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effectLst/>
                <a:latin typeface="Consolas" panose="020B0609020204030204" pitchFamily="49" charset="0"/>
              </a:rPr>
              <a:t>contract </a:t>
            </a:r>
            <a:r>
              <a:rPr lang="en-US" altLang="ko-KR" b="0" dirty="0" err="1">
                <a:effectLst/>
                <a:latin typeface="Consolas" panose="020B0609020204030204" pitchFamily="49" charset="0"/>
              </a:rPr>
              <a:t>TestMath</a:t>
            </a:r>
            <a:r>
              <a:rPr lang="en-US" altLang="ko-KR" b="0" dirty="0"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altLang="ko-KR" b="0" dirty="0">
                <a:effectLst/>
                <a:latin typeface="Consolas" panose="020B0609020204030204" pitchFamily="49" charset="0"/>
              </a:rPr>
              <a:t>    function </a:t>
            </a:r>
            <a:r>
              <a:rPr lang="en-US" altLang="ko-KR" b="0" dirty="0" err="1">
                <a:effectLst/>
                <a:latin typeface="Consolas" panose="020B0609020204030204" pitchFamily="49" charset="0"/>
              </a:rPr>
              <a:t>testSquareRoot</a:t>
            </a:r>
            <a:r>
              <a:rPr lang="en-US" altLang="ko-KR" b="0" dirty="0">
                <a:effectLst/>
                <a:latin typeface="Consolas" panose="020B0609020204030204" pitchFamily="49" charset="0"/>
              </a:rPr>
              <a:t>(uint256 x) public pure returns (uint256) {</a:t>
            </a:r>
          </a:p>
          <a:p>
            <a:pPr marL="0" indent="0">
              <a:buNone/>
            </a:pPr>
            <a:r>
              <a:rPr lang="en-US" altLang="ko-KR" b="0" dirty="0">
                <a:effectLst/>
                <a:latin typeface="Consolas" panose="020B0609020204030204" pitchFamily="49" charset="0"/>
              </a:rPr>
              <a:t>        return </a:t>
            </a:r>
            <a:r>
              <a:rPr lang="en-US" altLang="ko-KR" b="0" dirty="0" err="1">
                <a:effectLst/>
                <a:latin typeface="Consolas" panose="020B0609020204030204" pitchFamily="49" charset="0"/>
              </a:rPr>
              <a:t>Math.sqrt</a:t>
            </a:r>
            <a:r>
              <a:rPr lang="en-US" altLang="ko-KR" b="0" dirty="0">
                <a:effectLst/>
                <a:latin typeface="Consolas" panose="020B0609020204030204" pitchFamily="49" charset="0"/>
              </a:rPr>
              <a:t>(x);</a:t>
            </a:r>
          </a:p>
          <a:p>
            <a:pPr marL="0" indent="0">
              <a:buNone/>
            </a:pPr>
            <a:r>
              <a:rPr lang="en-US" altLang="ko-KR" b="0" dirty="0"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altLang="ko-KR" b="0" dirty="0"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8958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Using </a:t>
            </a:r>
            <a:r>
              <a:rPr lang="ko-KR" altLang="en-US" dirty="0"/>
              <a:t>키워드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using L for T</a:t>
            </a:r>
          </a:p>
          <a:p>
            <a:pPr lvl="1"/>
            <a:r>
              <a:rPr lang="ko-KR" altLang="en-US" dirty="0"/>
              <a:t>라이브러리 </a:t>
            </a:r>
            <a:r>
              <a:rPr lang="en-US" altLang="ko-KR" dirty="0"/>
              <a:t>L</a:t>
            </a:r>
            <a:r>
              <a:rPr lang="ko-KR" altLang="en-US" dirty="0"/>
              <a:t>를 </a:t>
            </a:r>
            <a:r>
              <a:rPr lang="ko-KR" altLang="en-US" dirty="0" err="1"/>
              <a:t>자료형</a:t>
            </a:r>
            <a:r>
              <a:rPr lang="ko-KR" altLang="en-US" dirty="0"/>
              <a:t> </a:t>
            </a:r>
            <a:r>
              <a:rPr lang="en-US" altLang="ko-KR" dirty="0"/>
              <a:t>T</a:t>
            </a:r>
            <a:r>
              <a:rPr lang="ko-KR" altLang="en-US" dirty="0"/>
              <a:t>로 사용</a:t>
            </a:r>
            <a:endParaRPr lang="en-US" altLang="ko-KR" dirty="0"/>
          </a:p>
          <a:p>
            <a:pPr lvl="1"/>
            <a:r>
              <a:rPr lang="ko-KR" altLang="en-US" dirty="0" err="1"/>
              <a:t>자료형</a:t>
            </a:r>
            <a:r>
              <a:rPr lang="ko-KR" altLang="en-US" dirty="0"/>
              <a:t> </a:t>
            </a:r>
            <a:r>
              <a:rPr lang="en-US" altLang="ko-KR" dirty="0"/>
              <a:t>T</a:t>
            </a:r>
            <a:r>
              <a:rPr lang="ko-KR" altLang="en-US" dirty="0"/>
              <a:t>를 라이브러리 </a:t>
            </a:r>
            <a:r>
              <a:rPr lang="en-US" altLang="ko-KR" dirty="0"/>
              <a:t>L</a:t>
            </a:r>
            <a:r>
              <a:rPr lang="ko-KR" altLang="en-US" dirty="0"/>
              <a:t>의 객체처럼 사용하겠다는 의미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동작</a:t>
            </a:r>
            <a:endParaRPr lang="en-US" altLang="ko-KR" dirty="0"/>
          </a:p>
          <a:p>
            <a:pPr lvl="1"/>
            <a:r>
              <a:rPr lang="en-US" altLang="ko-KR" dirty="0" err="1"/>
              <a:t>T</a:t>
            </a:r>
            <a:r>
              <a:rPr lang="ko-KR" altLang="en-US" dirty="0"/>
              <a:t>는 </a:t>
            </a:r>
            <a:r>
              <a:rPr lang="en-US" altLang="ko-KR" dirty="0"/>
              <a:t>L</a:t>
            </a:r>
            <a:r>
              <a:rPr lang="ko-KR" altLang="en-US" dirty="0"/>
              <a:t>의 모든 함수를 사용할 수 있음</a:t>
            </a:r>
            <a:endParaRPr lang="en-US" altLang="ko-KR" dirty="0"/>
          </a:p>
          <a:p>
            <a:pPr lvl="1"/>
            <a:r>
              <a:rPr lang="en-US" altLang="ko-KR" dirty="0"/>
              <a:t>T </a:t>
            </a:r>
            <a:r>
              <a:rPr lang="ko-KR" altLang="en-US" dirty="0" err="1"/>
              <a:t>자료형의</a:t>
            </a:r>
            <a:r>
              <a:rPr lang="ko-KR" altLang="en-US" dirty="0"/>
              <a:t> 객체 </a:t>
            </a:r>
            <a:r>
              <a:rPr lang="en-US" altLang="ko-KR" dirty="0"/>
              <a:t>x</a:t>
            </a:r>
            <a:r>
              <a:rPr lang="ko-KR" altLang="en-US" dirty="0"/>
              <a:t>가 </a:t>
            </a:r>
            <a:r>
              <a:rPr lang="en-US" altLang="ko-KR" dirty="0"/>
              <a:t>A</a:t>
            </a:r>
            <a:r>
              <a:rPr lang="ko-KR" altLang="en-US" dirty="0"/>
              <a:t>의 함수를 멤버로서 호출할 경우 </a:t>
            </a:r>
            <a:r>
              <a:rPr lang="en-US" altLang="ko-KR" dirty="0"/>
              <a:t>x</a:t>
            </a:r>
            <a:r>
              <a:rPr lang="ko-KR" altLang="en-US" dirty="0"/>
              <a:t>는 첫 번째 </a:t>
            </a:r>
            <a:r>
              <a:rPr lang="ko-KR" altLang="en-US" dirty="0" err="1"/>
              <a:t>인자값으로</a:t>
            </a:r>
            <a:r>
              <a:rPr lang="ko-KR" altLang="en-US" dirty="0"/>
              <a:t> 사용됨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19409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임포트</a:t>
            </a:r>
            <a:r>
              <a:rPr lang="ko-KR" altLang="en-US" dirty="0"/>
              <a:t> </a:t>
            </a:r>
            <a:r>
              <a:rPr lang="en-US" altLang="ko-KR" dirty="0"/>
              <a:t>(import)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/>
              <a:t>import “filename”</a:t>
            </a:r>
          </a:p>
          <a:p>
            <a:pPr lvl="1"/>
            <a:r>
              <a:rPr lang="en-US" altLang="ko-KR" dirty="0"/>
              <a:t>“filename”</a:t>
            </a:r>
            <a:r>
              <a:rPr lang="ko-KR" altLang="en-US" dirty="0"/>
              <a:t>의 소스 코드를 </a:t>
            </a:r>
            <a:r>
              <a:rPr lang="ko-KR" altLang="en-US" dirty="0" err="1"/>
              <a:t>컨트랙트에</a:t>
            </a:r>
            <a:r>
              <a:rPr lang="ko-KR" altLang="en-US" dirty="0"/>
              <a:t> 추가</a:t>
            </a:r>
            <a:r>
              <a:rPr lang="en-US" altLang="ko-KR" dirty="0"/>
              <a:t>(</a:t>
            </a:r>
            <a:r>
              <a:rPr lang="ko-KR" altLang="en-US" dirty="0"/>
              <a:t>삽입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“filename”</a:t>
            </a:r>
            <a:r>
              <a:rPr lang="ko-KR" altLang="en-US" dirty="0"/>
              <a:t>의 </a:t>
            </a:r>
            <a:r>
              <a:rPr lang="en-US" altLang="ko-KR" dirty="0"/>
              <a:t>pragma</a:t>
            </a:r>
            <a:r>
              <a:rPr lang="ko-KR" altLang="en-US" dirty="0"/>
              <a:t>는 적용되지 않음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import * as </a:t>
            </a:r>
            <a:r>
              <a:rPr lang="en-US" altLang="ko-KR" dirty="0" err="1"/>
              <a:t>symbolName</a:t>
            </a:r>
            <a:r>
              <a:rPr lang="en-US" altLang="ko-KR" dirty="0"/>
              <a:t> from “filename”</a:t>
            </a:r>
          </a:p>
          <a:p>
            <a:pPr lvl="1"/>
            <a:r>
              <a:rPr lang="ko-KR" altLang="en-US" dirty="0"/>
              <a:t>또는 </a:t>
            </a:r>
            <a:r>
              <a:rPr lang="en-US" altLang="ko-KR" dirty="0"/>
              <a:t>import "filename" as </a:t>
            </a:r>
            <a:r>
              <a:rPr lang="en-US" altLang="ko-KR" dirty="0" err="1"/>
              <a:t>symbolName</a:t>
            </a:r>
            <a:r>
              <a:rPr lang="en-US" altLang="ko-KR" dirty="0"/>
              <a:t>;</a:t>
            </a:r>
            <a:r>
              <a:rPr lang="ko-KR" altLang="en-US" dirty="0"/>
              <a:t> </a:t>
            </a:r>
          </a:p>
          <a:p>
            <a:pPr lvl="1"/>
            <a:r>
              <a:rPr lang="en-US" altLang="ko-KR" dirty="0"/>
              <a:t>“filename”</a:t>
            </a:r>
            <a:r>
              <a:rPr lang="ko-KR" altLang="en-US" dirty="0"/>
              <a:t>의 모든</a:t>
            </a:r>
            <a:r>
              <a:rPr lang="en-US" altLang="ko-KR" dirty="0"/>
              <a:t> </a:t>
            </a:r>
            <a:r>
              <a:rPr lang="ko-KR" altLang="en-US" dirty="0" err="1"/>
              <a:t>상태변수를</a:t>
            </a:r>
            <a:r>
              <a:rPr lang="ko-KR" altLang="en-US" dirty="0"/>
              <a:t> </a:t>
            </a:r>
            <a:r>
              <a:rPr lang="en-US" altLang="ko-KR" dirty="0" err="1"/>
              <a:t>symbolName.symbol</a:t>
            </a:r>
            <a:r>
              <a:rPr lang="ko-KR" altLang="en-US" dirty="0"/>
              <a:t>로 사용</a:t>
            </a:r>
            <a:endParaRPr lang="en-US" altLang="ko-KR" dirty="0"/>
          </a:p>
        </p:txBody>
      </p:sp>
      <p:sp>
        <p:nvSpPr>
          <p:cNvPr id="4" name="TextBox 3"/>
          <p:cNvSpPr txBox="1"/>
          <p:nvPr/>
        </p:nvSpPr>
        <p:spPr>
          <a:xfrm>
            <a:off x="992560" y="2204864"/>
            <a:ext cx="7704856" cy="646331"/>
          </a:xfrm>
          <a:prstGeom prst="rect">
            <a:avLst/>
          </a:prstGeom>
          <a:solidFill>
            <a:srgbClr val="E5FFE5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contract Foo {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string public name = "Foo";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560" y="2911583"/>
            <a:ext cx="7704856" cy="1754326"/>
          </a:xfrm>
          <a:prstGeom prst="rect">
            <a:avLst/>
          </a:prstGeom>
          <a:solidFill>
            <a:srgbClr val="E5FFE5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// import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Foo.sol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from current directory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import "./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Foo.sol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endParaRPr lang="en-US" altLang="ko-KR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contract Import {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Foo public foo = new Foo();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function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getFooName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public view returns (string memory) {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foo.name();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54210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3"/>
          <p:cNvSpPr>
            <a:spLocks noGrp="1"/>
          </p:cNvSpPr>
          <p:nvPr>
            <p:ph type="ctrTitle"/>
          </p:nvPr>
        </p:nvSpPr>
        <p:spPr>
          <a:xfrm>
            <a:off x="273050" y="2565400"/>
            <a:ext cx="9359900" cy="1574800"/>
          </a:xfrm>
        </p:spPr>
        <p:txBody>
          <a:bodyPr/>
          <a:lstStyle/>
          <a:p>
            <a:r>
              <a:rPr lang="en-US" altLang="ko-KR" dirty="0"/>
              <a:t>C. </a:t>
            </a:r>
            <a:r>
              <a:rPr lang="ko-KR" altLang="en-US" dirty="0"/>
              <a:t>상속 </a:t>
            </a:r>
            <a:r>
              <a:rPr lang="en-US" altLang="ko-KR" dirty="0"/>
              <a:t>(Inheritance)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9269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상속 </a:t>
            </a:r>
            <a:r>
              <a:rPr lang="en-US" altLang="ko-KR" dirty="0"/>
              <a:t>(Inheritance)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contract A is B</a:t>
            </a:r>
          </a:p>
          <a:p>
            <a:pPr lvl="1"/>
            <a:r>
              <a:rPr lang="ko-KR" altLang="en-US" dirty="0"/>
              <a:t>자식</a:t>
            </a:r>
            <a:r>
              <a:rPr lang="en-US" altLang="ko-KR" dirty="0"/>
              <a:t>(derived)</a:t>
            </a:r>
            <a:r>
              <a:rPr lang="ko-KR" altLang="en-US" dirty="0"/>
              <a:t> </a:t>
            </a:r>
            <a:r>
              <a:rPr lang="en-US" altLang="ko-KR" dirty="0"/>
              <a:t>A</a:t>
            </a:r>
            <a:r>
              <a:rPr lang="ko-KR" altLang="en-US" dirty="0"/>
              <a:t>가 부모</a:t>
            </a:r>
            <a:r>
              <a:rPr lang="en-US" altLang="ko-KR" dirty="0"/>
              <a:t>(base)</a:t>
            </a:r>
            <a:r>
              <a:rPr lang="ko-KR" altLang="en-US" dirty="0"/>
              <a:t> </a:t>
            </a:r>
            <a:r>
              <a:rPr lang="en-US" altLang="ko-KR" dirty="0"/>
              <a:t>B</a:t>
            </a:r>
            <a:r>
              <a:rPr lang="ko-KR" altLang="en-US" dirty="0"/>
              <a:t>의 변수와 함수를 상속</a:t>
            </a:r>
            <a:endParaRPr lang="en-US" altLang="ko-KR" dirty="0"/>
          </a:p>
          <a:p>
            <a:pPr lvl="1"/>
            <a:r>
              <a:rPr lang="ko-KR" altLang="en-US" dirty="0"/>
              <a:t>블록체인상에는 모든</a:t>
            </a:r>
            <a:r>
              <a:rPr lang="en-US" altLang="ko-KR" dirty="0"/>
              <a:t> </a:t>
            </a:r>
            <a:r>
              <a:rPr lang="ko-KR" altLang="en-US" dirty="0"/>
              <a:t>부모 </a:t>
            </a:r>
            <a:r>
              <a:rPr lang="ko-KR" altLang="en-US" dirty="0" err="1"/>
              <a:t>컨트랙트를</a:t>
            </a:r>
            <a:r>
              <a:rPr lang="ko-KR" altLang="en-US" dirty="0"/>
              <a:t> 포함하는 하나의 </a:t>
            </a:r>
            <a:r>
              <a:rPr lang="ko-KR" altLang="en-US" dirty="0" err="1"/>
              <a:t>컨트랙트만</a:t>
            </a:r>
            <a:r>
              <a:rPr lang="ko-KR" altLang="en-US" dirty="0"/>
              <a:t> 생성됨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생성자</a:t>
            </a:r>
            <a:r>
              <a:rPr lang="en-US" altLang="ko-KR" dirty="0"/>
              <a:t>(constructor) </a:t>
            </a:r>
            <a:r>
              <a:rPr lang="ko-KR" altLang="en-US" dirty="0"/>
              <a:t>실행</a:t>
            </a:r>
            <a:endParaRPr lang="en-US" altLang="ko-KR" dirty="0"/>
          </a:p>
          <a:p>
            <a:pPr lvl="1"/>
            <a:r>
              <a:rPr lang="ko-KR" altLang="en-US" dirty="0"/>
              <a:t>모든</a:t>
            </a:r>
            <a:r>
              <a:rPr lang="en-US" altLang="ko-KR" dirty="0"/>
              <a:t> </a:t>
            </a:r>
            <a:r>
              <a:rPr lang="ko-KR" altLang="en-US" dirty="0"/>
              <a:t>부모</a:t>
            </a:r>
            <a:r>
              <a:rPr lang="en-US" altLang="ko-KR" dirty="0"/>
              <a:t>(base) </a:t>
            </a:r>
            <a:r>
              <a:rPr lang="ko-KR" altLang="en-US" dirty="0" err="1"/>
              <a:t>컨트랙트의</a:t>
            </a:r>
            <a:r>
              <a:rPr lang="ko-KR" altLang="en-US" dirty="0"/>
              <a:t> 생성자가 실행됨</a:t>
            </a:r>
            <a:endParaRPr lang="en-US" altLang="ko-KR" dirty="0"/>
          </a:p>
          <a:p>
            <a:pPr lvl="1"/>
            <a:r>
              <a:rPr lang="ko-KR" altLang="en-US" dirty="0"/>
              <a:t>실행 순서</a:t>
            </a:r>
            <a:r>
              <a:rPr lang="en-US" altLang="ko-KR" dirty="0"/>
              <a:t>: </a:t>
            </a:r>
            <a:r>
              <a:rPr lang="ko-KR" altLang="en-US" dirty="0"/>
              <a:t>부모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…  </a:t>
            </a:r>
            <a:r>
              <a:rPr lang="ko-KR" altLang="en-US" dirty="0"/>
              <a:t>자식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en-US" altLang="ko-KR" dirty="0"/>
              <a:t>Base1 </a:t>
            </a:r>
            <a:r>
              <a:rPr lang="en-US" altLang="ko-KR" dirty="0">
                <a:sym typeface="Wingdings" panose="05000000000000000000" pitchFamily="2" charset="2"/>
              </a:rPr>
              <a:t> Base2  Derived </a:t>
            </a:r>
            <a:r>
              <a:rPr lang="ko-KR" altLang="en-US" dirty="0">
                <a:sym typeface="Wingdings" panose="05000000000000000000" pitchFamily="2" charset="2"/>
              </a:rPr>
              <a:t>순서</a:t>
            </a:r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92560" y="4042809"/>
            <a:ext cx="7305298" cy="646331"/>
          </a:xfrm>
          <a:prstGeom prst="rect">
            <a:avLst/>
          </a:prstGeom>
          <a:solidFill>
            <a:srgbClr val="CCFFCC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contract Base1 { constructor</a:t>
            </a:r>
            <a:r>
              <a:rPr lang="ko-KR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{} }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contract Base2 { constructor</a:t>
            </a:r>
            <a:r>
              <a:rPr lang="ko-KR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{} }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contract Derived is Base1, Base2 { constructor</a:t>
            </a:r>
            <a:r>
              <a:rPr lang="ko-KR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{} }</a:t>
            </a:r>
          </a:p>
        </p:txBody>
      </p:sp>
    </p:spTree>
    <p:extLst>
      <p:ext uri="{BB962C8B-B14F-4D97-AF65-F5344CB8AC3E}">
        <p14:creationId xmlns:p14="http://schemas.microsoft.com/office/powerpoint/2010/main" val="2607438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상속 </a:t>
            </a:r>
            <a:r>
              <a:rPr lang="en-US" altLang="ko-KR" dirty="0"/>
              <a:t>(Inheritance)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/>
              <a:t>함수</a:t>
            </a:r>
            <a:r>
              <a:rPr lang="en-US" altLang="ko-KR" dirty="0"/>
              <a:t> </a:t>
            </a:r>
            <a:r>
              <a:rPr lang="ko-KR" altLang="en-US" dirty="0" err="1"/>
              <a:t>오버라이딩</a:t>
            </a:r>
            <a:r>
              <a:rPr lang="en-US" altLang="ko-KR" dirty="0"/>
              <a:t>(overriding)</a:t>
            </a:r>
          </a:p>
          <a:p>
            <a:pPr lvl="1"/>
            <a:r>
              <a:rPr lang="ko-KR" altLang="en-US" dirty="0"/>
              <a:t>부모 </a:t>
            </a:r>
            <a:r>
              <a:rPr lang="ko-KR" altLang="en-US" dirty="0" err="1"/>
              <a:t>컨트랙트의</a:t>
            </a:r>
            <a:r>
              <a:rPr lang="ko-KR" altLang="en-US" dirty="0"/>
              <a:t> 함수를 자식 </a:t>
            </a:r>
            <a:r>
              <a:rPr lang="ko-KR" altLang="en-US" dirty="0" err="1"/>
              <a:t>컨트랙트에서</a:t>
            </a:r>
            <a:r>
              <a:rPr lang="ko-KR" altLang="en-US" dirty="0"/>
              <a:t> 변경 </a:t>
            </a:r>
            <a:endParaRPr lang="en-US" altLang="ko-KR" dirty="0"/>
          </a:p>
          <a:p>
            <a:pPr lvl="1"/>
            <a:r>
              <a:rPr lang="ko-KR" altLang="en-US" dirty="0"/>
              <a:t>부모</a:t>
            </a:r>
            <a:r>
              <a:rPr lang="en-US" altLang="ko-KR" dirty="0"/>
              <a:t> </a:t>
            </a:r>
            <a:r>
              <a:rPr lang="ko-KR" altLang="en-US" dirty="0"/>
              <a:t>함수를 </a:t>
            </a:r>
            <a:r>
              <a:rPr lang="en-US" altLang="ko-KR" dirty="0"/>
              <a:t>virtual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선언</a:t>
            </a:r>
            <a:r>
              <a:rPr lang="en-US" altLang="ko-KR" dirty="0"/>
              <a:t>, </a:t>
            </a:r>
            <a:r>
              <a:rPr lang="ko-KR" altLang="en-US" dirty="0"/>
              <a:t>자식 함수를 </a:t>
            </a:r>
            <a:r>
              <a:rPr lang="en-US" altLang="ko-KR" dirty="0"/>
              <a:t>override</a:t>
            </a:r>
            <a:r>
              <a:rPr lang="ko-KR" altLang="en-US" dirty="0"/>
              <a:t>로 선언 필요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다수의 </a:t>
            </a:r>
            <a:r>
              <a:rPr lang="ko-KR" altLang="en-US" dirty="0" err="1"/>
              <a:t>컨트랙트를</a:t>
            </a:r>
            <a:r>
              <a:rPr lang="ko-KR" altLang="en-US" dirty="0"/>
              <a:t> 상속받아 함수 오버라이딩을 사용하려면 모든 부모 </a:t>
            </a:r>
            <a:r>
              <a:rPr lang="ko-KR" altLang="en-US" dirty="0" err="1"/>
              <a:t>컨트랙트의</a:t>
            </a:r>
            <a:r>
              <a:rPr lang="ko-KR" altLang="en-US" dirty="0"/>
              <a:t> 이름을 명시해야 함</a:t>
            </a:r>
            <a:endParaRPr lang="en-US" altLang="ko-KR" dirty="0"/>
          </a:p>
          <a:p>
            <a:pPr lvl="2"/>
            <a:r>
              <a:rPr lang="en-US" altLang="ko-KR" dirty="0"/>
              <a:t>function foo() public pure override(Base1, Base2)</a:t>
            </a:r>
          </a:p>
          <a:p>
            <a:pPr lvl="2"/>
            <a:endParaRPr lang="en-US" altLang="ko-KR" dirty="0"/>
          </a:p>
          <a:p>
            <a:r>
              <a:rPr lang="ko-KR" altLang="en-US" dirty="0"/>
              <a:t>변경자</a:t>
            </a:r>
            <a:r>
              <a:rPr lang="en-US" altLang="ko-KR" dirty="0"/>
              <a:t>(modifier) </a:t>
            </a:r>
            <a:r>
              <a:rPr lang="ko-KR" altLang="en-US" dirty="0" err="1"/>
              <a:t>오버라이딩</a:t>
            </a:r>
            <a:r>
              <a:rPr lang="en-US" altLang="ko-KR" dirty="0"/>
              <a:t>(overriding)</a:t>
            </a:r>
          </a:p>
          <a:p>
            <a:pPr lvl="1"/>
            <a:r>
              <a:rPr lang="ko-KR" altLang="en-US" dirty="0"/>
              <a:t>함수</a:t>
            </a:r>
            <a:r>
              <a:rPr lang="en-US" altLang="ko-KR" dirty="0"/>
              <a:t> </a:t>
            </a:r>
            <a:r>
              <a:rPr lang="ko-KR" altLang="en-US" dirty="0"/>
              <a:t>오버라이딩과 동일한 방식 적용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참고</a:t>
            </a:r>
            <a:r>
              <a:rPr lang="en-US" altLang="ko-KR" dirty="0"/>
              <a:t>) </a:t>
            </a:r>
            <a:r>
              <a:rPr lang="ko-KR" altLang="en-US" dirty="0"/>
              <a:t>함수 오버로딩</a:t>
            </a:r>
            <a:r>
              <a:rPr lang="en-US" altLang="ko-KR" dirty="0"/>
              <a:t>(function overloading)</a:t>
            </a:r>
          </a:p>
          <a:p>
            <a:pPr lvl="1"/>
            <a:r>
              <a:rPr lang="en-US" altLang="ko-KR" dirty="0"/>
              <a:t>Solidity</a:t>
            </a:r>
            <a:r>
              <a:rPr lang="ko-KR" altLang="en-US" dirty="0"/>
              <a:t>에서는 하나의</a:t>
            </a:r>
            <a:r>
              <a:rPr lang="en-US" altLang="ko-KR" dirty="0"/>
              <a:t> </a:t>
            </a:r>
            <a:r>
              <a:rPr lang="ko-KR" altLang="en-US" dirty="0" err="1"/>
              <a:t>컨트랙트에</a:t>
            </a:r>
            <a:r>
              <a:rPr lang="ko-KR" altLang="en-US" dirty="0"/>
              <a:t> 동일한 이름을 가지는 복수의 함수를</a:t>
            </a:r>
            <a:r>
              <a:rPr lang="en-US" altLang="ko-KR" dirty="0"/>
              <a:t> </a:t>
            </a:r>
            <a:r>
              <a:rPr lang="ko-KR" altLang="en-US" dirty="0"/>
              <a:t>정의하는 것을 지원</a:t>
            </a:r>
            <a:endParaRPr lang="en-US" altLang="ko-KR" dirty="0"/>
          </a:p>
          <a:p>
            <a:pPr lvl="1"/>
            <a:r>
              <a:rPr lang="ko-KR" altLang="en-US" dirty="0"/>
              <a:t>단 파라미터는 서로 상이해야 함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00572" y="2029197"/>
            <a:ext cx="7704856" cy="1615827"/>
          </a:xfrm>
          <a:prstGeom prst="rect">
            <a:avLst/>
          </a:prstGeom>
          <a:solidFill>
            <a:srgbClr val="E5FFE5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contract Base</a:t>
            </a:r>
          </a:p>
          <a:p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function foo() public virtual {}</a:t>
            </a:r>
          </a:p>
          <a:p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altLang="ko-KR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contract Derived is Base</a:t>
            </a:r>
          </a:p>
          <a:p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function foo() public override {}</a:t>
            </a:r>
          </a:p>
          <a:p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52398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추상 </a:t>
            </a:r>
            <a:r>
              <a:rPr lang="ko-KR" altLang="en-US" dirty="0" err="1"/>
              <a:t>컨트랙트와</a:t>
            </a:r>
            <a:r>
              <a:rPr lang="ko-KR" altLang="en-US" dirty="0"/>
              <a:t> 인터페이스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추상</a:t>
            </a:r>
            <a:r>
              <a:rPr lang="en-US" altLang="ko-KR" dirty="0"/>
              <a:t> </a:t>
            </a:r>
            <a:r>
              <a:rPr lang="ko-KR" altLang="en-US" dirty="0" err="1"/>
              <a:t>컨트랙트</a:t>
            </a:r>
            <a:r>
              <a:rPr lang="ko-KR" altLang="en-US" dirty="0"/>
              <a:t> </a:t>
            </a:r>
            <a:r>
              <a:rPr lang="en-US" altLang="ko-KR" dirty="0"/>
              <a:t>(Abstract Contract)</a:t>
            </a:r>
          </a:p>
          <a:p>
            <a:pPr lvl="1"/>
            <a:r>
              <a:rPr lang="ko-KR" altLang="en-US" dirty="0"/>
              <a:t>하나 이상의 함수가 구현되지 않은 </a:t>
            </a:r>
            <a:r>
              <a:rPr lang="ko-KR" altLang="en-US" dirty="0" err="1"/>
              <a:t>컨트랙트</a:t>
            </a:r>
            <a:endParaRPr lang="en-US" altLang="ko-KR" dirty="0"/>
          </a:p>
          <a:p>
            <a:pPr lvl="1"/>
            <a:r>
              <a:rPr lang="ko-KR" altLang="en-US" dirty="0"/>
              <a:t>모든 함수가 구현되어도 </a:t>
            </a:r>
            <a:r>
              <a:rPr lang="en-US" altLang="ko-KR" dirty="0"/>
              <a:t>abstract </a:t>
            </a:r>
            <a:r>
              <a:rPr lang="ko-KR" altLang="en-US" dirty="0"/>
              <a:t>키워드로 추상 </a:t>
            </a:r>
            <a:r>
              <a:rPr lang="ko-KR" altLang="en-US" dirty="0" err="1"/>
              <a:t>컨트랙트</a:t>
            </a:r>
            <a:r>
              <a:rPr lang="ko-KR" altLang="en-US" dirty="0"/>
              <a:t> 지정 가능 </a:t>
            </a:r>
            <a:endParaRPr lang="en-US" altLang="ko-KR" dirty="0"/>
          </a:p>
          <a:p>
            <a:pPr lvl="1"/>
            <a:r>
              <a:rPr lang="ko-KR" altLang="en-US" dirty="0"/>
              <a:t>배포 불가능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인터페이스</a:t>
            </a:r>
            <a:r>
              <a:rPr lang="en-US" altLang="ko-KR" dirty="0"/>
              <a:t> (Interface)</a:t>
            </a:r>
          </a:p>
          <a:p>
            <a:pPr lvl="1"/>
            <a:r>
              <a:rPr lang="ko-KR" altLang="en-US" dirty="0"/>
              <a:t>추상 </a:t>
            </a:r>
            <a:r>
              <a:rPr lang="ko-KR" altLang="en-US" dirty="0" err="1"/>
              <a:t>컨트랙트와</a:t>
            </a:r>
            <a:r>
              <a:rPr lang="ko-KR" altLang="en-US" dirty="0"/>
              <a:t> 유사하나 모든 함수가 구현되지 않아야 함</a:t>
            </a:r>
            <a:endParaRPr lang="en-US" altLang="ko-KR" dirty="0"/>
          </a:p>
          <a:p>
            <a:pPr lvl="1"/>
            <a:r>
              <a:rPr lang="ko-KR" altLang="en-US" dirty="0"/>
              <a:t>모든</a:t>
            </a:r>
            <a:r>
              <a:rPr lang="en-US" altLang="ko-KR" dirty="0"/>
              <a:t> </a:t>
            </a:r>
            <a:r>
              <a:rPr lang="ko-KR" altLang="en-US" dirty="0"/>
              <a:t>함수는 </a:t>
            </a:r>
            <a:r>
              <a:rPr lang="en-US" altLang="ko-KR" dirty="0"/>
              <a:t>external</a:t>
            </a:r>
            <a:r>
              <a:rPr lang="ko-KR" altLang="en-US" dirty="0"/>
              <a:t>이어야 함</a:t>
            </a:r>
            <a:endParaRPr lang="en-US" altLang="ko-KR" dirty="0"/>
          </a:p>
          <a:p>
            <a:pPr lvl="1"/>
            <a:r>
              <a:rPr lang="ko-KR" altLang="en-US" dirty="0" err="1"/>
              <a:t>컨트랙트</a:t>
            </a:r>
            <a:r>
              <a:rPr lang="ko-KR" altLang="en-US" dirty="0"/>
              <a:t> 상속 불가</a:t>
            </a:r>
            <a:r>
              <a:rPr lang="en-US" altLang="ko-KR" dirty="0"/>
              <a:t>, </a:t>
            </a:r>
            <a:r>
              <a:rPr lang="ko-KR" altLang="en-US" dirty="0"/>
              <a:t>인터페이스</a:t>
            </a:r>
            <a:r>
              <a:rPr lang="en-US" altLang="ko-KR" dirty="0"/>
              <a:t> </a:t>
            </a:r>
            <a:r>
              <a:rPr lang="ko-KR" altLang="en-US" dirty="0"/>
              <a:t>상속 가능</a:t>
            </a:r>
            <a:endParaRPr lang="en-US" altLang="ko-KR" dirty="0"/>
          </a:p>
          <a:p>
            <a:pPr lvl="1"/>
            <a:r>
              <a:rPr lang="en-US" altLang="ko-KR" dirty="0"/>
              <a:t>constructor </a:t>
            </a:r>
            <a:r>
              <a:rPr lang="ko-KR" altLang="en-US" dirty="0"/>
              <a:t>함수와 </a:t>
            </a:r>
            <a:r>
              <a:rPr lang="ko-KR" altLang="en-US" dirty="0" err="1"/>
              <a:t>상태변수</a:t>
            </a:r>
            <a:r>
              <a:rPr lang="ko-KR" altLang="en-US" dirty="0"/>
              <a:t> 정의 불가능</a:t>
            </a:r>
            <a:endParaRPr lang="en-US" altLang="ko-KR" dirty="0"/>
          </a:p>
          <a:p>
            <a:pPr lvl="1"/>
            <a:r>
              <a:rPr lang="ko-KR" altLang="en-US" dirty="0"/>
              <a:t>배포 불가능</a:t>
            </a:r>
          </a:p>
        </p:txBody>
      </p:sp>
    </p:spTree>
    <p:extLst>
      <p:ext uri="{BB962C8B-B14F-4D97-AF65-F5344CB8AC3E}">
        <p14:creationId xmlns:p14="http://schemas.microsoft.com/office/powerpoint/2010/main" val="2585393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3"/>
          <p:cNvSpPr>
            <a:spLocks noGrp="1"/>
          </p:cNvSpPr>
          <p:nvPr>
            <p:ph type="ctrTitle"/>
          </p:nvPr>
        </p:nvSpPr>
        <p:spPr>
          <a:xfrm>
            <a:off x="273050" y="2565400"/>
            <a:ext cx="9359900" cy="1574800"/>
          </a:xfrm>
        </p:spPr>
        <p:txBody>
          <a:bodyPr/>
          <a:lstStyle/>
          <a:p>
            <a:r>
              <a:rPr lang="en-US" altLang="ko-KR" dirty="0"/>
              <a:t>C.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실습</a:t>
            </a:r>
            <a:r>
              <a:rPr lang="en-US" altLang="ko-KR" dirty="0"/>
              <a:t>) </a:t>
            </a:r>
            <a:r>
              <a:rPr lang="ko-KR" altLang="en-US" dirty="0"/>
              <a:t>예외 처리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86615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연습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“06-ExceptionHandling-P.sol” </a:t>
            </a:r>
            <a:r>
              <a:rPr lang="ko-KR" altLang="en-US" dirty="0"/>
              <a:t>파일의 연습문제들을 </a:t>
            </a:r>
            <a:r>
              <a:rPr lang="ko-KR" altLang="en-US" dirty="0" err="1"/>
              <a:t>해결하시오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86370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91866" y="2204864"/>
            <a:ext cx="5322269" cy="25056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3882</TotalTime>
  <Words>1481</Words>
  <Application>Microsoft Office PowerPoint</Application>
  <PresentationFormat>A4 용지(210x297mm)</PresentationFormat>
  <Paragraphs>230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20</vt:i4>
      </vt:variant>
    </vt:vector>
  </HeadingPairs>
  <TitlesOfParts>
    <vt:vector size="30" baseType="lpstr">
      <vt:lpstr>굴림</vt:lpstr>
      <vt:lpstr>나눔고딕</vt:lpstr>
      <vt:lpstr>맑은 고딕</vt:lpstr>
      <vt:lpstr>Arial</vt:lpstr>
      <vt:lpstr>Consolas</vt:lpstr>
      <vt:lpstr>Courier New</vt:lpstr>
      <vt:lpstr>Univers Condensed</vt:lpstr>
      <vt:lpstr>Wingdings</vt:lpstr>
      <vt:lpstr>기본 디자인</vt:lpstr>
      <vt:lpstr>디자인 사용자 지정</vt:lpstr>
      <vt:lpstr>3-10. (Lab) 예외 처리, 라이브러리, 상속</vt:lpstr>
      <vt:lpstr>순서</vt:lpstr>
      <vt:lpstr>A. 예외 처리</vt:lpstr>
      <vt:lpstr>예외 처리 및 상태 복원</vt:lpstr>
      <vt:lpstr>assert 함수</vt:lpstr>
      <vt:lpstr>require 함수</vt:lpstr>
      <vt:lpstr>revert 문장 및 함수</vt:lpstr>
      <vt:lpstr>try/catch</vt:lpstr>
      <vt:lpstr>B. 라이브러리 (Libraries)</vt:lpstr>
      <vt:lpstr>라이브러리 (Libraries)</vt:lpstr>
      <vt:lpstr>라이브러리 예시</vt:lpstr>
      <vt:lpstr>Using 키워드</vt:lpstr>
      <vt:lpstr>임포트 (import)</vt:lpstr>
      <vt:lpstr>C. 상속 (Inheritance)</vt:lpstr>
      <vt:lpstr>상속 (Inheritance)</vt:lpstr>
      <vt:lpstr>상속 (Inheritance)</vt:lpstr>
      <vt:lpstr>추상 컨트랙트와 인터페이스</vt:lpstr>
      <vt:lpstr>C. (실습) 예외 처리</vt:lpstr>
      <vt:lpstr>(연습)</vt:lpstr>
      <vt:lpstr>PowerPoint 프레젠테이션</vt:lpstr>
    </vt:vector>
  </TitlesOfParts>
  <Company>SDS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user</cp:lastModifiedBy>
  <cp:revision>120</cp:revision>
  <dcterms:created xsi:type="dcterms:W3CDTF">2011-01-27T23:33:23Z</dcterms:created>
  <dcterms:modified xsi:type="dcterms:W3CDTF">2025-03-29T05:45:02Z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5C58129F-E5B8-477A-9B38-B3E54BFA04C8}" pid="2">
    <vt:blob>PE5TQ1BIPgAAADYAMABDAEEAQgA5AEQAQgBFADMAOAAxAEYANAA5ADkANgBEADEAMAAwAEQAMABD
AEEAOQAxADUANABCADkARABDADcANQAxADUANgA1AEIAQwAxAEQANQBGADEAOQA3ADUAMQA4ADcA
OQBCADYAMABGADQAMQA5AEEAQQAyADYAAAA=</vt:blob>
  </property>
  <property fmtid="{D5CDD505-2E9C-101B-9397-08002B2CF9AE}" pid="2" name="FLCMData">
    <vt:lpwstr>2B6DB54876A7E7A49A5B3AB6B6042F62482DCF38C5130AC721DBD6324B318018BAE7F1B0DF3B9CD78176916D97C269836255A0A1C9FBCA599EAF2CDA2AD877A1</vt:lpwstr>
  </property>
</Properties>
</file>