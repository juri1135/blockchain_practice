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49" r:id="rId2"/>
  </p:sldMasterIdLst>
  <p:notesMasterIdLst>
    <p:notesMasterId r:id="rId19"/>
  </p:notesMasterIdLst>
  <p:sldIdLst>
    <p:sldId id="491" r:id="rId3"/>
    <p:sldId id="486" r:id="rId4"/>
    <p:sldId id="487" r:id="rId5"/>
    <p:sldId id="490" r:id="rId6"/>
    <p:sldId id="488" r:id="rId7"/>
    <p:sldId id="489" r:id="rId8"/>
    <p:sldId id="479" r:id="rId9"/>
    <p:sldId id="477" r:id="rId10"/>
    <p:sldId id="502" r:id="rId11"/>
    <p:sldId id="503" r:id="rId12"/>
    <p:sldId id="481" r:id="rId13"/>
    <p:sldId id="483" r:id="rId14"/>
    <p:sldId id="505" r:id="rId15"/>
    <p:sldId id="506" r:id="rId16"/>
    <p:sldId id="484" r:id="rId17"/>
    <p:sldId id="292" r:id="rId18"/>
  </p:sldIdLst>
  <p:sldSz cx="9906000" cy="6858000" type="A4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214">
          <p15:clr>
            <a:srgbClr val="A4A3A4"/>
          </p15:clr>
        </p15:guide>
        <p15:guide id="3" orient="horz" pos="618">
          <p15:clr>
            <a:srgbClr val="A4A3A4"/>
          </p15:clr>
        </p15:guide>
        <p15:guide id="4" orient="horz" pos="754">
          <p15:clr>
            <a:srgbClr val="A4A3A4"/>
          </p15:clr>
        </p15:guide>
        <p15:guide id="5" orient="horz" pos="3974">
          <p15:clr>
            <a:srgbClr val="A4A3A4"/>
          </p15:clr>
        </p15:guide>
        <p15:guide id="6" pos="3120">
          <p15:clr>
            <a:srgbClr val="A4A3A4"/>
          </p15:clr>
        </p15:guide>
        <p15:guide id="7" pos="6019">
          <p15:clr>
            <a:srgbClr val="A4A3A4"/>
          </p15:clr>
        </p15:guide>
        <p15:guide id="8" pos="221">
          <p15:clr>
            <a:srgbClr val="A4A3A4"/>
          </p15:clr>
        </p15:guide>
        <p15:guide id="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4">
          <p15:clr>
            <a:srgbClr val="A4A3A4"/>
          </p15:clr>
        </p15:guide>
        <p15:guide id="2" orient="horz" pos="5397">
          <p15:clr>
            <a:srgbClr val="A4A3A4"/>
          </p15:clr>
        </p15:guide>
        <p15:guide id="3" orient="horz" pos="544">
          <p15:clr>
            <a:srgbClr val="A4A3A4"/>
          </p15:clr>
        </p15:guide>
        <p15:guide id="4" orient="horz" pos="453">
          <p15:clr>
            <a:srgbClr val="A4A3A4"/>
          </p15:clr>
        </p15:guide>
        <p15:guide id="5" orient="horz" pos="3198">
          <p15:clr>
            <a:srgbClr val="A4A3A4"/>
          </p15:clr>
        </p15:guide>
        <p15:guide id="6" orient="horz" pos="1192">
          <p15:clr>
            <a:srgbClr val="A4A3A4"/>
          </p15:clr>
        </p15:guide>
        <p15:guide id="7" orient="horz">
          <p15:clr>
            <a:srgbClr val="A4A3A4"/>
          </p15:clr>
        </p15:guide>
        <p15:guide id="8" pos="436">
          <p15:clr>
            <a:srgbClr val="A4A3A4"/>
          </p15:clr>
        </p15:guide>
        <p15:guide id="9" pos="2161">
          <p15:clr>
            <a:srgbClr val="A4A3A4"/>
          </p15:clr>
        </p15:guide>
        <p15:guide id="10" pos="3997">
          <p15:clr>
            <a:srgbClr val="A4A3A4"/>
          </p15:clr>
        </p15:guide>
        <p15:guide id="11" pos="3884">
          <p15:clr>
            <a:srgbClr val="A4A3A4"/>
          </p15:clr>
        </p15:guide>
        <p15:guide id="12" pos="32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4E4E4"/>
    <a:srgbClr val="DDDDDD"/>
    <a:srgbClr val="FDFDFD"/>
    <a:srgbClr val="DAEDFD"/>
    <a:srgbClr val="48AE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89" autoAdjust="0"/>
    <p:restoredTop sz="94470" autoAdjust="0"/>
  </p:normalViewPr>
  <p:slideViewPr>
    <p:cSldViewPr>
      <p:cViewPr varScale="1">
        <p:scale>
          <a:sx n="156" d="100"/>
          <a:sy n="156" d="100"/>
        </p:scale>
        <p:origin x="1302" y="144"/>
      </p:cViewPr>
      <p:guideLst>
        <p:guide orient="horz" pos="2160"/>
        <p:guide orient="horz" pos="214"/>
        <p:guide orient="horz" pos="618"/>
        <p:guide orient="horz" pos="754"/>
        <p:guide orient="horz" pos="3974"/>
        <p:guide pos="3120"/>
        <p:guide pos="6019"/>
        <p:guide pos="221"/>
        <p:guide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4344"/>
    </p:cViewPr>
  </p:sorterViewPr>
  <p:notesViewPr>
    <p:cSldViewPr>
      <p:cViewPr varScale="1">
        <p:scale>
          <a:sx n="104" d="100"/>
          <a:sy n="104" d="100"/>
        </p:scale>
        <p:origin x="2946" y="126"/>
      </p:cViewPr>
      <p:guideLst>
        <p:guide orient="horz" pos="3084"/>
        <p:guide orient="horz" pos="5397"/>
        <p:guide orient="horz" pos="544"/>
        <p:guide orient="horz" pos="453"/>
        <p:guide orient="horz" pos="3198"/>
        <p:guide orient="horz" pos="1192"/>
        <p:guide orient="horz"/>
        <p:guide pos="436"/>
        <p:guide pos="2161"/>
        <p:guide pos="3997"/>
        <p:guide pos="3884"/>
        <p:guide pos="323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512763" y="863600"/>
            <a:ext cx="5832475" cy="4038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2150" y="5076825"/>
            <a:ext cx="5473700" cy="3490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endParaRPr lang="en-US" altLang="ko-KR" noProof="0"/>
          </a:p>
        </p:txBody>
      </p:sp>
      <p:sp>
        <p:nvSpPr>
          <p:cNvPr id="4100" name="Line 38"/>
          <p:cNvSpPr>
            <a:spLocks noChangeShapeType="1"/>
          </p:cNvSpPr>
          <p:nvPr/>
        </p:nvSpPr>
        <p:spPr bwMode="auto">
          <a:xfrm>
            <a:off x="512763" y="719138"/>
            <a:ext cx="5832475" cy="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4341" name="Text Box 39"/>
          <p:cNvSpPr txBox="1">
            <a:spLocks noChangeArrowheads="1"/>
          </p:cNvSpPr>
          <p:nvPr/>
        </p:nvSpPr>
        <p:spPr bwMode="auto">
          <a:xfrm>
            <a:off x="441325" y="515938"/>
            <a:ext cx="3424238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ko-KR" altLang="en-US" sz="900" dirty="0" err="1">
                <a:latin typeface="Univers Condensed" pitchFamily="34" charset="0"/>
                <a:ea typeface="맑은 고딕" panose="020B0503020000020004" pitchFamily="50" charset="-127"/>
              </a:rPr>
              <a:t>과정명</a:t>
            </a:r>
            <a:r>
              <a:rPr lang="en-US" altLang="ko-KR" sz="900" dirty="0">
                <a:latin typeface="Univers Condensed" pitchFamily="34" charset="0"/>
                <a:ea typeface="맑은 고딕" panose="020B0503020000020004" pitchFamily="50" charset="-127"/>
              </a:rPr>
              <a:t>......</a:t>
            </a:r>
          </a:p>
        </p:txBody>
      </p:sp>
      <p:sp>
        <p:nvSpPr>
          <p:cNvPr id="3112" name="Rectangle 40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944688" y="8567738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025C4DC-F23E-4392-86C6-C88720889732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  <p:grpSp>
        <p:nvGrpSpPr>
          <p:cNvPr id="4103" name="Group 60"/>
          <p:cNvGrpSpPr>
            <a:grpSpLocks/>
          </p:cNvGrpSpPr>
          <p:nvPr/>
        </p:nvGrpSpPr>
        <p:grpSpPr bwMode="auto">
          <a:xfrm>
            <a:off x="760413" y="5240338"/>
            <a:ext cx="5241925" cy="2984500"/>
            <a:chOff x="479" y="3301"/>
            <a:chExt cx="3302" cy="1880"/>
          </a:xfrm>
        </p:grpSpPr>
        <p:pic>
          <p:nvPicPr>
            <p:cNvPr id="4104" name="Picture 11" descr="21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" y="3301"/>
              <a:ext cx="488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105" name="Group 59"/>
            <p:cNvGrpSpPr>
              <a:grpSpLocks/>
            </p:cNvGrpSpPr>
            <p:nvPr/>
          </p:nvGrpSpPr>
          <p:grpSpPr bwMode="auto">
            <a:xfrm>
              <a:off x="527" y="3454"/>
              <a:ext cx="3254" cy="1727"/>
              <a:chOff x="589" y="3454"/>
              <a:chExt cx="3254" cy="1727"/>
            </a:xfrm>
          </p:grpSpPr>
          <p:sp>
            <p:nvSpPr>
              <p:cNvPr id="4106" name="Line 12"/>
              <p:cNvSpPr>
                <a:spLocks noChangeShapeType="1"/>
              </p:cNvSpPr>
              <p:nvPr/>
            </p:nvSpPr>
            <p:spPr bwMode="auto">
              <a:xfrm>
                <a:off x="1092" y="3454"/>
                <a:ext cx="2751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07" name="Line 13"/>
              <p:cNvSpPr>
                <a:spLocks noChangeShapeType="1"/>
              </p:cNvSpPr>
              <p:nvPr/>
            </p:nvSpPr>
            <p:spPr bwMode="auto">
              <a:xfrm>
                <a:off x="589" y="3669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08" name="Line 14"/>
              <p:cNvSpPr>
                <a:spLocks noChangeShapeType="1"/>
              </p:cNvSpPr>
              <p:nvPr/>
            </p:nvSpPr>
            <p:spPr bwMode="auto">
              <a:xfrm>
                <a:off x="589" y="3886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09" name="Line 15"/>
              <p:cNvSpPr>
                <a:spLocks noChangeShapeType="1"/>
              </p:cNvSpPr>
              <p:nvPr/>
            </p:nvSpPr>
            <p:spPr bwMode="auto">
              <a:xfrm>
                <a:off x="589" y="4102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10" name="Line 16"/>
              <p:cNvSpPr>
                <a:spLocks noChangeShapeType="1"/>
              </p:cNvSpPr>
              <p:nvPr/>
            </p:nvSpPr>
            <p:spPr bwMode="auto">
              <a:xfrm>
                <a:off x="589" y="4317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11" name="Line 17"/>
              <p:cNvSpPr>
                <a:spLocks noChangeShapeType="1"/>
              </p:cNvSpPr>
              <p:nvPr/>
            </p:nvSpPr>
            <p:spPr bwMode="auto">
              <a:xfrm>
                <a:off x="589" y="4533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12" name="Line 18"/>
              <p:cNvSpPr>
                <a:spLocks noChangeShapeType="1"/>
              </p:cNvSpPr>
              <p:nvPr/>
            </p:nvSpPr>
            <p:spPr bwMode="auto">
              <a:xfrm>
                <a:off x="589" y="4749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13" name="Line 19"/>
              <p:cNvSpPr>
                <a:spLocks noChangeShapeType="1"/>
              </p:cNvSpPr>
              <p:nvPr/>
            </p:nvSpPr>
            <p:spPr bwMode="auto">
              <a:xfrm>
                <a:off x="589" y="4965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14" name="Line 20"/>
              <p:cNvSpPr>
                <a:spLocks noChangeShapeType="1"/>
              </p:cNvSpPr>
              <p:nvPr/>
            </p:nvSpPr>
            <p:spPr bwMode="auto">
              <a:xfrm>
                <a:off x="589" y="5181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notesStyle>
    <a:lvl1pPr marL="165100" indent="-165100" algn="l" rtl="0" eaLnBrk="0" fontAlgn="base" latinLnBrk="1" hangingPunct="0">
      <a:lnSpc>
        <a:spcPct val="120000"/>
      </a:lnSpc>
      <a:spcBef>
        <a:spcPct val="50000"/>
      </a:spcBef>
      <a:spcAft>
        <a:spcPct val="0"/>
      </a:spcAft>
      <a:buFont typeface="나눔고딕" pitchFamily="50" charset="-127"/>
      <a:buChar char="■"/>
      <a:defRPr kumimoji="1" sz="10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304800" indent="-138113" algn="l" rtl="0" eaLnBrk="0" fontAlgn="base" latinLnBrk="1" hangingPunct="0">
      <a:lnSpc>
        <a:spcPct val="120000"/>
      </a:lnSpc>
      <a:spcBef>
        <a:spcPct val="50000"/>
      </a:spcBef>
      <a:spcAft>
        <a:spcPct val="0"/>
      </a:spcAft>
      <a:buFont typeface="Wingdings" panose="05000000000000000000" pitchFamily="2" charset="2"/>
      <a:buChar char="§"/>
      <a:defRPr kumimoji="1" sz="9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419100" indent="-112713" algn="l" rtl="0" eaLnBrk="0" fontAlgn="base" latinLnBrk="1" hangingPunct="0">
      <a:lnSpc>
        <a:spcPct val="120000"/>
      </a:lnSpc>
      <a:spcBef>
        <a:spcPct val="50000"/>
      </a:spcBef>
      <a:spcAft>
        <a:spcPct val="0"/>
      </a:spcAft>
      <a:buFont typeface="맑은 고딕" panose="020B0503020000020004" pitchFamily="50" charset="-127"/>
      <a:buChar char="–"/>
      <a:defRPr kumimoji="1" sz="9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600200" indent="-228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2057400" indent="-228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속간지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7F1A589F-322F-4FBB-A7F4-8E4171BE52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472" y="764704"/>
            <a:ext cx="9505056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18B47862-13CA-4396-9130-880F20C85D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2560" y="3886200"/>
            <a:ext cx="7920880" cy="1752600"/>
          </a:xfrm>
        </p:spPr>
        <p:txBody>
          <a:bodyPr anchor="ctr"/>
          <a:lstStyle>
            <a:lvl1pPr marL="0" indent="0" algn="ctr">
              <a:buFont typeface="+mj-lt"/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010593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908024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83666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63538" y="1192213"/>
            <a:ext cx="4519612" cy="511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192213"/>
            <a:ext cx="4519613" cy="511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976062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30888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158785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4017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384660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411026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949041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254875" y="339725"/>
            <a:ext cx="2300288" cy="59690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50838" y="339725"/>
            <a:ext cx="6751637" cy="59690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890426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6" descr="140917템플릿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960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72480" y="2564904"/>
            <a:ext cx="9361040" cy="1575048"/>
          </a:xfrm>
        </p:spPr>
        <p:txBody>
          <a:bodyPr lIns="91429" tIns="45715" rIns="91429" bIns="45715" anchor="ctr"/>
          <a:lstStyle>
            <a:lvl1pPr algn="ctr">
              <a:defRPr sz="4000">
                <a:solidFill>
                  <a:srgbClr val="003366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05161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892056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592795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8219889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065495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87252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2418780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9432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858026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989611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9756743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18543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140917템플릿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6075" y="115888"/>
            <a:ext cx="8915400" cy="60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57188" y="1160463"/>
            <a:ext cx="9191625" cy="5116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32" r:id="rId12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나눔고딕" pitchFamily="50" charset="-127"/>
          <a:ea typeface="나눔고딕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나눔고딕" pitchFamily="50" charset="-127"/>
          <a:ea typeface="나눔고딕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나눔고딕" pitchFamily="50" charset="-127"/>
          <a:ea typeface="나눔고딕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나눔고딕" pitchFamily="50" charset="-127"/>
          <a:ea typeface="나눔고딕" pitchFamily="50" charset="-127"/>
        </a:defRPr>
      </a:lvl9pPr>
    </p:titleStyle>
    <p:bodyStyle>
      <a:lvl1pPr marL="258763" indent="-258763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SzPct val="80000"/>
        <a:buFont typeface="Wingdings" panose="05000000000000000000" pitchFamily="2" charset="2"/>
        <a:buBlip>
          <a:blip r:embed="rId15"/>
        </a:buBlip>
        <a:defRPr kumimoji="1" sz="20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498475" indent="-238125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Font typeface="Wingdings" panose="05000000000000000000" pitchFamily="2" charset="2"/>
        <a:buChar char="§"/>
        <a:defRPr kumimoji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marL="763588" indent="-263525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 kumimoji="1" sz="16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marL="1014413" indent="-239713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solidity-by-example.org/" TargetMode="External"/><Relationship Id="rId3" Type="http://schemas.openxmlformats.org/officeDocument/2006/relationships/hyperlink" Target="https://ethereum.org/en/developers/docs/" TargetMode="External"/><Relationship Id="rId7" Type="http://schemas.openxmlformats.org/officeDocument/2006/relationships/hyperlink" Target="https://docs.soliditylang.org/en/latest/" TargetMode="External"/><Relationship Id="rId2" Type="http://schemas.openxmlformats.org/officeDocument/2006/relationships/hyperlink" Target="https://ethereum.org/en/developer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thereum.org/en/developers/local-environment/" TargetMode="External"/><Relationship Id="rId5" Type="http://schemas.openxmlformats.org/officeDocument/2006/relationships/hyperlink" Target="https://ethereum.org/en/developers/learning-tools/" TargetMode="External"/><Relationship Id="rId10" Type="http://schemas.openxmlformats.org/officeDocument/2006/relationships/hyperlink" Target="https://hardhat.org/tutorial" TargetMode="External"/><Relationship Id="rId4" Type="http://schemas.openxmlformats.org/officeDocument/2006/relationships/hyperlink" Target="https://ethereum.org/en/developers/tutorials/" TargetMode="External"/><Relationship Id="rId9" Type="http://schemas.openxmlformats.org/officeDocument/2006/relationships/hyperlink" Target="https://github.com/OpenZeppelin/openzeppelin-contracts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remix.ethereum.org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3-7. </a:t>
            </a:r>
            <a:r>
              <a:rPr lang="en-US" altLang="ko-KR"/>
              <a:t>(Lab) </a:t>
            </a:r>
            <a:r>
              <a:rPr lang="en-US" altLang="ko-KR" dirty="0"/>
              <a:t>Introduction and Environment Setup</a:t>
            </a:r>
            <a:endParaRPr lang="ko-KR" altLang="en-US" dirty="0"/>
          </a:p>
        </p:txBody>
      </p:sp>
      <p:sp>
        <p:nvSpPr>
          <p:cNvPr id="5123" name="부제목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ko-KR" altLang="en-US" dirty="0"/>
              <a:t>한양대학교 </a:t>
            </a:r>
            <a:r>
              <a:rPr lang="ko-KR" altLang="en-US" dirty="0" err="1"/>
              <a:t>컴퓨터소프트웨어학부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 algn="ctr">
              <a:buNone/>
            </a:pPr>
            <a:r>
              <a:rPr lang="ko-KR" altLang="en-US" dirty="0"/>
              <a:t>유민수 교수</a:t>
            </a:r>
            <a:endParaRPr lang="en-US" altLang="ko-K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6F952F-F54D-421E-A814-9CE4AF921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순서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4A4792-48EF-4AAF-B67C-9F5298512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ko-KR" altLang="en-US" dirty="0" err="1"/>
              <a:t>컨트랙트</a:t>
            </a:r>
            <a:r>
              <a:rPr lang="ko-KR" altLang="en-US" dirty="0"/>
              <a:t> 구성</a:t>
            </a:r>
            <a:endParaRPr lang="en-US" altLang="ko-KR" dirty="0"/>
          </a:p>
          <a:p>
            <a:pPr marL="457200" indent="-457200">
              <a:buFont typeface="+mj-lt"/>
              <a:buAutoNum type="alphaUcPeriod"/>
            </a:pPr>
            <a:r>
              <a:rPr lang="en-US" altLang="ko-KR" dirty="0"/>
              <a:t>(</a:t>
            </a:r>
            <a:r>
              <a:rPr lang="ko-KR" altLang="en-US" dirty="0"/>
              <a:t>실습</a:t>
            </a:r>
            <a:r>
              <a:rPr lang="en-US" altLang="ko-KR" dirty="0"/>
              <a:t>) </a:t>
            </a:r>
            <a:r>
              <a:rPr lang="ko-KR" altLang="en-US" dirty="0"/>
              <a:t>환경 설정 및 </a:t>
            </a:r>
            <a:r>
              <a:rPr lang="en-US" altLang="ko-KR" dirty="0"/>
              <a:t>Remix </a:t>
            </a:r>
            <a:r>
              <a:rPr lang="ko-KR" altLang="en-US" dirty="0"/>
              <a:t>사용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참고자료</a:t>
            </a:r>
            <a:endParaRPr lang="en-US" altLang="ko-KR" dirty="0"/>
          </a:p>
          <a:p>
            <a:pPr lvl="1"/>
            <a:r>
              <a:rPr lang="en-US" altLang="ko-KR" dirty="0"/>
              <a:t>Ethereum Developer Resources: </a:t>
            </a:r>
            <a:r>
              <a:rPr lang="en-US" altLang="ko-KR" dirty="0">
                <a:hlinkClick r:id="rId2"/>
              </a:rPr>
              <a:t>https://ethereum.org/en/developers/</a:t>
            </a:r>
            <a:endParaRPr lang="en-US" altLang="ko-KR" dirty="0"/>
          </a:p>
          <a:p>
            <a:pPr lvl="2"/>
            <a:r>
              <a:rPr lang="en-US" altLang="ko-KR" dirty="0"/>
              <a:t>Ethereum Developer Documentation: </a:t>
            </a:r>
            <a:r>
              <a:rPr lang="en-US" altLang="ko-KR" dirty="0">
                <a:hlinkClick r:id="rId3"/>
              </a:rPr>
              <a:t>https://ethereum.org/en/developers/docs/</a:t>
            </a:r>
            <a:endParaRPr lang="en-US" altLang="ko-KR" dirty="0"/>
          </a:p>
          <a:p>
            <a:pPr lvl="2"/>
            <a:r>
              <a:rPr lang="en-US" altLang="ko-KR" dirty="0"/>
              <a:t>Ethereum Development Tutorials: </a:t>
            </a:r>
            <a:r>
              <a:rPr lang="en-US" altLang="ko-KR" dirty="0">
                <a:hlinkClick r:id="rId4"/>
              </a:rPr>
              <a:t>https://ethereum.org/en/developers/tutorials/</a:t>
            </a:r>
            <a:endParaRPr lang="en-US" altLang="ko-KR" dirty="0"/>
          </a:p>
          <a:p>
            <a:pPr lvl="2"/>
            <a:r>
              <a:rPr lang="en-US" altLang="ko-KR" dirty="0"/>
              <a:t>Learn by Coding: </a:t>
            </a:r>
            <a:r>
              <a:rPr lang="en-US" altLang="ko-KR" dirty="0">
                <a:hlinkClick r:id="rId5"/>
              </a:rPr>
              <a:t>https://ethereum.org/en/developers/learning-tools/</a:t>
            </a:r>
            <a:endParaRPr lang="en-US" altLang="ko-KR" dirty="0"/>
          </a:p>
          <a:p>
            <a:pPr lvl="2"/>
            <a:r>
              <a:rPr lang="en-US" altLang="ko-KR" dirty="0"/>
              <a:t>Local Environment: </a:t>
            </a:r>
            <a:r>
              <a:rPr lang="en-US" altLang="ko-KR" dirty="0">
                <a:hlinkClick r:id="rId6"/>
              </a:rPr>
              <a:t>https://ethereum.org/en/developers/local-environment/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srgbClr val="C00000"/>
                </a:solidFill>
              </a:rPr>
              <a:t>Solidity Language:</a:t>
            </a:r>
            <a:r>
              <a:rPr lang="en-US" altLang="ko-KR" dirty="0"/>
              <a:t> </a:t>
            </a:r>
            <a:r>
              <a:rPr lang="en-US" altLang="ko-KR" dirty="0">
                <a:hlinkClick r:id="rId7"/>
              </a:rPr>
              <a:t>https://docs.soliditylang.org/en/latest/</a:t>
            </a:r>
            <a:endParaRPr lang="en-US" altLang="ko-KR" dirty="0"/>
          </a:p>
          <a:p>
            <a:pPr lvl="2"/>
            <a:r>
              <a:rPr lang="en-US" altLang="ko-KR" dirty="0">
                <a:hlinkClick r:id="rId8"/>
              </a:rPr>
              <a:t>https://solidity-by-example.org/</a:t>
            </a:r>
            <a:endParaRPr lang="en-US" altLang="ko-KR" dirty="0"/>
          </a:p>
          <a:p>
            <a:pPr lvl="2"/>
            <a:r>
              <a:rPr lang="en-US" altLang="ko-KR" dirty="0">
                <a:hlinkClick r:id="rId9"/>
              </a:rPr>
              <a:t>https://github.com/OpenZeppelin/openzeppelin-contracts</a:t>
            </a:r>
            <a:endParaRPr lang="en-US" altLang="ko-KR" dirty="0"/>
          </a:p>
          <a:p>
            <a:pPr lvl="1"/>
            <a:r>
              <a:rPr lang="en-US" altLang="ko-KR" dirty="0"/>
              <a:t>Hardhat Tutorial: </a:t>
            </a:r>
            <a:r>
              <a:rPr lang="en-US" altLang="ko-KR" dirty="0">
                <a:hlinkClick r:id="rId10"/>
              </a:rPr>
              <a:t>https://hardhat.org/tutorial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7166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3"/>
          <p:cNvSpPr>
            <a:spLocks noGrp="1"/>
          </p:cNvSpPr>
          <p:nvPr>
            <p:ph type="ctrTitle"/>
          </p:nvPr>
        </p:nvSpPr>
        <p:spPr>
          <a:xfrm>
            <a:off x="273050" y="2565400"/>
            <a:ext cx="9359900" cy="1574800"/>
          </a:xfrm>
        </p:spPr>
        <p:txBody>
          <a:bodyPr/>
          <a:lstStyle/>
          <a:p>
            <a:r>
              <a:rPr lang="en-US" altLang="ko-KR" dirty="0"/>
              <a:t>A. </a:t>
            </a:r>
            <a:r>
              <a:rPr lang="ko-KR" altLang="en-US" dirty="0" err="1"/>
              <a:t>컨트랙트</a:t>
            </a:r>
            <a:r>
              <a:rPr lang="en-US" altLang="ko-KR" dirty="0"/>
              <a:t> </a:t>
            </a:r>
            <a:r>
              <a:rPr lang="ko-KR" altLang="en-US" dirty="0"/>
              <a:t>구성</a:t>
            </a:r>
          </a:p>
        </p:txBody>
      </p:sp>
    </p:spTree>
    <p:extLst>
      <p:ext uri="{BB962C8B-B14F-4D97-AF65-F5344CB8AC3E}">
        <p14:creationId xmlns:p14="http://schemas.microsoft.com/office/powerpoint/2010/main" val="2270877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C89DD-0468-4F43-BF31-9A8B69156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컨트랙트</a:t>
            </a:r>
            <a:r>
              <a:rPr lang="ko-KR" altLang="en-US" dirty="0"/>
              <a:t> 예시 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213627-418C-4A58-A2BE-9F541E13B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dirty="0"/>
              <a:t>// </a:t>
            </a:r>
            <a:r>
              <a:rPr lang="en-US" altLang="ko-KR" dirty="0">
                <a:solidFill>
                  <a:srgbClr val="0070C0"/>
                </a:solidFill>
              </a:rPr>
              <a:t>SPDX-License-Identifier</a:t>
            </a:r>
            <a:r>
              <a:rPr lang="en-US" altLang="ko-KR" dirty="0"/>
              <a:t>: GPL-3.0</a:t>
            </a:r>
          </a:p>
          <a:p>
            <a:pPr marL="0" indent="0">
              <a:buNone/>
            </a:pPr>
            <a:r>
              <a:rPr lang="en-US" altLang="ko-KR" dirty="0">
                <a:solidFill>
                  <a:srgbClr val="0070C0"/>
                </a:solidFill>
              </a:rPr>
              <a:t>pragma</a:t>
            </a:r>
            <a:r>
              <a:rPr lang="en-US" altLang="ko-KR" dirty="0"/>
              <a:t> solidity &gt;=0.4.0 &lt;0.9.0;</a:t>
            </a:r>
          </a:p>
          <a:p>
            <a:pPr marL="0" indent="0">
              <a:buNone/>
            </a:pPr>
            <a:r>
              <a:rPr lang="en-US" altLang="ko-KR" dirty="0">
                <a:solidFill>
                  <a:srgbClr val="0070C0"/>
                </a:solidFill>
              </a:rPr>
              <a:t>import</a:t>
            </a:r>
            <a:r>
              <a:rPr lang="en-US" altLang="ko-KR" dirty="0"/>
              <a:t> “./</a:t>
            </a:r>
            <a:r>
              <a:rPr lang="en-US" altLang="ko-KR" dirty="0" err="1"/>
              <a:t>ExternalData.sol</a:t>
            </a:r>
            <a:r>
              <a:rPr lang="en-US" altLang="ko-KR" dirty="0"/>
              <a:t>";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>
                <a:solidFill>
                  <a:srgbClr val="0070C0"/>
                </a:solidFill>
              </a:rPr>
              <a:t>contract</a:t>
            </a:r>
            <a:r>
              <a:rPr lang="en-US" altLang="ko-KR" dirty="0"/>
              <a:t> </a:t>
            </a:r>
            <a:r>
              <a:rPr lang="en-US" altLang="ko-KR" dirty="0" err="1"/>
              <a:t>SimpleStorage</a:t>
            </a:r>
            <a:r>
              <a:rPr lang="en-US" altLang="ko-KR" dirty="0"/>
              <a:t> {</a:t>
            </a:r>
          </a:p>
          <a:p>
            <a:pPr marL="0" indent="0">
              <a:buNone/>
            </a:pPr>
            <a:r>
              <a:rPr lang="en-US" altLang="ko-KR" dirty="0"/>
              <a:t>    </a:t>
            </a:r>
            <a:r>
              <a:rPr lang="en-US" altLang="ko-KR" dirty="0" err="1"/>
              <a:t>uint</a:t>
            </a:r>
            <a:r>
              <a:rPr lang="en-US" altLang="ko-KR" dirty="0"/>
              <a:t> </a:t>
            </a:r>
            <a:r>
              <a:rPr lang="en-US" altLang="ko-KR" dirty="0" err="1"/>
              <a:t>storedData</a:t>
            </a:r>
            <a:r>
              <a:rPr lang="en-US" altLang="ko-KR" dirty="0"/>
              <a:t>; // State variable</a:t>
            </a:r>
          </a:p>
          <a:p>
            <a:pPr marL="0" indent="0">
              <a:buNone/>
            </a:pPr>
            <a:r>
              <a:rPr lang="en-US" altLang="ko-KR" dirty="0"/>
              <a:t>    // ...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function increase() public payable { // Function</a:t>
            </a:r>
          </a:p>
          <a:p>
            <a:pPr marL="0" indent="0">
              <a:buNone/>
            </a:pPr>
            <a:r>
              <a:rPr lang="en-US" altLang="ko-KR" dirty="0"/>
              <a:t>        unit</a:t>
            </a:r>
            <a:r>
              <a:rPr lang="ko-KR" altLang="en-US" dirty="0"/>
              <a:t> </a:t>
            </a:r>
            <a:r>
              <a:rPr lang="en-US" altLang="ko-KR" dirty="0" err="1"/>
              <a:t>tempData</a:t>
            </a:r>
            <a:r>
              <a:rPr lang="en-US" altLang="ko-KR" dirty="0"/>
              <a:t>;</a:t>
            </a:r>
          </a:p>
          <a:p>
            <a:pPr marL="0" indent="0">
              <a:buNone/>
            </a:pPr>
            <a:r>
              <a:rPr lang="en-US" altLang="ko-KR" dirty="0"/>
              <a:t>        // ...</a:t>
            </a:r>
          </a:p>
          <a:p>
            <a:pPr marL="0" indent="0">
              <a:buNone/>
            </a:pPr>
            <a:r>
              <a:rPr lang="en-US" altLang="ko-KR" dirty="0"/>
              <a:t>    }</a:t>
            </a:r>
          </a:p>
          <a:p>
            <a:pPr marL="0" indent="0">
              <a:buNone/>
            </a:pPr>
            <a:r>
              <a:rPr lang="en-US" altLang="ko-KR" dirty="0"/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3947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컨트랙트</a:t>
            </a:r>
            <a:r>
              <a:rPr lang="ko-KR" altLang="en-US" dirty="0"/>
              <a:t> 예시 </a:t>
            </a:r>
            <a:r>
              <a:rPr lang="en-US" altLang="ko-KR" dirty="0"/>
              <a:t>(2/3)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/>
              <a:t>SPDX License Identifier</a:t>
            </a:r>
          </a:p>
          <a:p>
            <a:pPr lvl="1"/>
            <a:r>
              <a:rPr lang="en-US" altLang="ko-KR" dirty="0"/>
              <a:t>SPDX (Software Package Data Exchange)</a:t>
            </a:r>
            <a:r>
              <a:rPr lang="ko-KR" altLang="en-US" dirty="0"/>
              <a:t>는 라이선스</a:t>
            </a:r>
            <a:r>
              <a:rPr lang="en-US" altLang="ko-KR" dirty="0"/>
              <a:t>, </a:t>
            </a:r>
            <a:r>
              <a:rPr lang="ko-KR" altLang="en-US" dirty="0"/>
              <a:t>보안 정보</a:t>
            </a:r>
            <a:r>
              <a:rPr lang="en-US" altLang="ko-KR" dirty="0"/>
              <a:t>, </a:t>
            </a:r>
            <a:r>
              <a:rPr lang="ko-KR" altLang="en-US" dirty="0"/>
              <a:t>패키지 메타데이터를 </a:t>
            </a:r>
            <a:r>
              <a:rPr lang="ko-KR" altLang="en-US" dirty="0" err="1"/>
              <a:t>표준화하여</a:t>
            </a:r>
            <a:r>
              <a:rPr lang="ko-KR" altLang="en-US" dirty="0"/>
              <a:t> 관리하는 오픈 표준</a:t>
            </a:r>
            <a:endParaRPr lang="en-US" altLang="ko-KR" dirty="0"/>
          </a:p>
          <a:p>
            <a:pPr lvl="1"/>
            <a:r>
              <a:rPr lang="ko-KR" altLang="en-US" dirty="0"/>
              <a:t>예</a:t>
            </a:r>
            <a:r>
              <a:rPr lang="en-US" altLang="ko-KR" dirty="0"/>
              <a:t>) // SPDX-License-Identifier: MIT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Pragma</a:t>
            </a:r>
          </a:p>
          <a:p>
            <a:pPr lvl="1"/>
            <a:r>
              <a:rPr lang="ko-KR" altLang="en-US" dirty="0"/>
              <a:t>컴파일러 지시자 </a:t>
            </a:r>
            <a:r>
              <a:rPr lang="en-US" altLang="ko-KR" dirty="0"/>
              <a:t>(</a:t>
            </a:r>
            <a:r>
              <a:rPr lang="ko-KR" altLang="en-US" dirty="0"/>
              <a:t>해당 소스 파일에만 적용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Version Pragma</a:t>
            </a:r>
          </a:p>
          <a:p>
            <a:pPr lvl="2"/>
            <a:r>
              <a:rPr lang="ko-KR" altLang="en-US" dirty="0"/>
              <a:t>예</a:t>
            </a:r>
            <a:r>
              <a:rPr lang="en-US" altLang="ko-KR" dirty="0"/>
              <a:t>) pragma solidity ^0.5.2;</a:t>
            </a:r>
          </a:p>
          <a:p>
            <a:pPr lvl="1"/>
            <a:r>
              <a:rPr lang="en-US" altLang="ko-KR" dirty="0"/>
              <a:t>ABI Coder Pragma</a:t>
            </a:r>
          </a:p>
          <a:p>
            <a:pPr lvl="2"/>
            <a:r>
              <a:rPr lang="ko-KR" altLang="en-US" dirty="0"/>
              <a:t>예</a:t>
            </a:r>
            <a:r>
              <a:rPr lang="en-US" altLang="ko-KR" dirty="0"/>
              <a:t>) pragma </a:t>
            </a:r>
            <a:r>
              <a:rPr lang="en-US" altLang="ko-KR" dirty="0" err="1"/>
              <a:t>abicoder</a:t>
            </a:r>
            <a:r>
              <a:rPr lang="en-US" altLang="ko-KR" dirty="0"/>
              <a:t> v2;</a:t>
            </a:r>
          </a:p>
          <a:p>
            <a:pPr lvl="2"/>
            <a:r>
              <a:rPr lang="en-US" altLang="ko-KR" dirty="0"/>
              <a:t>ABI (Application Binary Interface)</a:t>
            </a:r>
            <a:r>
              <a:rPr lang="ko-KR" altLang="en-US" dirty="0"/>
              <a:t>는 블록체인 외부 또는 </a:t>
            </a:r>
            <a:r>
              <a:rPr lang="en-US" altLang="ko-KR" dirty="0"/>
              <a:t>Contract </a:t>
            </a:r>
            <a:r>
              <a:rPr lang="ko-KR" altLang="en-US" dirty="0"/>
              <a:t>간 상호 작용을 위해 </a:t>
            </a:r>
            <a:r>
              <a:rPr lang="en-US" altLang="ko-KR" dirty="0"/>
              <a:t>EVM</a:t>
            </a:r>
            <a:r>
              <a:rPr lang="ko-KR" altLang="en-US" dirty="0"/>
              <a:t>의 </a:t>
            </a:r>
            <a:r>
              <a:rPr lang="en-US" altLang="ko-KR" dirty="0"/>
              <a:t>Contract</a:t>
            </a:r>
            <a:r>
              <a:rPr lang="ko-KR" altLang="en-US" dirty="0"/>
              <a:t>와 상호작용하는 표준 방법</a:t>
            </a:r>
            <a:endParaRPr lang="en-US" altLang="ko-KR" dirty="0"/>
          </a:p>
          <a:p>
            <a:pPr lvl="2"/>
            <a:r>
              <a:rPr lang="en-US" altLang="ko-KR" dirty="0"/>
              <a:t>The new ABI coder (v2) is able to encode and decode arbitrarily nested arrays and structs</a:t>
            </a:r>
          </a:p>
          <a:p>
            <a:pPr lvl="1"/>
            <a:r>
              <a:rPr lang="en-US" altLang="ko-KR" dirty="0"/>
              <a:t>ABIEncoderV2 </a:t>
            </a:r>
          </a:p>
          <a:p>
            <a:pPr lvl="2"/>
            <a:r>
              <a:rPr lang="en-US" altLang="ko-KR" dirty="0"/>
              <a:t>Experimental</a:t>
            </a:r>
            <a:r>
              <a:rPr lang="ko-KR" altLang="en-US" dirty="0"/>
              <a:t> </a:t>
            </a:r>
            <a:r>
              <a:rPr lang="en-US" altLang="ko-KR" dirty="0"/>
              <a:t>pragma</a:t>
            </a:r>
          </a:p>
          <a:p>
            <a:pPr lvl="1"/>
            <a:r>
              <a:rPr lang="en-US" altLang="ko-KR" dirty="0" err="1"/>
              <a:t>SMTChecker</a:t>
            </a:r>
            <a:endParaRPr lang="en-US" altLang="ko-KR" dirty="0"/>
          </a:p>
          <a:p>
            <a:pPr lvl="2"/>
            <a:r>
              <a:rPr lang="en-US" altLang="ko-KR" dirty="0"/>
              <a:t>not available in all Solidity binaries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5118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422017-0A2C-411B-81CA-CF18403E9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컨트랙트</a:t>
            </a:r>
            <a:r>
              <a:rPr lang="ko-KR" altLang="en-US" dirty="0"/>
              <a:t> 예시 </a:t>
            </a:r>
            <a:r>
              <a:rPr lang="en-US" altLang="ko-KR" dirty="0"/>
              <a:t>(3/3)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2A8C26-3319-44B1-AB33-7A4170E42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Importing Source Files</a:t>
            </a:r>
          </a:p>
          <a:p>
            <a:pPr lvl="1"/>
            <a:r>
              <a:rPr lang="ko-KR" altLang="en-US" dirty="0"/>
              <a:t>파일의 글로벌 심볼을 현재 </a:t>
            </a:r>
            <a:r>
              <a:rPr lang="ko-KR" altLang="en-US" dirty="0" err="1"/>
              <a:t>컨트랙트의</a:t>
            </a:r>
            <a:r>
              <a:rPr lang="ko-KR" altLang="en-US" dirty="0"/>
              <a:t> 글로벌 범위</a:t>
            </a:r>
            <a:r>
              <a:rPr lang="en-US" altLang="ko-KR" dirty="0"/>
              <a:t>(global</a:t>
            </a:r>
            <a:r>
              <a:rPr lang="ko-KR" altLang="en-US" dirty="0"/>
              <a:t> </a:t>
            </a:r>
            <a:r>
              <a:rPr lang="en-US" altLang="ko-KR" dirty="0"/>
              <a:t>scope)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가져오기</a:t>
            </a:r>
            <a:endParaRPr lang="en-US" altLang="ko-KR" dirty="0"/>
          </a:p>
          <a:p>
            <a:pPr lvl="2"/>
            <a:r>
              <a:rPr lang="ko-KR" altLang="en-US" dirty="0"/>
              <a:t>예</a:t>
            </a:r>
            <a:r>
              <a:rPr lang="en-US" altLang="ko-KR" dirty="0"/>
              <a:t>) import "filename";</a:t>
            </a:r>
          </a:p>
          <a:p>
            <a:pPr lvl="2"/>
            <a:r>
              <a:rPr lang="ko-KR" altLang="en-US" dirty="0"/>
              <a:t>예</a:t>
            </a:r>
            <a:r>
              <a:rPr lang="en-US" altLang="ko-KR" dirty="0"/>
              <a:t>) import * as </a:t>
            </a:r>
            <a:r>
              <a:rPr lang="en-US" altLang="ko-KR" dirty="0" err="1"/>
              <a:t>symbolName</a:t>
            </a:r>
            <a:r>
              <a:rPr lang="en-US" altLang="ko-KR" dirty="0"/>
              <a:t> from "filename";</a:t>
            </a:r>
          </a:p>
          <a:p>
            <a:pPr lvl="2"/>
            <a:r>
              <a:rPr lang="ko-KR" altLang="en-US" dirty="0"/>
              <a:t>예</a:t>
            </a:r>
            <a:r>
              <a:rPr lang="en-US" altLang="ko-KR" dirty="0"/>
              <a:t>) import {symbol1 as alias, symbol2} from "filename";</a:t>
            </a:r>
          </a:p>
          <a:p>
            <a:endParaRPr lang="en-US" altLang="ko-KR" dirty="0"/>
          </a:p>
          <a:p>
            <a:r>
              <a:rPr lang="en-US" altLang="ko-KR" dirty="0"/>
              <a:t>Contracts</a:t>
            </a:r>
          </a:p>
          <a:p>
            <a:pPr lvl="1"/>
            <a:r>
              <a:rPr lang="ko-KR" altLang="en-US" dirty="0"/>
              <a:t>객체지향 언어의 클래스와 유사</a:t>
            </a:r>
            <a:endParaRPr lang="en-US" altLang="ko-KR" dirty="0"/>
          </a:p>
          <a:p>
            <a:pPr lvl="1"/>
            <a:r>
              <a:rPr lang="ko-KR" altLang="en-US" dirty="0"/>
              <a:t>각 </a:t>
            </a:r>
            <a:r>
              <a:rPr lang="ko-KR" altLang="en-US" dirty="0" err="1"/>
              <a:t>컨트랙트는</a:t>
            </a:r>
            <a:r>
              <a:rPr lang="ko-KR" altLang="en-US" dirty="0"/>
              <a:t> </a:t>
            </a:r>
            <a:r>
              <a:rPr lang="en-US" altLang="ko-KR" dirty="0"/>
              <a:t>State Variables, Functions, Function Modifiers, Events, Errors, Struct Types, Enum Types</a:t>
            </a:r>
            <a:r>
              <a:rPr lang="ko-KR" altLang="en-US" dirty="0"/>
              <a:t> 등을 포함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01730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(01-ElectVote-P.sol)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35453" y="1448780"/>
            <a:ext cx="7560840" cy="4662815"/>
          </a:xfrm>
          <a:prstGeom prst="rect">
            <a:avLst/>
          </a:prstGeom>
          <a:solidFill>
            <a:srgbClr val="CCFFCC">
              <a:alpha val="50196"/>
            </a:srgb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// SPDX-License-Identifier: GPL-3.0</a:t>
            </a:r>
          </a:p>
          <a:p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pragma solidity ^0.6.4;</a:t>
            </a:r>
          </a:p>
          <a:p>
            <a:endParaRPr lang="en-US" altLang="ko-KR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contract </a:t>
            </a:r>
            <a:r>
              <a:rPr lang="en-US" altLang="ko-KR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ElectronicVote</a:t>
            </a: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public </a:t>
            </a:r>
            <a:r>
              <a:rPr lang="en-US" altLang="ko-KR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numCandidates</a:t>
            </a: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	                    	</a:t>
            </a:r>
            <a:endParaRPr lang="ko-KR" alt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ko-KR" alt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string[] </a:t>
            </a:r>
            <a:r>
              <a:rPr lang="en-US" altLang="ko-KR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candidateNames</a:t>
            </a: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 		</a:t>
            </a:r>
            <a:endParaRPr lang="ko-KR" alt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ko-KR" alt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mapping (string =&gt; </a:t>
            </a:r>
            <a:r>
              <a:rPr lang="en-US" altLang="ko-KR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 public </a:t>
            </a:r>
            <a:r>
              <a:rPr lang="en-US" altLang="ko-KR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votesReceived</a:t>
            </a: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  	</a:t>
            </a:r>
            <a:endParaRPr lang="ko-KR" alt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ko-KR" alt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ko-KR" alt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constructor() public {</a:t>
            </a:r>
          </a:p>
          <a:p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ko-KR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candidateNames.push</a:t>
            </a: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("Alice");</a:t>
            </a:r>
          </a:p>
          <a:p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ko-KR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candidateNames.push</a:t>
            </a: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("Bob");</a:t>
            </a:r>
          </a:p>
          <a:p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ko-KR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candidateNames.push</a:t>
            </a: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("Chloe");</a:t>
            </a:r>
          </a:p>
          <a:p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ko-KR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numCandidates</a:t>
            </a: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3;</a:t>
            </a:r>
          </a:p>
          <a:p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endParaRPr lang="en-US" altLang="ko-KR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function </a:t>
            </a:r>
            <a:r>
              <a:rPr lang="en-US" altLang="ko-KR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getCandidateName</a:t>
            </a: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index) public view returns(string memory) {</a:t>
            </a:r>
          </a:p>
          <a:p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	if (index &lt; </a:t>
            </a:r>
            <a:r>
              <a:rPr lang="en-US" altLang="ko-KR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candidateNames.length</a:t>
            </a: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	    return </a:t>
            </a:r>
            <a:r>
              <a:rPr lang="en-US" altLang="ko-KR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candidateNames</a:t>
            </a: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[index];</a:t>
            </a:r>
          </a:p>
          <a:p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	return "Invalid candidate";</a:t>
            </a:r>
          </a:p>
          <a:p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  <a:p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endParaRPr lang="en-US" altLang="ko-KR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function vote(string memory </a:t>
            </a:r>
            <a:r>
              <a:rPr lang="en-US" altLang="ko-KR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candidateName</a:t>
            </a: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 public {		</a:t>
            </a:r>
          </a:p>
          <a:p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ko-KR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votesReceived</a:t>
            </a: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ko-KR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candidateName</a:t>
            </a: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] += 1;</a:t>
            </a:r>
          </a:p>
          <a:p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62029" y="2143019"/>
            <a:ext cx="20537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컨트랙트</a:t>
            </a:r>
            <a:r>
              <a:rPr lang="ko-KR" altLang="en-US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상태변수</a:t>
            </a:r>
            <a:endParaRPr lang="en-US" altLang="ko-KR" sz="14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블록체인에</a:t>
            </a:r>
            <a:r>
              <a:rPr lang="ko-KR" altLang="en-US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영구 저장</a:t>
            </a:r>
            <a:r>
              <a:rPr lang="en-US" altLang="ko-KR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4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오른쪽 중괄호 6"/>
          <p:cNvSpPr/>
          <p:nvPr/>
        </p:nvSpPr>
        <p:spPr>
          <a:xfrm>
            <a:off x="6228463" y="2188605"/>
            <a:ext cx="216024" cy="432048"/>
          </a:xfrm>
          <a:prstGeom prst="righ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88504" y="4247510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컨트랙트</a:t>
            </a:r>
            <a:r>
              <a:rPr lang="ko-KR" altLang="en-US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함수</a:t>
            </a:r>
            <a:endParaRPr lang="en-US" altLang="ko-KR" sz="14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단위</a:t>
            </a:r>
            <a:r>
              <a:rPr lang="en-US" altLang="ko-KR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4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오른쪽 중괄호 8"/>
          <p:cNvSpPr/>
          <p:nvPr/>
        </p:nvSpPr>
        <p:spPr>
          <a:xfrm flipH="1">
            <a:off x="1892660" y="4077072"/>
            <a:ext cx="252028" cy="864096"/>
          </a:xfrm>
          <a:prstGeom prst="righ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오른쪽 중괄호 9"/>
          <p:cNvSpPr/>
          <p:nvPr/>
        </p:nvSpPr>
        <p:spPr>
          <a:xfrm flipH="1">
            <a:off x="1892660" y="5235587"/>
            <a:ext cx="252028" cy="432048"/>
          </a:xfrm>
          <a:prstGeom prst="righ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88504" y="5190001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컨트랙트</a:t>
            </a:r>
            <a:r>
              <a:rPr lang="ko-KR" altLang="en-US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함수</a:t>
            </a:r>
            <a:endParaRPr lang="en-US" altLang="ko-KR" sz="14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단위</a:t>
            </a:r>
            <a:r>
              <a:rPr lang="en-US" altLang="ko-KR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4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오른쪽 중괄호 11"/>
          <p:cNvSpPr/>
          <p:nvPr/>
        </p:nvSpPr>
        <p:spPr>
          <a:xfrm>
            <a:off x="6246005" y="2852936"/>
            <a:ext cx="216024" cy="828092"/>
          </a:xfrm>
          <a:prstGeom prst="righ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6535188" y="3005372"/>
            <a:ext cx="19191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컨트랙트</a:t>
            </a:r>
            <a:r>
              <a:rPr lang="ko-KR" altLang="en-US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생성자</a:t>
            </a:r>
            <a:r>
              <a:rPr lang="ko-KR" altLang="en-US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함수</a:t>
            </a:r>
            <a:endParaRPr lang="en-US" altLang="ko-KR" sz="14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배포시</a:t>
            </a:r>
            <a:r>
              <a:rPr lang="ko-KR" altLang="en-US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 실행</a:t>
            </a:r>
            <a:r>
              <a:rPr lang="en-US" altLang="ko-KR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4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95564" y="1587272"/>
            <a:ext cx="26164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0.6.4 &lt;= </a:t>
            </a:r>
            <a:r>
              <a:rPr lang="ko-KR" altLang="en-US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컴파일러</a:t>
            </a:r>
            <a:r>
              <a:rPr lang="en-US" altLang="ko-KR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버전 </a:t>
            </a:r>
            <a:r>
              <a:rPr lang="en-US" altLang="ko-KR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 0.7</a:t>
            </a:r>
            <a:endParaRPr lang="ko-KR" altLang="en-US" sz="14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오른쪽 중괄호 14"/>
          <p:cNvSpPr/>
          <p:nvPr/>
        </p:nvSpPr>
        <p:spPr>
          <a:xfrm>
            <a:off x="3340440" y="1641944"/>
            <a:ext cx="216024" cy="207327"/>
          </a:xfrm>
          <a:prstGeom prst="righ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8798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3"/>
          <p:cNvSpPr>
            <a:spLocks noGrp="1"/>
          </p:cNvSpPr>
          <p:nvPr>
            <p:ph type="ctrTitle"/>
          </p:nvPr>
        </p:nvSpPr>
        <p:spPr>
          <a:xfrm>
            <a:off x="273050" y="2565400"/>
            <a:ext cx="9359900" cy="1574800"/>
          </a:xfrm>
        </p:spPr>
        <p:txBody>
          <a:bodyPr/>
          <a:lstStyle/>
          <a:p>
            <a:r>
              <a:rPr lang="en-US" altLang="ko-KR" dirty="0"/>
              <a:t>B. (</a:t>
            </a:r>
            <a:r>
              <a:rPr lang="ko-KR" altLang="en-US" dirty="0"/>
              <a:t>실습</a:t>
            </a:r>
            <a:r>
              <a:rPr lang="en-US" altLang="ko-KR" dirty="0"/>
              <a:t>) </a:t>
            </a:r>
            <a:r>
              <a:rPr lang="ko-KR" altLang="en-US" dirty="0"/>
              <a:t>환경 설정 및 </a:t>
            </a:r>
            <a:r>
              <a:rPr lang="en-US" altLang="ko-KR" dirty="0"/>
              <a:t>Remix </a:t>
            </a:r>
            <a:r>
              <a:rPr lang="ko-KR" altLang="en-US" dirty="0"/>
              <a:t>사용</a:t>
            </a:r>
          </a:p>
        </p:txBody>
      </p:sp>
    </p:spTree>
    <p:extLst>
      <p:ext uri="{BB962C8B-B14F-4D97-AF65-F5344CB8AC3E}">
        <p14:creationId xmlns:p14="http://schemas.microsoft.com/office/powerpoint/2010/main" val="157870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54F0C-6023-60BD-6E6A-0EABDDD55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A4ABD73-CD40-9A7B-FCDC-AC8C4F02C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825" y="2056341"/>
            <a:ext cx="6134736" cy="369061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A397C3B-9D60-CBE0-19F9-692FB3119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Remix </a:t>
            </a:r>
            <a:r>
              <a:rPr lang="ko-KR" altLang="en-US" dirty="0"/>
              <a:t>개발도구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34545DC3-B566-AFD7-BC4E-4E42552856B6}"/>
              </a:ext>
            </a:extLst>
          </p:cNvPr>
          <p:cNvSpPr/>
          <p:nvPr/>
        </p:nvSpPr>
        <p:spPr>
          <a:xfrm>
            <a:off x="2012275" y="2056340"/>
            <a:ext cx="1620597" cy="3549811"/>
          </a:xfrm>
          <a:prstGeom prst="roundRect">
            <a:avLst>
              <a:gd name="adj" fmla="val 10279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C1EA3E-5EA6-00B9-BB31-68A2C39D01E6}"/>
              </a:ext>
            </a:extLst>
          </p:cNvPr>
          <p:cNvSpPr txBox="1"/>
          <p:nvPr/>
        </p:nvSpPr>
        <p:spPr>
          <a:xfrm>
            <a:off x="416496" y="1952836"/>
            <a:ext cx="10940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File</a:t>
            </a:r>
          </a:p>
          <a:p>
            <a:pPr algn="ctr"/>
            <a:r>
              <a:rPr lang="en-US" altLang="ko-KR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Explorer</a:t>
            </a:r>
            <a:endParaRPr lang="ko-KR" altLang="en-US" b="1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92D712D9-F768-49A3-A613-2F257C33E699}"/>
              </a:ext>
            </a:extLst>
          </p:cNvPr>
          <p:cNvCxnSpPr/>
          <p:nvPr/>
        </p:nvCxnSpPr>
        <p:spPr>
          <a:xfrm flipH="1">
            <a:off x="1364203" y="2213089"/>
            <a:ext cx="648072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32A0ED2B-0817-E864-CA2D-4E8BADA2F270}"/>
              </a:ext>
            </a:extLst>
          </p:cNvPr>
          <p:cNvSpPr/>
          <p:nvPr/>
        </p:nvSpPr>
        <p:spPr>
          <a:xfrm>
            <a:off x="3721018" y="2213089"/>
            <a:ext cx="4047644" cy="2707391"/>
          </a:xfrm>
          <a:prstGeom prst="roundRect">
            <a:avLst>
              <a:gd name="adj" fmla="val 7180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A8067A-929D-209F-9D7C-2081FF0A0BEB}"/>
              </a:ext>
            </a:extLst>
          </p:cNvPr>
          <p:cNvSpPr txBox="1"/>
          <p:nvPr/>
        </p:nvSpPr>
        <p:spPr>
          <a:xfrm>
            <a:off x="8278790" y="2830798"/>
            <a:ext cx="839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Editor</a:t>
            </a:r>
            <a:endParaRPr lang="ko-KR" altLang="en-US" b="1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FA3694A-AD6E-835E-EFD7-7709B76DD4AB}"/>
              </a:ext>
            </a:extLst>
          </p:cNvPr>
          <p:cNvCxnSpPr>
            <a:cxnSpLocks/>
          </p:cNvCxnSpPr>
          <p:nvPr/>
        </p:nvCxnSpPr>
        <p:spPr>
          <a:xfrm>
            <a:off x="7768662" y="3013866"/>
            <a:ext cx="465864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99C07506-C938-6D53-A8F9-E3406DA19883}"/>
              </a:ext>
            </a:extLst>
          </p:cNvPr>
          <p:cNvSpPr/>
          <p:nvPr/>
        </p:nvSpPr>
        <p:spPr>
          <a:xfrm>
            <a:off x="3721018" y="4958082"/>
            <a:ext cx="4047644" cy="648069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A3EF92-08D2-2AFB-7F0A-5560AB74E0B4}"/>
              </a:ext>
            </a:extLst>
          </p:cNvPr>
          <p:cNvSpPr txBox="1"/>
          <p:nvPr/>
        </p:nvSpPr>
        <p:spPr>
          <a:xfrm>
            <a:off x="8229024" y="4958082"/>
            <a:ext cx="12522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Messages</a:t>
            </a:r>
          </a:p>
          <a:p>
            <a:pPr algn="ctr"/>
            <a:r>
              <a:rPr lang="en-US" altLang="ko-KR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and Logs</a:t>
            </a:r>
            <a:endParaRPr lang="ko-KR" altLang="en-US" b="1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27ABA2EE-58F7-334A-9BAE-B1AF70EE9409}"/>
              </a:ext>
            </a:extLst>
          </p:cNvPr>
          <p:cNvCxnSpPr>
            <a:cxnSpLocks/>
          </p:cNvCxnSpPr>
          <p:nvPr/>
        </p:nvCxnSpPr>
        <p:spPr>
          <a:xfrm>
            <a:off x="7768662" y="5281341"/>
            <a:ext cx="465864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738F02-EC82-832C-EDE3-5021E9EF1E95}"/>
              </a:ext>
            </a:extLst>
          </p:cNvPr>
          <p:cNvSpPr txBox="1">
            <a:spLocks/>
          </p:cNvSpPr>
          <p:nvPr/>
        </p:nvSpPr>
        <p:spPr>
          <a:xfrm>
            <a:off x="357188" y="1160463"/>
            <a:ext cx="9191625" cy="5116512"/>
          </a:xfrm>
          <a:prstGeom prst="rect">
            <a:avLst/>
          </a:prstGeom>
        </p:spPr>
        <p:txBody>
          <a:bodyPr/>
          <a:lstStyle>
            <a:lvl1pPr marL="258763" indent="-258763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Blip>
                <a:blip r:embed="rId3"/>
              </a:buBlip>
              <a:defRPr kumimoji="1"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98475" indent="-238125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763588" indent="-263525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Font typeface="맑은 고딕" panose="020B0503020000020004" pitchFamily="50" charset="-127"/>
              <a:buChar char="－"/>
              <a:defRPr kumimoji="1"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014413" indent="-239713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hlinkClick r:id="rId4"/>
              </a:rPr>
              <a:t>https://remix.ethereum.org/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7436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DE6A8-4BEB-9267-6493-BBD465B51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C81726CD-048B-2C5E-08E2-38B232B4F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726" y="1814849"/>
            <a:ext cx="6582631" cy="396006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BD0CAFE-CD46-D9AF-DFFF-C336BE3AB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Remix </a:t>
            </a:r>
            <a:r>
              <a:rPr lang="ko-KR" altLang="en-US" dirty="0"/>
              <a:t>개발도구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F8A4DA-3E80-179D-CD90-131F9A71A21B}"/>
              </a:ext>
            </a:extLst>
          </p:cNvPr>
          <p:cNvSpPr txBox="1"/>
          <p:nvPr/>
        </p:nvSpPr>
        <p:spPr>
          <a:xfrm>
            <a:off x="596516" y="2083549"/>
            <a:ext cx="12481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File explorer</a:t>
            </a:r>
            <a:endParaRPr lang="ko-KR" altLang="en-US" sz="1400" b="1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F925379-7695-B578-B1B2-0399BEFDC149}"/>
              </a:ext>
            </a:extLst>
          </p:cNvPr>
          <p:cNvCxnSpPr>
            <a:cxnSpLocks/>
          </p:cNvCxnSpPr>
          <p:nvPr/>
        </p:nvCxnSpPr>
        <p:spPr>
          <a:xfrm flipH="1">
            <a:off x="2435633" y="2237597"/>
            <a:ext cx="504000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6CA90D8-0F66-6DF1-37B6-E4D6373192F9}"/>
              </a:ext>
            </a:extLst>
          </p:cNvPr>
          <p:cNvSpPr txBox="1"/>
          <p:nvPr/>
        </p:nvSpPr>
        <p:spPr>
          <a:xfrm>
            <a:off x="596516" y="2330924"/>
            <a:ext cx="1382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Search in files</a:t>
            </a:r>
            <a:endParaRPr lang="ko-KR" altLang="en-US" sz="1400" b="1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4B28417-2E66-A29D-B1EA-7506FF25CBAB}"/>
              </a:ext>
            </a:extLst>
          </p:cNvPr>
          <p:cNvCxnSpPr>
            <a:cxnSpLocks/>
          </p:cNvCxnSpPr>
          <p:nvPr/>
        </p:nvCxnSpPr>
        <p:spPr>
          <a:xfrm flipH="1">
            <a:off x="2435633" y="2484949"/>
            <a:ext cx="504000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F1BD6D4-8CDA-7657-565E-19B94355437C}"/>
              </a:ext>
            </a:extLst>
          </p:cNvPr>
          <p:cNvSpPr txBox="1"/>
          <p:nvPr/>
        </p:nvSpPr>
        <p:spPr>
          <a:xfrm>
            <a:off x="596516" y="2578299"/>
            <a:ext cx="1630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Solidity compiler</a:t>
            </a:r>
            <a:endParaRPr lang="ko-KR" altLang="en-US" sz="1400" b="1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564D8E00-F899-7BFA-92D5-A32F4B8112A6}"/>
              </a:ext>
            </a:extLst>
          </p:cNvPr>
          <p:cNvCxnSpPr>
            <a:cxnSpLocks/>
          </p:cNvCxnSpPr>
          <p:nvPr/>
        </p:nvCxnSpPr>
        <p:spPr>
          <a:xfrm flipH="1">
            <a:off x="2435633" y="2732301"/>
            <a:ext cx="504000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EE8568B-002B-49A8-382D-7088673AFBF6}"/>
              </a:ext>
            </a:extLst>
          </p:cNvPr>
          <p:cNvSpPr txBox="1"/>
          <p:nvPr/>
        </p:nvSpPr>
        <p:spPr>
          <a:xfrm>
            <a:off x="596516" y="2825674"/>
            <a:ext cx="15204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Deploy and run</a:t>
            </a:r>
            <a:endParaRPr lang="ko-KR" altLang="en-US" sz="1400" b="1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A799812-C070-0C6E-2692-92A2E45E01A4}"/>
              </a:ext>
            </a:extLst>
          </p:cNvPr>
          <p:cNvCxnSpPr>
            <a:cxnSpLocks/>
          </p:cNvCxnSpPr>
          <p:nvPr/>
        </p:nvCxnSpPr>
        <p:spPr>
          <a:xfrm flipH="1">
            <a:off x="2435633" y="2979653"/>
            <a:ext cx="504000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313854D-9028-3BEB-4692-475086B04138}"/>
              </a:ext>
            </a:extLst>
          </p:cNvPr>
          <p:cNvSpPr txBox="1"/>
          <p:nvPr/>
        </p:nvSpPr>
        <p:spPr>
          <a:xfrm>
            <a:off x="596516" y="3073049"/>
            <a:ext cx="10342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Debugger</a:t>
            </a:r>
            <a:endParaRPr lang="ko-KR" altLang="en-US" sz="1400" b="1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3A4FC90E-CEB5-2C58-D137-F237A10C4EF6}"/>
              </a:ext>
            </a:extLst>
          </p:cNvPr>
          <p:cNvCxnSpPr>
            <a:cxnSpLocks/>
          </p:cNvCxnSpPr>
          <p:nvPr/>
        </p:nvCxnSpPr>
        <p:spPr>
          <a:xfrm flipH="1">
            <a:off x="2435633" y="3227005"/>
            <a:ext cx="504000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4E63E81-2D7A-80DC-197D-DF6827BE1CB4}"/>
              </a:ext>
            </a:extLst>
          </p:cNvPr>
          <p:cNvSpPr txBox="1"/>
          <p:nvPr/>
        </p:nvSpPr>
        <p:spPr>
          <a:xfrm>
            <a:off x="596516" y="3320424"/>
            <a:ext cx="18750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Solidity unit testing</a:t>
            </a:r>
            <a:endParaRPr lang="ko-KR" altLang="en-US" sz="1400" b="1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CF1A2EE5-5C95-A8F9-94F3-DDFF95C67502}"/>
              </a:ext>
            </a:extLst>
          </p:cNvPr>
          <p:cNvCxnSpPr>
            <a:cxnSpLocks/>
          </p:cNvCxnSpPr>
          <p:nvPr/>
        </p:nvCxnSpPr>
        <p:spPr>
          <a:xfrm flipH="1">
            <a:off x="2435633" y="3474357"/>
            <a:ext cx="504000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58C1477-D181-352F-093E-DC6D67D928B2}"/>
              </a:ext>
            </a:extLst>
          </p:cNvPr>
          <p:cNvSpPr txBox="1"/>
          <p:nvPr/>
        </p:nvSpPr>
        <p:spPr>
          <a:xfrm>
            <a:off x="596516" y="3567799"/>
            <a:ext cx="4331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Git</a:t>
            </a:r>
            <a:endParaRPr lang="ko-KR" altLang="en-US" sz="1400" b="1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236EDB19-CB38-EC91-C925-831363709A23}"/>
              </a:ext>
            </a:extLst>
          </p:cNvPr>
          <p:cNvCxnSpPr>
            <a:cxnSpLocks/>
          </p:cNvCxnSpPr>
          <p:nvPr/>
        </p:nvCxnSpPr>
        <p:spPr>
          <a:xfrm flipH="1">
            <a:off x="2435633" y="3721709"/>
            <a:ext cx="504000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3759BA6-8D36-850C-D094-2277857FEBAD}"/>
              </a:ext>
            </a:extLst>
          </p:cNvPr>
          <p:cNvSpPr txBox="1"/>
          <p:nvPr/>
        </p:nvSpPr>
        <p:spPr>
          <a:xfrm>
            <a:off x="596516" y="3815171"/>
            <a:ext cx="9273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LearnEth</a:t>
            </a:r>
            <a:endParaRPr lang="ko-KR" altLang="en-US" sz="1400" b="1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C00442A7-E7DD-C958-0B40-4A825A2FCFA2}"/>
              </a:ext>
            </a:extLst>
          </p:cNvPr>
          <p:cNvCxnSpPr>
            <a:cxnSpLocks/>
          </p:cNvCxnSpPr>
          <p:nvPr/>
        </p:nvCxnSpPr>
        <p:spPr>
          <a:xfrm flipH="1">
            <a:off x="2435633" y="3969060"/>
            <a:ext cx="504000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4427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D969E-F693-7C38-328D-78F209424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C83EB0-99D2-CFAB-3C59-08D852B3D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Remix</a:t>
            </a:r>
            <a:r>
              <a:rPr lang="ko-KR" altLang="en-US" dirty="0"/>
              <a:t>를 통한 </a:t>
            </a:r>
            <a:r>
              <a:rPr lang="ko-KR" altLang="en-US" dirty="0" err="1"/>
              <a:t>컨트랙트</a:t>
            </a:r>
            <a:r>
              <a:rPr lang="ko-KR" altLang="en-US" dirty="0"/>
              <a:t> 컴파일 및 배포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7DB9A0E-ADB7-392F-0E66-039F71434422}"/>
              </a:ext>
            </a:extLst>
          </p:cNvPr>
          <p:cNvGrpSpPr/>
          <p:nvPr/>
        </p:nvGrpSpPr>
        <p:grpSpPr>
          <a:xfrm>
            <a:off x="2363893" y="2024844"/>
            <a:ext cx="5178213" cy="4320480"/>
            <a:chOff x="1924608" y="1766043"/>
            <a:chExt cx="5722329" cy="479530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AFECE9D7-0F5C-711D-9B90-576576662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60612" y="1766043"/>
              <a:ext cx="5686325" cy="4795305"/>
            </a:xfrm>
            <a:prstGeom prst="rect">
              <a:avLst/>
            </a:prstGeom>
          </p:spPr>
        </p:pic>
        <p:sp>
          <p:nvSpPr>
            <p:cNvPr id="5" name="모서리가 둥근 직사각형 3">
              <a:extLst>
                <a:ext uri="{FF2B5EF4-FFF2-40B4-BE49-F238E27FC236}">
                  <a16:creationId xmlns:a16="http://schemas.microsoft.com/office/drawing/2014/main" id="{9F1C6523-73E0-AC6C-5800-B041354D2A33}"/>
                </a:ext>
              </a:extLst>
            </p:cNvPr>
            <p:cNvSpPr/>
            <p:nvPr/>
          </p:nvSpPr>
          <p:spPr>
            <a:xfrm>
              <a:off x="2259063" y="2586671"/>
              <a:ext cx="1649821" cy="707886"/>
            </a:xfrm>
            <a:prstGeom prst="round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모서리가 둥근 직사각형 3">
              <a:extLst>
                <a:ext uri="{FF2B5EF4-FFF2-40B4-BE49-F238E27FC236}">
                  <a16:creationId xmlns:a16="http://schemas.microsoft.com/office/drawing/2014/main" id="{3E911EA4-FA8E-9E20-D2B8-94AF128F5158}"/>
                </a:ext>
              </a:extLst>
            </p:cNvPr>
            <p:cNvSpPr/>
            <p:nvPr/>
          </p:nvSpPr>
          <p:spPr>
            <a:xfrm>
              <a:off x="1924608" y="2010607"/>
              <a:ext cx="364096" cy="311428"/>
            </a:xfrm>
            <a:prstGeom prst="round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40B70B-6A3F-32D0-E015-B9A882F3B890}"/>
              </a:ext>
            </a:extLst>
          </p:cNvPr>
          <p:cNvSpPr txBox="1">
            <a:spLocks/>
          </p:cNvSpPr>
          <p:nvPr/>
        </p:nvSpPr>
        <p:spPr>
          <a:xfrm>
            <a:off x="357188" y="1160463"/>
            <a:ext cx="9240328" cy="5116512"/>
          </a:xfrm>
          <a:prstGeom prst="rect">
            <a:avLst/>
          </a:prstGeom>
        </p:spPr>
        <p:txBody>
          <a:bodyPr/>
          <a:lstStyle>
            <a:lvl1pPr marL="258763" indent="-258763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Blip>
                <a:blip r:embed="rId3"/>
              </a:buBlip>
              <a:defRPr kumimoji="1"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98475" indent="-238125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763588" indent="-263525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Font typeface="맑은 고딕" panose="020B0503020000020004" pitchFamily="50" charset="-127"/>
              <a:buChar char="－"/>
              <a:defRPr kumimoji="1"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014413" indent="-239713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pt-BR" altLang="ko-KR" kern="0" dirty="0"/>
              <a:t>File explorer</a:t>
            </a:r>
            <a:r>
              <a:rPr lang="ko-KR" altLang="en-US" kern="0" dirty="0"/>
              <a:t>의 </a:t>
            </a:r>
            <a:r>
              <a:rPr lang="pt-BR" altLang="ko-KR" kern="0" dirty="0"/>
              <a:t>contracts </a:t>
            </a:r>
            <a:r>
              <a:rPr lang="ko-KR" altLang="en-US" kern="0" dirty="0"/>
              <a:t>디렉토리에서 </a:t>
            </a:r>
            <a:r>
              <a:rPr lang="pt-BR" altLang="ko-KR" kern="0" dirty="0"/>
              <a:t>Create new file </a:t>
            </a:r>
            <a:r>
              <a:rPr lang="ko-KR" altLang="en-US" kern="0" dirty="0"/>
              <a:t>클릭 후</a:t>
            </a:r>
            <a:r>
              <a:rPr lang="en-US" altLang="ko-KR" kern="0" dirty="0"/>
              <a:t>, </a:t>
            </a:r>
            <a:r>
              <a:rPr lang="en-US" altLang="ko-KR" kern="0" dirty="0">
                <a:solidFill>
                  <a:srgbClr val="FF0000"/>
                </a:solidFill>
              </a:rPr>
              <a:t>01-ElectVote-P.sol </a:t>
            </a:r>
            <a:r>
              <a:rPr lang="ko-KR" altLang="en-US" kern="0" dirty="0"/>
              <a:t>파일 생성</a:t>
            </a:r>
          </a:p>
        </p:txBody>
      </p:sp>
    </p:spTree>
    <p:extLst>
      <p:ext uri="{BB962C8B-B14F-4D97-AF65-F5344CB8AC3E}">
        <p14:creationId xmlns:p14="http://schemas.microsoft.com/office/powerpoint/2010/main" val="3167196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7EB45-BB81-173D-206B-61F268C49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BA1AAC-AA73-60F8-CE5F-0594238FD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스마트 </a:t>
            </a:r>
            <a:r>
              <a:rPr lang="ko-KR" altLang="en-US" dirty="0" err="1"/>
              <a:t>컨트랙트</a:t>
            </a:r>
            <a:r>
              <a:rPr lang="ko-KR" altLang="en-US" dirty="0"/>
              <a:t> 컴파일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3491540-A947-C091-E421-17351407A6E6}"/>
              </a:ext>
            </a:extLst>
          </p:cNvPr>
          <p:cNvGrpSpPr/>
          <p:nvPr/>
        </p:nvGrpSpPr>
        <p:grpSpPr>
          <a:xfrm>
            <a:off x="1984829" y="1808820"/>
            <a:ext cx="5936342" cy="4572508"/>
            <a:chOff x="1564568" y="1556792"/>
            <a:chExt cx="6450555" cy="496855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3FB1210-9323-02DA-B98A-372F480257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04628" y="1556792"/>
              <a:ext cx="6410495" cy="4968552"/>
            </a:xfrm>
            <a:prstGeom prst="rect">
              <a:avLst/>
            </a:prstGeom>
          </p:spPr>
        </p:pic>
        <p:sp>
          <p:nvSpPr>
            <p:cNvPr id="5" name="모서리가 둥근 직사각형 3">
              <a:extLst>
                <a:ext uri="{FF2B5EF4-FFF2-40B4-BE49-F238E27FC236}">
                  <a16:creationId xmlns:a16="http://schemas.microsoft.com/office/drawing/2014/main" id="{6A1CFAE2-4C02-0C89-2FC0-D4FC442777E1}"/>
                </a:ext>
              </a:extLst>
            </p:cNvPr>
            <p:cNvSpPr/>
            <p:nvPr/>
          </p:nvSpPr>
          <p:spPr>
            <a:xfrm>
              <a:off x="2000672" y="2744924"/>
              <a:ext cx="1440160" cy="324036"/>
            </a:xfrm>
            <a:prstGeom prst="round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모서리가 둥근 직사각형 3">
              <a:extLst>
                <a:ext uri="{FF2B5EF4-FFF2-40B4-BE49-F238E27FC236}">
                  <a16:creationId xmlns:a16="http://schemas.microsoft.com/office/drawing/2014/main" id="{188908DA-34D2-51E9-963D-1F1EFE19D83E}"/>
                </a:ext>
              </a:extLst>
            </p:cNvPr>
            <p:cNvSpPr/>
            <p:nvPr/>
          </p:nvSpPr>
          <p:spPr>
            <a:xfrm>
              <a:off x="1564568" y="2289480"/>
              <a:ext cx="364096" cy="311428"/>
            </a:xfrm>
            <a:prstGeom prst="round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9CEFFD1F-7083-725F-76AD-CAB470C75DDA}"/>
              </a:ext>
            </a:extLst>
          </p:cNvPr>
          <p:cNvSpPr txBox="1">
            <a:spLocks/>
          </p:cNvSpPr>
          <p:nvPr/>
        </p:nvSpPr>
        <p:spPr>
          <a:xfrm>
            <a:off x="357188" y="1160463"/>
            <a:ext cx="9240328" cy="5116512"/>
          </a:xfrm>
          <a:prstGeom prst="rect">
            <a:avLst/>
          </a:prstGeom>
        </p:spPr>
        <p:txBody>
          <a:bodyPr/>
          <a:lstStyle>
            <a:lvl1pPr marL="258763" indent="-258763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Blip>
                <a:blip r:embed="rId3"/>
              </a:buBlip>
              <a:defRPr kumimoji="1"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98475" indent="-238125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763588" indent="-263525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Font typeface="맑은 고딕" panose="020B0503020000020004" pitchFamily="50" charset="-127"/>
              <a:buChar char="－"/>
              <a:defRPr kumimoji="1"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014413" indent="-239713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kern="0" dirty="0"/>
              <a:t>Solidity compiler</a:t>
            </a:r>
            <a:r>
              <a:rPr lang="ko-KR" altLang="en-US" kern="0" dirty="0"/>
              <a:t>에서 </a:t>
            </a:r>
            <a:r>
              <a:rPr lang="en-US" altLang="ko-KR" kern="0" dirty="0"/>
              <a:t>“01-ElectVote-P.sol</a:t>
            </a:r>
            <a:r>
              <a:rPr lang="en-US" altLang="ko-KR" dirty="0"/>
              <a:t>”</a:t>
            </a:r>
            <a:r>
              <a:rPr lang="ko-KR" altLang="en-US" kern="0" dirty="0"/>
              <a:t> 컴파일</a:t>
            </a:r>
          </a:p>
        </p:txBody>
      </p:sp>
    </p:spTree>
    <p:extLst>
      <p:ext uri="{BB962C8B-B14F-4D97-AF65-F5344CB8AC3E}">
        <p14:creationId xmlns:p14="http://schemas.microsoft.com/office/powerpoint/2010/main" val="379168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EDBA4-EDEC-EEE4-A499-93B899A6A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4DBBDD-212C-B7CE-B64C-BA6616B2F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스마트 </a:t>
            </a:r>
            <a:r>
              <a:rPr lang="ko-KR" altLang="en-US" dirty="0" err="1"/>
              <a:t>컨트랙트</a:t>
            </a:r>
            <a:r>
              <a:rPr lang="ko-KR" altLang="en-US" dirty="0"/>
              <a:t> 배포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0FA89C0-07DD-8D93-6AD4-156C4F7FD440}"/>
              </a:ext>
            </a:extLst>
          </p:cNvPr>
          <p:cNvGrpSpPr/>
          <p:nvPr/>
        </p:nvGrpSpPr>
        <p:grpSpPr>
          <a:xfrm>
            <a:off x="1973767" y="1772619"/>
            <a:ext cx="5958466" cy="4644713"/>
            <a:chOff x="1676636" y="1484784"/>
            <a:chExt cx="6498526" cy="5004753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87B01FD1-EEC8-16A5-C3A8-8493C14B96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30838" y="1484784"/>
              <a:ext cx="6444324" cy="5004753"/>
            </a:xfrm>
            <a:prstGeom prst="rect">
              <a:avLst/>
            </a:prstGeom>
          </p:spPr>
        </p:pic>
        <p:sp>
          <p:nvSpPr>
            <p:cNvPr id="9" name="모서리가 둥근 직사각형 3">
              <a:extLst>
                <a:ext uri="{FF2B5EF4-FFF2-40B4-BE49-F238E27FC236}">
                  <a16:creationId xmlns:a16="http://schemas.microsoft.com/office/drawing/2014/main" id="{A93A3FFC-B083-01D2-58D3-089160A207CE}"/>
                </a:ext>
              </a:extLst>
            </p:cNvPr>
            <p:cNvSpPr/>
            <p:nvPr/>
          </p:nvSpPr>
          <p:spPr>
            <a:xfrm>
              <a:off x="2108684" y="3579919"/>
              <a:ext cx="1534410" cy="608735"/>
            </a:xfrm>
            <a:prstGeom prst="round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모서리가 둥근 직사각형 3">
              <a:extLst>
                <a:ext uri="{FF2B5EF4-FFF2-40B4-BE49-F238E27FC236}">
                  <a16:creationId xmlns:a16="http://schemas.microsoft.com/office/drawing/2014/main" id="{CA6218E1-A355-803A-EF81-973C95F5D098}"/>
                </a:ext>
              </a:extLst>
            </p:cNvPr>
            <p:cNvSpPr/>
            <p:nvPr/>
          </p:nvSpPr>
          <p:spPr>
            <a:xfrm>
              <a:off x="1676636" y="2486486"/>
              <a:ext cx="378462" cy="330446"/>
            </a:xfrm>
            <a:prstGeom prst="round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C17DB6-8162-74D8-00C7-0A097BD4E6D9}"/>
              </a:ext>
            </a:extLst>
          </p:cNvPr>
          <p:cNvSpPr txBox="1">
            <a:spLocks/>
          </p:cNvSpPr>
          <p:nvPr/>
        </p:nvSpPr>
        <p:spPr>
          <a:xfrm>
            <a:off x="357188" y="1160463"/>
            <a:ext cx="9240328" cy="5116512"/>
          </a:xfrm>
          <a:prstGeom prst="rect">
            <a:avLst/>
          </a:prstGeom>
        </p:spPr>
        <p:txBody>
          <a:bodyPr/>
          <a:lstStyle>
            <a:lvl1pPr marL="258763" indent="-258763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Blip>
                <a:blip r:embed="rId3"/>
              </a:buBlip>
              <a:defRPr kumimoji="1"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98475" indent="-238125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763588" indent="-263525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Font typeface="맑은 고딕" panose="020B0503020000020004" pitchFamily="50" charset="-127"/>
              <a:buChar char="－"/>
              <a:defRPr kumimoji="1"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014413" indent="-239713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kern="0" dirty="0"/>
              <a:t>Deploy &amp; run transaction</a:t>
            </a:r>
            <a:r>
              <a:rPr lang="ko-KR" altLang="en-US" kern="0" dirty="0"/>
              <a:t>에서 </a:t>
            </a:r>
            <a:r>
              <a:rPr lang="ko-KR" altLang="en-US" kern="0" dirty="0" err="1"/>
              <a:t>컨트랙트</a:t>
            </a:r>
            <a:r>
              <a:rPr lang="ko-KR" altLang="en-US" kern="0" dirty="0"/>
              <a:t> 배포</a:t>
            </a:r>
          </a:p>
        </p:txBody>
      </p:sp>
      <p:sp>
        <p:nvSpPr>
          <p:cNvPr id="8" name="모서리가 둥근 직사각형 3">
            <a:extLst>
              <a:ext uri="{FF2B5EF4-FFF2-40B4-BE49-F238E27FC236}">
                <a16:creationId xmlns:a16="http://schemas.microsoft.com/office/drawing/2014/main" id="{100C7B02-9341-464F-8B4C-D7FFD2CEFCC1}"/>
              </a:ext>
            </a:extLst>
          </p:cNvPr>
          <p:cNvSpPr/>
          <p:nvPr/>
        </p:nvSpPr>
        <p:spPr>
          <a:xfrm>
            <a:off x="2380133" y="2544256"/>
            <a:ext cx="1406893" cy="306674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11" name="모서리가 둥근 직사각형 3">
            <a:extLst>
              <a:ext uri="{FF2B5EF4-FFF2-40B4-BE49-F238E27FC236}">
                <a16:creationId xmlns:a16="http://schemas.microsoft.com/office/drawing/2014/main" id="{0E9B25E8-D39E-47FA-B2AE-1702E5E48AF4}"/>
              </a:ext>
            </a:extLst>
          </p:cNvPr>
          <p:cNvSpPr/>
          <p:nvPr/>
        </p:nvSpPr>
        <p:spPr>
          <a:xfrm>
            <a:off x="2369910" y="3337123"/>
            <a:ext cx="1406893" cy="306674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67CBE8-C7B0-470E-BA53-83D335E91C4B}"/>
              </a:ext>
            </a:extLst>
          </p:cNvPr>
          <p:cNvSpPr txBox="1"/>
          <p:nvPr/>
        </p:nvSpPr>
        <p:spPr>
          <a:xfrm>
            <a:off x="577837" y="2024844"/>
            <a:ext cx="1210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계정 선택 가능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1E49A020-733D-4F9C-8BDD-3E78716A9142}"/>
              </a:ext>
            </a:extLst>
          </p:cNvPr>
          <p:cNvCxnSpPr>
            <a:stCxn id="6" idx="3"/>
          </p:cNvCxnSpPr>
          <p:nvPr/>
        </p:nvCxnSpPr>
        <p:spPr>
          <a:xfrm>
            <a:off x="1788425" y="2163344"/>
            <a:ext cx="591708" cy="38091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BD89591-4C10-4381-A075-3B298386C480}"/>
              </a:ext>
            </a:extLst>
          </p:cNvPr>
          <p:cNvSpPr txBox="1"/>
          <p:nvPr/>
        </p:nvSpPr>
        <p:spPr>
          <a:xfrm>
            <a:off x="577837" y="3067233"/>
            <a:ext cx="12698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ether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전송 가능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448BE50-BE5C-40F1-BAEC-B472C87877BA}"/>
              </a:ext>
            </a:extLst>
          </p:cNvPr>
          <p:cNvCxnSpPr>
            <a:stCxn id="13" idx="3"/>
            <a:endCxn id="11" idx="1"/>
          </p:cNvCxnSpPr>
          <p:nvPr/>
        </p:nvCxnSpPr>
        <p:spPr>
          <a:xfrm>
            <a:off x="1847736" y="3205733"/>
            <a:ext cx="522174" cy="28472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8642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2AE83-79E4-BDE2-7820-62E7A4D43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71A13C-26D9-A87D-C0F1-F321499F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스마트 </a:t>
            </a:r>
            <a:r>
              <a:rPr lang="ko-KR" altLang="en-US" dirty="0" err="1"/>
              <a:t>컨트랙트</a:t>
            </a:r>
            <a:r>
              <a:rPr lang="ko-KR" altLang="en-US" dirty="0"/>
              <a:t> 실행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E203D97-9C02-D20C-9722-8F99D5EF3B97}"/>
              </a:ext>
            </a:extLst>
          </p:cNvPr>
          <p:cNvGrpSpPr/>
          <p:nvPr/>
        </p:nvGrpSpPr>
        <p:grpSpPr>
          <a:xfrm>
            <a:off x="2031412" y="1700808"/>
            <a:ext cx="5843175" cy="4752528"/>
            <a:chOff x="1856656" y="1485916"/>
            <a:chExt cx="6203215" cy="503942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1A8F22D2-CAC5-1E36-A757-B8EC92FBD0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6656" y="1485916"/>
              <a:ext cx="3086531" cy="5039428"/>
            </a:xfrm>
            <a:prstGeom prst="rect">
              <a:avLst/>
            </a:prstGeom>
          </p:spPr>
        </p:pic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C3405923-2932-5CC1-5308-962679FFAFAA}"/>
                </a:ext>
              </a:extLst>
            </p:cNvPr>
            <p:cNvCxnSpPr>
              <a:cxnSpLocks/>
            </p:cNvCxnSpPr>
            <p:nvPr/>
          </p:nvCxnSpPr>
          <p:spPr>
            <a:xfrm>
              <a:off x="4396186" y="2945255"/>
              <a:ext cx="1183420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C2A6150-3B02-873F-DECF-F4A0F9B9D196}"/>
                </a:ext>
              </a:extLst>
            </p:cNvPr>
            <p:cNvSpPr txBox="1"/>
            <p:nvPr/>
          </p:nvSpPr>
          <p:spPr>
            <a:xfrm>
              <a:off x="5679091" y="2791366"/>
              <a:ext cx="197041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컨트랙트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함수 호출</a:t>
              </a:r>
            </a:p>
          </p:txBody>
        </p: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80E227B2-EC50-C6C5-A8E6-A767E7DB0319}"/>
                </a:ext>
              </a:extLst>
            </p:cNvPr>
            <p:cNvCxnSpPr>
              <a:cxnSpLocks/>
            </p:cNvCxnSpPr>
            <p:nvPr/>
          </p:nvCxnSpPr>
          <p:spPr>
            <a:xfrm>
              <a:off x="4396186" y="4601439"/>
              <a:ext cx="1183420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345D32D-9F9D-0642-B2A0-A4341C13782A}"/>
                </a:ext>
              </a:extLst>
            </p:cNvPr>
            <p:cNvSpPr txBox="1"/>
            <p:nvPr/>
          </p:nvSpPr>
          <p:spPr>
            <a:xfrm>
              <a:off x="5679091" y="4442905"/>
              <a:ext cx="23807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컨트랙트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6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상태변수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확인</a:t>
              </a:r>
            </a:p>
          </p:txBody>
        </p: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0DE0F6D3-E470-5907-E2C1-20F02A6CAF2B}"/>
                </a:ext>
              </a:extLst>
            </p:cNvPr>
            <p:cNvCxnSpPr>
              <a:cxnSpLocks/>
            </p:cNvCxnSpPr>
            <p:nvPr/>
          </p:nvCxnSpPr>
          <p:spPr>
            <a:xfrm>
              <a:off x="3168079" y="4005630"/>
              <a:ext cx="2411527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FE81024-1E41-467F-E0C2-675D11E9E8E9}"/>
                </a:ext>
              </a:extLst>
            </p:cNvPr>
            <p:cNvSpPr txBox="1"/>
            <p:nvPr/>
          </p:nvSpPr>
          <p:spPr>
            <a:xfrm>
              <a:off x="5679091" y="3851741"/>
              <a:ext cx="23807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컨트랙트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6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상태변수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확인</a:t>
              </a:r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2D01103B-0E3C-5110-8E87-656D04C2C13A}"/>
                </a:ext>
              </a:extLst>
            </p:cNvPr>
            <p:cNvCxnSpPr>
              <a:cxnSpLocks/>
            </p:cNvCxnSpPr>
            <p:nvPr/>
          </p:nvCxnSpPr>
          <p:spPr>
            <a:xfrm>
              <a:off x="4396186" y="3341299"/>
              <a:ext cx="1183420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DFB12A8-9924-E23A-D3DB-692C4E2E1060}"/>
                </a:ext>
              </a:extLst>
            </p:cNvPr>
            <p:cNvSpPr txBox="1"/>
            <p:nvPr/>
          </p:nvSpPr>
          <p:spPr>
            <a:xfrm>
              <a:off x="5679091" y="3203669"/>
              <a:ext cx="23807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컨트랙트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6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상태변수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확인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7D1DFDF-0EDC-8C96-AB7E-3FAB68A13EE5}"/>
                </a:ext>
              </a:extLst>
            </p:cNvPr>
            <p:cNvSpPr txBox="1"/>
            <p:nvPr/>
          </p:nvSpPr>
          <p:spPr>
            <a:xfrm>
              <a:off x="5676006" y="4793361"/>
              <a:ext cx="128272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상태변수 값</a:t>
              </a:r>
            </a:p>
          </p:txBody>
        </p: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A6A82AB5-A4C7-1B51-1D19-B1A1576FC8A8}"/>
                </a:ext>
              </a:extLst>
            </p:cNvPr>
            <p:cNvCxnSpPr>
              <a:cxnSpLocks/>
            </p:cNvCxnSpPr>
            <p:nvPr/>
          </p:nvCxnSpPr>
          <p:spPr>
            <a:xfrm>
              <a:off x="3060067" y="4925475"/>
              <a:ext cx="2519539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3A496D-744E-0C74-E4BA-075BAEFA1C39}"/>
              </a:ext>
            </a:extLst>
          </p:cNvPr>
          <p:cNvSpPr txBox="1">
            <a:spLocks/>
          </p:cNvSpPr>
          <p:nvPr/>
        </p:nvSpPr>
        <p:spPr>
          <a:xfrm>
            <a:off x="357188" y="1160463"/>
            <a:ext cx="9240328" cy="5116512"/>
          </a:xfrm>
          <a:prstGeom prst="rect">
            <a:avLst/>
          </a:prstGeom>
        </p:spPr>
        <p:txBody>
          <a:bodyPr/>
          <a:lstStyle>
            <a:lvl1pPr marL="258763" indent="-258763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Blip>
                <a:blip r:embed="rId3"/>
              </a:buBlip>
              <a:defRPr kumimoji="1"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98475" indent="-238125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763588" indent="-263525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Font typeface="맑은 고딕" panose="020B0503020000020004" pitchFamily="50" charset="-127"/>
              <a:buChar char="－"/>
              <a:defRPr kumimoji="1"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014413" indent="-239713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kern="0" dirty="0" err="1"/>
              <a:t>컨트랙트의</a:t>
            </a:r>
            <a:r>
              <a:rPr lang="ko-KR" altLang="en-US" kern="0" dirty="0"/>
              <a:t> 상태를 변경하는 함수가 실행되면 트랜잭션이 발생</a:t>
            </a:r>
          </a:p>
        </p:txBody>
      </p:sp>
    </p:spTree>
    <p:extLst>
      <p:ext uri="{BB962C8B-B14F-4D97-AF65-F5344CB8AC3E}">
        <p14:creationId xmlns:p14="http://schemas.microsoft.com/office/powerpoint/2010/main" val="14603118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연습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arenR"/>
            </a:pPr>
            <a:r>
              <a:rPr lang="en-US" altLang="ko-KR" dirty="0"/>
              <a:t>“01-ElecVote-P.sol”</a:t>
            </a:r>
            <a:r>
              <a:rPr lang="ko-KR" altLang="en-US" dirty="0"/>
              <a:t>을 배포 및 </a:t>
            </a:r>
            <a:r>
              <a:rPr lang="ko-KR" altLang="en-US" dirty="0" err="1"/>
              <a:t>실행하시오</a:t>
            </a:r>
            <a:r>
              <a:rPr lang="en-US" altLang="ko-KR" dirty="0"/>
              <a:t>. </a:t>
            </a:r>
          </a:p>
          <a:p>
            <a:pPr marL="696912" lvl="1" indent="-457200">
              <a:buFont typeface="Arial" panose="020B0604020202020204" pitchFamily="34" charset="0"/>
              <a:buChar char="•"/>
            </a:pPr>
            <a:r>
              <a:rPr lang="ko-KR" altLang="en-US" dirty="0"/>
              <a:t>각 상태변수의 값들을 확인하고</a:t>
            </a:r>
            <a:r>
              <a:rPr lang="en-US" altLang="ko-KR" dirty="0"/>
              <a:t>, </a:t>
            </a:r>
            <a:r>
              <a:rPr lang="ko-KR" altLang="en-US" dirty="0"/>
              <a:t>두 개의 함수들을 실행해 </a:t>
            </a:r>
            <a:r>
              <a:rPr lang="ko-KR" altLang="en-US" dirty="0" err="1"/>
              <a:t>보시오</a:t>
            </a:r>
            <a:r>
              <a:rPr lang="en-US" altLang="ko-KR" dirty="0"/>
              <a:t>.</a:t>
            </a:r>
          </a:p>
          <a:p>
            <a:pPr marL="457200" indent="-457200">
              <a:buFont typeface="+mj-lt"/>
              <a:buAutoNum type="arabicParenR"/>
            </a:pPr>
            <a:r>
              <a:rPr lang="ko-KR" altLang="en-US" dirty="0"/>
              <a:t>후보자의 이름 대신 순번을 사용하는 </a:t>
            </a:r>
            <a:r>
              <a:rPr lang="en-US" altLang="ko-KR" dirty="0"/>
              <a:t>“vote(</a:t>
            </a:r>
            <a:r>
              <a:rPr lang="en-US" altLang="ko-KR" dirty="0" err="1"/>
              <a:t>uint</a:t>
            </a:r>
            <a:r>
              <a:rPr lang="en-US" altLang="ko-KR" dirty="0"/>
              <a:t> index)” </a:t>
            </a:r>
            <a:r>
              <a:rPr lang="ko-KR" altLang="en-US" dirty="0"/>
              <a:t>형태가 되도록 </a:t>
            </a:r>
            <a:r>
              <a:rPr lang="en-US" altLang="ko-KR" dirty="0"/>
              <a:t>“vote(string memory </a:t>
            </a:r>
            <a:r>
              <a:rPr lang="en-US" altLang="ko-KR" dirty="0" err="1"/>
              <a:t>candidateName</a:t>
            </a:r>
            <a:r>
              <a:rPr lang="en-US" altLang="ko-KR" dirty="0"/>
              <a:t>)” </a:t>
            </a:r>
            <a:r>
              <a:rPr lang="ko-KR" altLang="en-US" dirty="0"/>
              <a:t>함수를 </a:t>
            </a:r>
            <a:r>
              <a:rPr lang="ko-KR" altLang="en-US" dirty="0" err="1"/>
              <a:t>변경하시오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7196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91866" y="2204864"/>
            <a:ext cx="5322269" cy="25056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5812</TotalTime>
  <Words>734</Words>
  <Application>Microsoft Office PowerPoint</Application>
  <PresentationFormat>A4 용지(210x297mm)</PresentationFormat>
  <Paragraphs>134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16</vt:i4>
      </vt:variant>
    </vt:vector>
  </HeadingPairs>
  <TitlesOfParts>
    <vt:vector size="25" baseType="lpstr">
      <vt:lpstr>굴림</vt:lpstr>
      <vt:lpstr>나눔고딕</vt:lpstr>
      <vt:lpstr>Arial</vt:lpstr>
      <vt:lpstr>Courier New</vt:lpstr>
      <vt:lpstr>Univers Condensed</vt:lpstr>
      <vt:lpstr>Wingdings</vt:lpstr>
      <vt:lpstr>맑은 고딕</vt:lpstr>
      <vt:lpstr>기본 디자인</vt:lpstr>
      <vt:lpstr>디자인 사용자 지정</vt:lpstr>
      <vt:lpstr>3-7. (Lab) Introduction and Environment Setup</vt:lpstr>
      <vt:lpstr>순서</vt:lpstr>
      <vt:lpstr>A. 컨트랙트 구성</vt:lpstr>
      <vt:lpstr>컨트랙트 예시 (1/3)</vt:lpstr>
      <vt:lpstr>컨트랙트 예시 (2/3)</vt:lpstr>
      <vt:lpstr>컨트랙트 예시 (3/3)</vt:lpstr>
      <vt:lpstr>예제 (01-ElectVote-P.sol)</vt:lpstr>
      <vt:lpstr>B. (실습) 환경 설정 및 Remix 사용</vt:lpstr>
      <vt:lpstr>Remix 개발도구</vt:lpstr>
      <vt:lpstr>Remix 개발도구</vt:lpstr>
      <vt:lpstr>Remix를 통한 컨트랙트 컴파일 및 배포</vt:lpstr>
      <vt:lpstr>스마트 컨트랙트 컴파일</vt:lpstr>
      <vt:lpstr>스마트 컨트랙트 배포</vt:lpstr>
      <vt:lpstr>스마트 컨트랙트 실행</vt:lpstr>
      <vt:lpstr>연습 </vt:lpstr>
      <vt:lpstr>PowerPoint 프레젠테이션</vt:lpstr>
    </vt:vector>
  </TitlesOfParts>
  <Company>SDS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세진 황</cp:lastModifiedBy>
  <cp:revision>160</cp:revision>
  <dcterms:created xsi:type="dcterms:W3CDTF">2011-01-27T23:33:23Z</dcterms:created>
  <dcterms:modified xsi:type="dcterms:W3CDTF">2025-04-06T03:01:22Z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5C58129F-E5B8-477A-9B38-B3E54BFA04C8}" pid="2">
    <vt:blob>PE5TQ1BIPgAAADYAMABDAEEAQgA5AEQAQgBFADMAOAAxAEYANAA5ADkANgBEADEAMAAwAEQAMABD
AEEAOQAxADUANABCADkARABDADcANQAxADUANgA1AEIAQwAxAEQANQBGADEAOQA3ADUAMQA4ADcA
OQBCADYAMABGADQAMQA5AEEAQQAyADYAAAA=</vt:blob>
  </property>
  <property fmtid="{D5CDD505-2E9C-101B-9397-08002B2CF9AE}" pid="2" name="FLCMData">
    <vt:lpwstr>2B6DB54876A7E7A49A5B3AB6B6042F62482DCF38C5130AC721DBD6324B318018BAE7F1B0DF3B9CD78176916D97C269836255A0A1C9FBCA599EAF2CDA2AD877A1</vt:lpwstr>
  </property>
</Properties>
</file>