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49" r:id="rId2"/>
  </p:sldMasterIdLst>
  <p:notesMasterIdLst>
    <p:notesMasterId r:id="rId28"/>
  </p:notesMasterIdLst>
  <p:sldIdLst>
    <p:sldId id="518" r:id="rId3"/>
    <p:sldId id="513" r:id="rId4"/>
    <p:sldId id="515" r:id="rId5"/>
    <p:sldId id="478" r:id="rId6"/>
    <p:sldId id="481" r:id="rId7"/>
    <p:sldId id="519" r:id="rId8"/>
    <p:sldId id="482" r:id="rId9"/>
    <p:sldId id="521" r:id="rId10"/>
    <p:sldId id="539" r:id="rId11"/>
    <p:sldId id="359" r:id="rId12"/>
    <p:sldId id="540" r:id="rId13"/>
    <p:sldId id="479" r:id="rId14"/>
    <p:sldId id="480" r:id="rId15"/>
    <p:sldId id="535" r:id="rId16"/>
    <p:sldId id="536" r:id="rId17"/>
    <p:sldId id="484" r:id="rId18"/>
    <p:sldId id="493" r:id="rId19"/>
    <p:sldId id="494" r:id="rId20"/>
    <p:sldId id="495" r:id="rId21"/>
    <p:sldId id="534" r:id="rId22"/>
    <p:sldId id="537" r:id="rId23"/>
    <p:sldId id="538" r:id="rId24"/>
    <p:sldId id="541" r:id="rId25"/>
    <p:sldId id="487" r:id="rId26"/>
    <p:sldId id="292" r:id="rId27"/>
  </p:sldIdLst>
  <p:sldSz cx="9906000" cy="6858000" type="A4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214">
          <p15:clr>
            <a:srgbClr val="A4A3A4"/>
          </p15:clr>
        </p15:guide>
        <p15:guide id="3" orient="horz" pos="618">
          <p15:clr>
            <a:srgbClr val="A4A3A4"/>
          </p15:clr>
        </p15:guide>
        <p15:guide id="4" orient="horz" pos="754">
          <p15:clr>
            <a:srgbClr val="A4A3A4"/>
          </p15:clr>
        </p15:guide>
        <p15:guide id="5" orient="horz" pos="3974">
          <p15:clr>
            <a:srgbClr val="A4A3A4"/>
          </p15:clr>
        </p15:guide>
        <p15:guide id="6" pos="3120">
          <p15:clr>
            <a:srgbClr val="A4A3A4"/>
          </p15:clr>
        </p15:guide>
        <p15:guide id="7" pos="6019">
          <p15:clr>
            <a:srgbClr val="A4A3A4"/>
          </p15:clr>
        </p15:guide>
        <p15:guide id="8" pos="221">
          <p15:clr>
            <a:srgbClr val="A4A3A4"/>
          </p15:clr>
        </p15:guide>
        <p15:guide id="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4">
          <p15:clr>
            <a:srgbClr val="A4A3A4"/>
          </p15:clr>
        </p15:guide>
        <p15:guide id="2" orient="horz" pos="5397">
          <p15:clr>
            <a:srgbClr val="A4A3A4"/>
          </p15:clr>
        </p15:guide>
        <p15:guide id="3" orient="horz" pos="544">
          <p15:clr>
            <a:srgbClr val="A4A3A4"/>
          </p15:clr>
        </p15:guide>
        <p15:guide id="4" orient="horz" pos="453">
          <p15:clr>
            <a:srgbClr val="A4A3A4"/>
          </p15:clr>
        </p15:guide>
        <p15:guide id="5" orient="horz" pos="3198">
          <p15:clr>
            <a:srgbClr val="A4A3A4"/>
          </p15:clr>
        </p15:guide>
        <p15:guide id="6" orient="horz" pos="1192">
          <p15:clr>
            <a:srgbClr val="A4A3A4"/>
          </p15:clr>
        </p15:guide>
        <p15:guide id="7" orient="horz">
          <p15:clr>
            <a:srgbClr val="A4A3A4"/>
          </p15:clr>
        </p15:guide>
        <p15:guide id="8" pos="436">
          <p15:clr>
            <a:srgbClr val="A4A3A4"/>
          </p15:clr>
        </p15:guide>
        <p15:guide id="9" pos="2161">
          <p15:clr>
            <a:srgbClr val="A4A3A4"/>
          </p15:clr>
        </p15:guide>
        <p15:guide id="10" pos="3997">
          <p15:clr>
            <a:srgbClr val="A4A3A4"/>
          </p15:clr>
        </p15:guide>
        <p15:guide id="11" pos="3884">
          <p15:clr>
            <a:srgbClr val="A4A3A4"/>
          </p15:clr>
        </p15:guide>
        <p15:guide id="12" pos="3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4E4E4"/>
    <a:srgbClr val="DDDDDD"/>
    <a:srgbClr val="FDFDFD"/>
    <a:srgbClr val="DAEDFD"/>
    <a:srgbClr val="48A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470" autoAdjust="0"/>
  </p:normalViewPr>
  <p:slideViewPr>
    <p:cSldViewPr>
      <p:cViewPr varScale="1">
        <p:scale>
          <a:sx n="117" d="100"/>
          <a:sy n="117" d="100"/>
        </p:scale>
        <p:origin x="618" y="96"/>
      </p:cViewPr>
      <p:guideLst>
        <p:guide orient="horz" pos="2160"/>
        <p:guide orient="horz" pos="214"/>
        <p:guide orient="horz" pos="618"/>
        <p:guide orient="horz" pos="754"/>
        <p:guide orient="horz" pos="3974"/>
        <p:guide pos="3120"/>
        <p:guide pos="6019"/>
        <p:guide pos="221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-2796"/>
    </p:cViewPr>
  </p:sorterViewPr>
  <p:notesViewPr>
    <p:cSldViewPr>
      <p:cViewPr varScale="1">
        <p:scale>
          <a:sx n="104" d="100"/>
          <a:sy n="104" d="100"/>
        </p:scale>
        <p:origin x="2946" y="126"/>
      </p:cViewPr>
      <p:guideLst>
        <p:guide orient="horz" pos="3084"/>
        <p:guide orient="horz" pos="5397"/>
        <p:guide orient="horz" pos="544"/>
        <p:guide orient="horz" pos="453"/>
        <p:guide orient="horz" pos="3198"/>
        <p:guide orient="horz" pos="1192"/>
        <p:guide orient="horz"/>
        <p:guide pos="436"/>
        <p:guide pos="2161"/>
        <p:guide pos="3997"/>
        <p:guide pos="3884"/>
        <p:guide pos="323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12763" y="863600"/>
            <a:ext cx="5832475" cy="4038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2150" y="5076825"/>
            <a:ext cx="5473700" cy="3490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endParaRPr lang="en-US" altLang="ko-KR" noProof="0"/>
          </a:p>
        </p:txBody>
      </p:sp>
      <p:sp>
        <p:nvSpPr>
          <p:cNvPr id="4100" name="Line 38"/>
          <p:cNvSpPr>
            <a:spLocks noChangeShapeType="1"/>
          </p:cNvSpPr>
          <p:nvPr/>
        </p:nvSpPr>
        <p:spPr bwMode="auto">
          <a:xfrm>
            <a:off x="512763" y="719138"/>
            <a:ext cx="5832475" cy="0"/>
          </a:xfrm>
          <a:prstGeom prst="line">
            <a:avLst/>
          </a:prstGeom>
          <a:noFill/>
          <a:ln w="9525">
            <a:solidFill>
              <a:srgbClr val="33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4341" name="Text Box 39"/>
          <p:cNvSpPr txBox="1">
            <a:spLocks noChangeArrowheads="1"/>
          </p:cNvSpPr>
          <p:nvPr/>
        </p:nvSpPr>
        <p:spPr bwMode="auto">
          <a:xfrm>
            <a:off x="441325" y="515938"/>
            <a:ext cx="3424238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buFont typeface="Wingdings" pitchFamily="2" charset="2"/>
              <a:buNone/>
              <a:defRPr/>
            </a:pPr>
            <a:r>
              <a:rPr lang="ko-KR" altLang="en-US" sz="900" dirty="0" err="1">
                <a:latin typeface="Univers Condensed" pitchFamily="34" charset="0"/>
                <a:ea typeface="맑은 고딕" panose="020B0503020000020004" pitchFamily="50" charset="-127"/>
              </a:rPr>
              <a:t>과정명</a:t>
            </a:r>
            <a:r>
              <a:rPr lang="en-US" altLang="ko-KR" sz="900" dirty="0">
                <a:latin typeface="Univers Condensed" pitchFamily="34" charset="0"/>
                <a:ea typeface="맑은 고딕" panose="020B0503020000020004" pitchFamily="50" charset="-127"/>
              </a:rPr>
              <a:t>......</a:t>
            </a:r>
          </a:p>
        </p:txBody>
      </p:sp>
      <p:sp>
        <p:nvSpPr>
          <p:cNvPr id="3112" name="Rectangle 40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944688" y="8567738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9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025C4DC-F23E-4392-86C6-C88720889732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4103" name="Group 60"/>
          <p:cNvGrpSpPr>
            <a:grpSpLocks/>
          </p:cNvGrpSpPr>
          <p:nvPr/>
        </p:nvGrpSpPr>
        <p:grpSpPr bwMode="auto">
          <a:xfrm>
            <a:off x="760413" y="5240338"/>
            <a:ext cx="5241925" cy="2984500"/>
            <a:chOff x="479" y="3301"/>
            <a:chExt cx="3302" cy="1880"/>
          </a:xfrm>
        </p:grpSpPr>
        <p:pic>
          <p:nvPicPr>
            <p:cNvPr id="4104" name="Picture 11" descr="2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9" y="3301"/>
              <a:ext cx="488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105" name="Group 59"/>
            <p:cNvGrpSpPr>
              <a:grpSpLocks/>
            </p:cNvGrpSpPr>
            <p:nvPr/>
          </p:nvGrpSpPr>
          <p:grpSpPr bwMode="auto">
            <a:xfrm>
              <a:off x="527" y="3454"/>
              <a:ext cx="3254" cy="1727"/>
              <a:chOff x="589" y="3454"/>
              <a:chExt cx="3254" cy="1727"/>
            </a:xfrm>
          </p:grpSpPr>
          <p:sp>
            <p:nvSpPr>
              <p:cNvPr id="4106" name="Line 12"/>
              <p:cNvSpPr>
                <a:spLocks noChangeShapeType="1"/>
              </p:cNvSpPr>
              <p:nvPr/>
            </p:nvSpPr>
            <p:spPr bwMode="auto">
              <a:xfrm>
                <a:off x="1092" y="3454"/>
                <a:ext cx="2751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7" name="Line 13"/>
              <p:cNvSpPr>
                <a:spLocks noChangeShapeType="1"/>
              </p:cNvSpPr>
              <p:nvPr/>
            </p:nvSpPr>
            <p:spPr bwMode="auto">
              <a:xfrm>
                <a:off x="589" y="366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8" name="Line 14"/>
              <p:cNvSpPr>
                <a:spLocks noChangeShapeType="1"/>
              </p:cNvSpPr>
              <p:nvPr/>
            </p:nvSpPr>
            <p:spPr bwMode="auto">
              <a:xfrm>
                <a:off x="589" y="3886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09" name="Line 15"/>
              <p:cNvSpPr>
                <a:spLocks noChangeShapeType="1"/>
              </p:cNvSpPr>
              <p:nvPr/>
            </p:nvSpPr>
            <p:spPr bwMode="auto">
              <a:xfrm>
                <a:off x="589" y="4102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0" name="Line 16"/>
              <p:cNvSpPr>
                <a:spLocks noChangeShapeType="1"/>
              </p:cNvSpPr>
              <p:nvPr/>
            </p:nvSpPr>
            <p:spPr bwMode="auto">
              <a:xfrm>
                <a:off x="589" y="4317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1" name="Line 17"/>
              <p:cNvSpPr>
                <a:spLocks noChangeShapeType="1"/>
              </p:cNvSpPr>
              <p:nvPr/>
            </p:nvSpPr>
            <p:spPr bwMode="auto">
              <a:xfrm>
                <a:off x="589" y="4533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2" name="Line 18"/>
              <p:cNvSpPr>
                <a:spLocks noChangeShapeType="1"/>
              </p:cNvSpPr>
              <p:nvPr/>
            </p:nvSpPr>
            <p:spPr bwMode="auto">
              <a:xfrm>
                <a:off x="589" y="4749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3" name="Line 19"/>
              <p:cNvSpPr>
                <a:spLocks noChangeShapeType="1"/>
              </p:cNvSpPr>
              <p:nvPr/>
            </p:nvSpPr>
            <p:spPr bwMode="auto">
              <a:xfrm>
                <a:off x="589" y="4965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  <p:sp>
            <p:nvSpPr>
              <p:cNvPr id="4114" name="Line 20"/>
              <p:cNvSpPr>
                <a:spLocks noChangeShapeType="1"/>
              </p:cNvSpPr>
              <p:nvPr/>
            </p:nvSpPr>
            <p:spPr bwMode="auto">
              <a:xfrm>
                <a:off x="589" y="5181"/>
                <a:ext cx="3254" cy="0"/>
              </a:xfrm>
              <a:prstGeom prst="line">
                <a:avLst/>
              </a:prstGeom>
              <a:noFill/>
              <a:ln w="9525" cap="rnd">
                <a:solidFill>
                  <a:schemeClr val="bg2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36000" tIns="46800" rIns="0" bIns="46800"/>
              <a:lstStyle/>
              <a:p>
                <a:endParaRPr lang="ko-KR" altLang="en-US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notesStyle>
    <a:lvl1pPr marL="165100" indent="-165100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나눔고딕" pitchFamily="50" charset="-127"/>
      <a:buChar char="■"/>
      <a:defRPr kumimoji="1" sz="10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304800" indent="-1381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Wingdings" panose="05000000000000000000" pitchFamily="2" charset="2"/>
      <a:buChar char="§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419100" indent="-112713" algn="l" rtl="0" eaLnBrk="0" fontAlgn="base" latinLnBrk="1" hangingPunct="0">
      <a:lnSpc>
        <a:spcPct val="120000"/>
      </a:lnSpc>
      <a:spcBef>
        <a:spcPct val="50000"/>
      </a:spcBef>
      <a:spcAft>
        <a:spcPct val="0"/>
      </a:spcAft>
      <a:buFont typeface="맑은 고딕" panose="020B0503020000020004" pitchFamily="50" charset="-127"/>
      <a:buChar char="–"/>
      <a:defRPr kumimoji="1" sz="9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6002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057400" indent="-228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속간지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F1A589F-322F-4FBB-A7F4-8E4171BE5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472" y="764704"/>
            <a:ext cx="9505056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>
            <a:extLst>
              <a:ext uri="{FF2B5EF4-FFF2-40B4-BE49-F238E27FC236}">
                <a16:creationId xmlns:a16="http://schemas.microsoft.com/office/drawing/2014/main" id="{18B47862-13CA-4396-9130-880F20C85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2560" y="3886200"/>
            <a:ext cx="7920880" cy="1752600"/>
          </a:xfrm>
        </p:spPr>
        <p:txBody>
          <a:bodyPr anchor="ctr"/>
          <a:lstStyle>
            <a:lvl1pPr marL="0" indent="0" algn="ctr">
              <a:buFont typeface="+mj-lt"/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0926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908024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8366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63538" y="1192213"/>
            <a:ext cx="4519612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192213"/>
            <a:ext cx="4519613" cy="511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606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0888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58785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017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84660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1102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94904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54875" y="339725"/>
            <a:ext cx="2300288" cy="59690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50838" y="339725"/>
            <a:ext cx="6751637" cy="59690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90426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6" descr="140917템플릿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9603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72480" y="2564904"/>
            <a:ext cx="9361040" cy="1575048"/>
          </a:xfrm>
        </p:spPr>
        <p:txBody>
          <a:bodyPr lIns="91429" tIns="45715" rIns="91429" bIns="45715" anchor="ctr"/>
          <a:lstStyle>
            <a:lvl1pPr algn="ctr">
              <a:defRPr sz="4000">
                <a:solidFill>
                  <a:srgbClr val="00336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493660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9205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59279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82198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654950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7252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241878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9432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858026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989611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9756743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18543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40917템플릿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6075" y="115888"/>
            <a:ext cx="8915400" cy="606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188" y="1160463"/>
            <a:ext cx="9191625" cy="5116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32" r:id="rId12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나눔고딕" pitchFamily="50" charset="-127"/>
          <a:ea typeface="나눔고딕" pitchFamily="50" charset="-127"/>
        </a:defRPr>
      </a:lvl9pPr>
    </p:titleStyle>
    <p:bodyStyle>
      <a:lvl1pPr marL="258763" indent="-25876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SzPct val="80000"/>
        <a:buFont typeface="Wingdings" panose="05000000000000000000" pitchFamily="2" charset="2"/>
        <a:buBlip>
          <a:blip r:embed="rId15"/>
        </a:buBlip>
        <a:defRPr kumimoji="1" sz="20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498475" indent="-2381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Wingdings" panose="05000000000000000000" pitchFamily="2" charset="2"/>
        <a:buChar char="§"/>
        <a:defRPr kumimoji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763588" indent="-263525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Font typeface="Arial" panose="020B0604020202020204" pitchFamily="34" charset="0"/>
        <a:buChar char="•"/>
        <a:defRPr kumimoji="1" sz="16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014413" indent="-239713" algn="l" rtl="0" eaLnBrk="0" fontAlgn="base" hangingPunct="0">
        <a:lnSpc>
          <a:spcPct val="110000"/>
        </a:lnSpc>
        <a:spcBef>
          <a:spcPct val="3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olidity-by-example.org/" TargetMode="External"/><Relationship Id="rId3" Type="http://schemas.openxmlformats.org/officeDocument/2006/relationships/hyperlink" Target="https://ethereum.org/en/developers/docs/" TargetMode="External"/><Relationship Id="rId7" Type="http://schemas.openxmlformats.org/officeDocument/2006/relationships/hyperlink" Target="https://docs.soliditylang.org/en/latest/" TargetMode="External"/><Relationship Id="rId2" Type="http://schemas.openxmlformats.org/officeDocument/2006/relationships/hyperlink" Target="https://ethereum.org/en/developer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thereum.org/en/developers/local-environment/" TargetMode="External"/><Relationship Id="rId5" Type="http://schemas.openxmlformats.org/officeDocument/2006/relationships/hyperlink" Target="https://ethereum.org/en/developers/learning-tools/" TargetMode="External"/><Relationship Id="rId10" Type="http://schemas.openxmlformats.org/officeDocument/2006/relationships/hyperlink" Target="https://hardhat.org/tutorial" TargetMode="External"/><Relationship Id="rId4" Type="http://schemas.openxmlformats.org/officeDocument/2006/relationships/hyperlink" Target="https://ethereum.org/en/developers/tutorials/" TargetMode="External"/><Relationship Id="rId9" Type="http://schemas.openxmlformats.org/officeDocument/2006/relationships/hyperlink" Target="https://github.com/OpenZeppelin/openzeppelin-contracts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3-9. (Lab) Functions and</a:t>
            </a:r>
            <a:r>
              <a:rPr lang="ko-KR" altLang="en-US" dirty="0"/>
              <a:t> </a:t>
            </a:r>
            <a:r>
              <a:rPr lang="en-US" altLang="ko-KR" dirty="0"/>
              <a:t>Other</a:t>
            </a:r>
            <a:r>
              <a:rPr lang="ko-KR" altLang="en-US" dirty="0"/>
              <a:t> </a:t>
            </a:r>
            <a:r>
              <a:rPr lang="en-US" altLang="ko-KR" dirty="0"/>
              <a:t>Features</a:t>
            </a:r>
            <a:endParaRPr lang="ko-KR" altLang="en-US" dirty="0"/>
          </a:p>
        </p:txBody>
      </p:sp>
      <p:sp>
        <p:nvSpPr>
          <p:cNvPr id="5123" name="부제목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ko-KR" altLang="en-US" dirty="0"/>
              <a:t>한양대학교 </a:t>
            </a:r>
            <a:r>
              <a:rPr lang="ko-KR" altLang="en-US" dirty="0" err="1"/>
              <a:t>컴퓨터소프트웨어학부</a:t>
            </a:r>
            <a:r>
              <a:rPr lang="ko-KR" altLang="en-US" dirty="0"/>
              <a:t> 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유민수 교수</a:t>
            </a:r>
            <a:endParaRPr lang="en-US" altLang="ko-K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F952F-F54D-421E-A814-9CE4AF921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순서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4A4792-48EF-4AAF-B67C-9F5298512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함수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ko-KR" altLang="en-US" dirty="0"/>
              <a:t>특수 함수 및 기타</a:t>
            </a:r>
            <a:endParaRPr lang="en-US" altLang="ko-KR" dirty="0"/>
          </a:p>
          <a:p>
            <a:pPr marL="457200" indent="-457200">
              <a:buFont typeface="+mj-lt"/>
              <a:buAutoNum type="alphaUcPeriod"/>
            </a:pP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함수 호출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ETH</a:t>
            </a:r>
            <a:r>
              <a:rPr lang="ko-KR" altLang="en-US" dirty="0"/>
              <a:t> 송수신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참고자료</a:t>
            </a:r>
            <a:endParaRPr lang="en-US" altLang="ko-KR" dirty="0"/>
          </a:p>
          <a:p>
            <a:pPr lvl="1"/>
            <a:r>
              <a:rPr lang="en-US" altLang="ko-KR" dirty="0"/>
              <a:t>Ethereum Developer Resources: </a:t>
            </a:r>
            <a:r>
              <a:rPr lang="en-US" altLang="ko-KR" dirty="0">
                <a:hlinkClick r:id="rId2"/>
              </a:rPr>
              <a:t>https://ethereum.org/en/developers/</a:t>
            </a:r>
            <a:endParaRPr lang="en-US" altLang="ko-KR" dirty="0"/>
          </a:p>
          <a:p>
            <a:pPr lvl="2"/>
            <a:r>
              <a:rPr lang="en-US" altLang="ko-KR" dirty="0"/>
              <a:t>Ethereum Developer Documentation: </a:t>
            </a:r>
            <a:r>
              <a:rPr lang="en-US" altLang="ko-KR" dirty="0">
                <a:hlinkClick r:id="rId3"/>
              </a:rPr>
              <a:t>https://ethereum.org/en/developers/docs/</a:t>
            </a:r>
            <a:endParaRPr lang="en-US" altLang="ko-KR" dirty="0"/>
          </a:p>
          <a:p>
            <a:pPr lvl="2"/>
            <a:r>
              <a:rPr lang="en-US" altLang="ko-KR" dirty="0"/>
              <a:t>Ethereum Development Tutorials: </a:t>
            </a:r>
            <a:r>
              <a:rPr lang="en-US" altLang="ko-KR" dirty="0">
                <a:hlinkClick r:id="rId4"/>
              </a:rPr>
              <a:t>https://ethereum.org/en/developers/tutorials/</a:t>
            </a:r>
            <a:endParaRPr lang="en-US" altLang="ko-KR" dirty="0"/>
          </a:p>
          <a:p>
            <a:pPr lvl="2"/>
            <a:r>
              <a:rPr lang="en-US" altLang="ko-KR" dirty="0"/>
              <a:t>Learn by Coding: </a:t>
            </a:r>
            <a:r>
              <a:rPr lang="en-US" altLang="ko-KR" dirty="0">
                <a:hlinkClick r:id="rId5"/>
              </a:rPr>
              <a:t>https://ethereum.org/en/developers/learning-tools/</a:t>
            </a:r>
            <a:endParaRPr lang="en-US" altLang="ko-KR" dirty="0"/>
          </a:p>
          <a:p>
            <a:pPr lvl="2"/>
            <a:r>
              <a:rPr lang="en-US" altLang="ko-KR" dirty="0"/>
              <a:t>Local Environment: </a:t>
            </a:r>
            <a:r>
              <a:rPr lang="en-US" altLang="ko-KR" dirty="0">
                <a:hlinkClick r:id="rId6"/>
              </a:rPr>
              <a:t>https://ethereum.org/en/developers/local-environment/</a:t>
            </a:r>
            <a:endParaRPr lang="en-US" altLang="ko-KR" dirty="0"/>
          </a:p>
          <a:p>
            <a:pPr lvl="1"/>
            <a:r>
              <a:rPr lang="en-US" altLang="ko-KR" dirty="0"/>
              <a:t>Solidity Language: </a:t>
            </a:r>
            <a:r>
              <a:rPr lang="en-US" altLang="ko-KR" dirty="0">
                <a:hlinkClick r:id="rId7"/>
              </a:rPr>
              <a:t>https://docs.soliditylang.org/en/latest/</a:t>
            </a:r>
            <a:endParaRPr lang="en-US" altLang="ko-KR" dirty="0"/>
          </a:p>
          <a:p>
            <a:pPr lvl="2"/>
            <a:r>
              <a:rPr lang="en-US" altLang="ko-KR" dirty="0">
                <a:hlinkClick r:id="rId8"/>
              </a:rPr>
              <a:t>https://solidity-by-example.org/</a:t>
            </a:r>
            <a:endParaRPr lang="en-US" altLang="ko-KR" dirty="0"/>
          </a:p>
          <a:p>
            <a:pPr lvl="2"/>
            <a:r>
              <a:rPr lang="en-US" altLang="ko-KR" dirty="0">
                <a:hlinkClick r:id="rId9"/>
              </a:rPr>
              <a:t>https://github.com/OpenZeppelin/openzeppelin-contracts</a:t>
            </a:r>
            <a:endParaRPr lang="en-US" altLang="ko-KR" dirty="0"/>
          </a:p>
          <a:p>
            <a:pPr lvl="1"/>
            <a:r>
              <a:rPr lang="en-US" altLang="ko-KR" dirty="0"/>
              <a:t>Hardhat Tutorial: </a:t>
            </a:r>
            <a:r>
              <a:rPr lang="en-US" altLang="ko-KR" dirty="0">
                <a:hlinkClick r:id="rId10"/>
              </a:rPr>
              <a:t>https://hardhat.org/tutorial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920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A. </a:t>
            </a:r>
            <a:r>
              <a:rPr lang="ko-KR" altLang="en-US" dirty="0"/>
              <a:t>함수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9593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함수의 의미와 형식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함수의 의미</a:t>
            </a:r>
            <a:endParaRPr lang="en-US" altLang="ko-KR" dirty="0"/>
          </a:p>
          <a:p>
            <a:pPr lvl="1"/>
            <a:r>
              <a:rPr lang="ko-KR" altLang="en-US" dirty="0" err="1"/>
              <a:t>컨트랙트의</a:t>
            </a:r>
            <a:r>
              <a:rPr lang="ko-KR" altLang="en-US" dirty="0"/>
              <a:t> 호출</a:t>
            </a:r>
            <a:r>
              <a:rPr lang="en-US" altLang="ko-KR" dirty="0"/>
              <a:t>·</a:t>
            </a:r>
            <a:r>
              <a:rPr lang="ko-KR" altLang="en-US" dirty="0"/>
              <a:t>실행의 단위</a:t>
            </a:r>
            <a:endParaRPr lang="en-US" altLang="ko-KR" dirty="0"/>
          </a:p>
          <a:p>
            <a:pPr lvl="1"/>
            <a:r>
              <a:rPr lang="ko-KR" altLang="en-US" dirty="0"/>
              <a:t>주요 작업</a:t>
            </a:r>
            <a:r>
              <a:rPr lang="en-US" altLang="ko-KR" dirty="0"/>
              <a:t>: </a:t>
            </a:r>
            <a:r>
              <a:rPr lang="ko-KR" altLang="en-US" dirty="0"/>
              <a:t>변수 읽기</a:t>
            </a:r>
            <a:r>
              <a:rPr lang="en-US" altLang="ko-KR" dirty="0"/>
              <a:t>/</a:t>
            </a:r>
            <a:r>
              <a:rPr lang="ko-KR" altLang="en-US" dirty="0"/>
              <a:t>연산</a:t>
            </a:r>
            <a:r>
              <a:rPr lang="en-US" altLang="ko-KR" dirty="0"/>
              <a:t>/</a:t>
            </a:r>
            <a:r>
              <a:rPr lang="ko-KR" altLang="en-US" dirty="0"/>
              <a:t>쓰기</a:t>
            </a:r>
            <a:r>
              <a:rPr lang="en-US" altLang="ko-KR" dirty="0"/>
              <a:t>, </a:t>
            </a:r>
            <a:r>
              <a:rPr lang="ko-KR" altLang="en-US" dirty="0" err="1"/>
              <a:t>조건문</a:t>
            </a:r>
            <a:r>
              <a:rPr lang="en-US" altLang="ko-KR" dirty="0"/>
              <a:t>, </a:t>
            </a:r>
            <a:r>
              <a:rPr lang="ko-KR" altLang="en-US" dirty="0" err="1"/>
              <a:t>반복문</a:t>
            </a:r>
            <a:r>
              <a:rPr lang="ko-KR" altLang="en-US" dirty="0"/>
              <a:t> 등을 실행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함수의 형식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복수의 </a:t>
            </a:r>
            <a:r>
              <a:rPr lang="ko-KR" altLang="en-US" dirty="0" err="1"/>
              <a:t>반환값</a:t>
            </a:r>
            <a:r>
              <a:rPr lang="ko-KR" altLang="en-US" dirty="0"/>
              <a:t> 예시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1280592" y="3284984"/>
            <a:ext cx="7416824" cy="738664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getName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index) public view returns(string memory) {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…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60713" y="422108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함수명</a:t>
            </a:r>
            <a:endParaRPr lang="ko-KR" altLang="en-US" sz="1400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+mj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0768" y="422812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인자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98038" y="4214380"/>
            <a:ext cx="723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가시성</a:t>
            </a:r>
            <a:endParaRPr lang="ko-KR" altLang="en-US" sz="1400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+mj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07368" y="4214379"/>
            <a:ext cx="1082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상태변경성</a:t>
            </a:r>
            <a:endParaRPr lang="ko-KR" altLang="en-US" sz="1400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+mj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74432" y="4221088"/>
            <a:ext cx="18453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반환값</a:t>
            </a:r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 </a:t>
            </a:r>
            <a:endParaRPr lang="en-US" altLang="ko-KR" sz="1400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+mj-cs"/>
            </a:endParaRPr>
          </a:p>
          <a:p>
            <a:pPr algn="ctr"/>
            <a:r>
              <a:rPr lang="en-US" altLang="ko-KR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(</a:t>
            </a:r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복수의 </a:t>
            </a:r>
            <a:r>
              <a:rPr lang="ko-KR" altLang="en-US" sz="1400" dirty="0" err="1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반환값</a:t>
            </a:r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 가능</a:t>
            </a:r>
            <a:r>
              <a:rPr lang="en-US" altLang="ko-KR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)</a:t>
            </a:r>
            <a:endParaRPr lang="ko-KR" altLang="en-US" sz="1400" dirty="0">
              <a:solidFill>
                <a:srgbClr val="0033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HY헤드라인M" panose="02030600000101010101" pitchFamily="18" charset="-127"/>
              <a:ea typeface="HY헤드라인M" panose="02030600000101010101" pitchFamily="18" charset="-127"/>
              <a:cs typeface="+mj-cs"/>
            </a:endParaRPr>
          </a:p>
        </p:txBody>
      </p:sp>
      <p:cxnSp>
        <p:nvCxnSpPr>
          <p:cNvPr id="5" name="직선 화살표 연결선 4"/>
          <p:cNvCxnSpPr/>
          <p:nvPr/>
        </p:nvCxnSpPr>
        <p:spPr bwMode="auto">
          <a:xfrm flipH="1" flipV="1">
            <a:off x="2722350" y="3527788"/>
            <a:ext cx="1" cy="7003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직선 화살표 연결선 13"/>
          <p:cNvCxnSpPr/>
          <p:nvPr/>
        </p:nvCxnSpPr>
        <p:spPr bwMode="auto">
          <a:xfrm flipH="1" flipV="1">
            <a:off x="3752638" y="3527788"/>
            <a:ext cx="1" cy="7003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직선 화살표 연결선 14"/>
          <p:cNvCxnSpPr/>
          <p:nvPr/>
        </p:nvCxnSpPr>
        <p:spPr bwMode="auto">
          <a:xfrm flipH="1" flipV="1">
            <a:off x="5416464" y="3527788"/>
            <a:ext cx="1" cy="7003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직선 화살표 연결선 15"/>
          <p:cNvCxnSpPr/>
          <p:nvPr/>
        </p:nvCxnSpPr>
        <p:spPr bwMode="auto">
          <a:xfrm flipH="1" flipV="1">
            <a:off x="4782926" y="3527788"/>
            <a:ext cx="1" cy="7003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직선 화살표 연결선 16"/>
          <p:cNvCxnSpPr/>
          <p:nvPr/>
        </p:nvCxnSpPr>
        <p:spPr bwMode="auto">
          <a:xfrm flipH="1" flipV="1">
            <a:off x="7257256" y="3527788"/>
            <a:ext cx="1" cy="70033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686987" y="5265204"/>
            <a:ext cx="6840760" cy="738664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returnMany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public pure returns (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bool,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(1, true, 2);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05760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함수의 가시성 </a:t>
            </a:r>
            <a:r>
              <a:rPr lang="en-US" altLang="ko-KR" dirty="0"/>
              <a:t>(Visibility)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가시성</a:t>
            </a:r>
            <a:endParaRPr lang="en-US" altLang="ko-KR" dirty="0"/>
          </a:p>
          <a:p>
            <a:pPr lvl="1"/>
            <a:r>
              <a:rPr lang="ko-KR" altLang="en-US" dirty="0" err="1"/>
              <a:t>컨트랙트</a:t>
            </a:r>
            <a:r>
              <a:rPr lang="ko-KR" altLang="en-US" dirty="0"/>
              <a:t> 내부 또는 외부에서 함수를 접근할 때 가시성 유형에 따라 접근이 제어됨</a:t>
            </a:r>
            <a:endParaRPr lang="en-US" altLang="ko-KR" dirty="0"/>
          </a:p>
          <a:p>
            <a:pPr lvl="1"/>
            <a:r>
              <a:rPr lang="ko-KR" altLang="en-US" dirty="0"/>
              <a:t>모든 함수는</a:t>
            </a:r>
            <a:r>
              <a:rPr lang="en-US" altLang="ko-KR" dirty="0"/>
              <a:t> </a:t>
            </a:r>
            <a:r>
              <a:rPr lang="ko-KR" altLang="en-US" dirty="0"/>
              <a:t>가시성을</a:t>
            </a:r>
            <a:r>
              <a:rPr lang="en-US" altLang="ko-KR" dirty="0"/>
              <a:t> </a:t>
            </a:r>
            <a:r>
              <a:rPr lang="ko-KR" altLang="en-US" dirty="0"/>
              <a:t>지정해야 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가시성 유형</a:t>
            </a:r>
            <a:endParaRPr lang="en-US" altLang="ko-KR" dirty="0"/>
          </a:p>
          <a:p>
            <a:pPr lvl="1"/>
            <a:r>
              <a:rPr lang="en-US" altLang="ko-KR" dirty="0"/>
              <a:t>private: </a:t>
            </a:r>
            <a:r>
              <a:rPr lang="ko-KR" altLang="en-US" dirty="0" err="1"/>
              <a:t>컨트랙트</a:t>
            </a:r>
            <a:r>
              <a:rPr lang="ko-KR" altLang="en-US" dirty="0"/>
              <a:t> 내부에서 접근 가능</a:t>
            </a:r>
            <a:endParaRPr lang="en-US" altLang="ko-KR" dirty="0"/>
          </a:p>
          <a:p>
            <a:pPr lvl="2"/>
            <a:r>
              <a:rPr lang="ko-KR" altLang="en-US" dirty="0" err="1"/>
              <a:t>상속시</a:t>
            </a:r>
            <a:r>
              <a:rPr lang="ko-KR" altLang="en-US" dirty="0"/>
              <a:t> 자식 </a:t>
            </a:r>
            <a:r>
              <a:rPr lang="ko-KR" altLang="en-US" dirty="0" err="1"/>
              <a:t>컨트랙트에서</a:t>
            </a:r>
            <a:r>
              <a:rPr lang="ko-KR" altLang="en-US" dirty="0"/>
              <a:t> 접근 불가능</a:t>
            </a:r>
            <a:endParaRPr lang="en-US" altLang="ko-KR" dirty="0"/>
          </a:p>
          <a:p>
            <a:pPr lvl="1"/>
            <a:r>
              <a:rPr lang="en-US" altLang="ko-KR" dirty="0"/>
              <a:t>internal: </a:t>
            </a:r>
            <a:r>
              <a:rPr lang="ko-KR" altLang="en-US" dirty="0" err="1"/>
              <a:t>컨트랙트</a:t>
            </a:r>
            <a:r>
              <a:rPr lang="ko-KR" altLang="en-US" dirty="0"/>
              <a:t> 내부에서 접근 가능</a:t>
            </a:r>
            <a:endParaRPr lang="en-US" altLang="ko-KR" dirty="0"/>
          </a:p>
          <a:p>
            <a:pPr lvl="2"/>
            <a:r>
              <a:rPr lang="ko-KR" altLang="en-US" dirty="0" err="1"/>
              <a:t>상속시</a:t>
            </a:r>
            <a:r>
              <a:rPr lang="ko-KR" altLang="en-US" dirty="0"/>
              <a:t> 자식 </a:t>
            </a:r>
            <a:r>
              <a:rPr lang="ko-KR" altLang="en-US" dirty="0" err="1"/>
              <a:t>컨트랙트에서</a:t>
            </a:r>
            <a:r>
              <a:rPr lang="ko-KR" altLang="en-US" dirty="0"/>
              <a:t> 접근 가능</a:t>
            </a:r>
            <a:endParaRPr lang="en-US" altLang="ko-KR" dirty="0"/>
          </a:p>
          <a:p>
            <a:pPr lvl="1"/>
            <a:r>
              <a:rPr lang="en-US" altLang="ko-KR" dirty="0"/>
              <a:t>public: </a:t>
            </a:r>
            <a:r>
              <a:rPr lang="ko-KR" altLang="en-US" dirty="0" err="1"/>
              <a:t>컨트랙트</a:t>
            </a:r>
            <a:r>
              <a:rPr lang="ko-KR" altLang="en-US" dirty="0"/>
              <a:t> 내부 및 외부에서 접근 가능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상태변수의 값을 읽을 수 있도록 자동으로 생성된 </a:t>
            </a:r>
            <a:r>
              <a:rPr lang="ko-KR" altLang="en-US" dirty="0" err="1"/>
              <a:t>겟터</a:t>
            </a:r>
            <a:r>
              <a:rPr lang="en-US" altLang="ko-KR" dirty="0"/>
              <a:t>(getter) </a:t>
            </a:r>
            <a:r>
              <a:rPr lang="ko-KR" altLang="en-US" dirty="0"/>
              <a:t>함수는 </a:t>
            </a:r>
            <a:r>
              <a:rPr lang="en-US" altLang="ko-KR" dirty="0"/>
              <a:t>public</a:t>
            </a:r>
          </a:p>
          <a:p>
            <a:pPr lvl="1"/>
            <a:r>
              <a:rPr lang="en-US" altLang="ko-KR" dirty="0"/>
              <a:t>external: </a:t>
            </a:r>
            <a:r>
              <a:rPr lang="ko-KR" altLang="en-US" dirty="0" err="1"/>
              <a:t>컨트랙트</a:t>
            </a:r>
            <a:r>
              <a:rPr lang="ko-KR" altLang="en-US" dirty="0"/>
              <a:t> 외부에서만 접근 가능</a:t>
            </a:r>
            <a:endParaRPr lang="en-US" altLang="ko-KR" dirty="0"/>
          </a:p>
          <a:p>
            <a:pPr lvl="2"/>
            <a:r>
              <a:rPr lang="ko-KR" altLang="en-US" dirty="0"/>
              <a:t>내부에서는 </a:t>
            </a:r>
            <a:r>
              <a:rPr lang="en-US" altLang="ko-KR" dirty="0" err="1"/>
              <a:t>this.f</a:t>
            </a:r>
            <a:r>
              <a:rPr lang="en-US" altLang="ko-KR" dirty="0"/>
              <a:t>() </a:t>
            </a:r>
            <a:r>
              <a:rPr lang="ko-KR" altLang="en-US" dirty="0"/>
              <a:t>형태로 접근 가능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9684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42B3DF-E7B9-4C9E-AEB7-5A26655F5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Free Functions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AD8892-81E4-4910-914C-0495E0659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함수는 </a:t>
            </a:r>
            <a:r>
              <a:rPr lang="ko-KR" altLang="en-US" dirty="0" err="1"/>
              <a:t>컨트랙트</a:t>
            </a:r>
            <a:r>
              <a:rPr lang="ko-KR" altLang="en-US" dirty="0"/>
              <a:t> 내부 또는 외부에서 정의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컨트랙트</a:t>
            </a:r>
            <a:r>
              <a:rPr lang="ko-KR" altLang="en-US" dirty="0"/>
              <a:t> 외부에서 정의되는 함수</a:t>
            </a:r>
            <a:endParaRPr lang="en-US" altLang="ko-KR" dirty="0"/>
          </a:p>
          <a:p>
            <a:pPr lvl="1"/>
            <a:r>
              <a:rPr lang="en-US" altLang="ko-KR" dirty="0"/>
              <a:t>“free function”</a:t>
            </a:r>
            <a:r>
              <a:rPr lang="ko-KR" altLang="en-US" dirty="0"/>
              <a:t>이라 불리우며</a:t>
            </a:r>
            <a:r>
              <a:rPr lang="en-US" altLang="ko-KR" dirty="0"/>
              <a:t>, “internal” </a:t>
            </a:r>
            <a:r>
              <a:rPr lang="ko-KR" altLang="en-US" dirty="0"/>
              <a:t>가시성을 가짐</a:t>
            </a:r>
            <a:endParaRPr lang="en-US" altLang="ko-KR" dirty="0"/>
          </a:p>
          <a:p>
            <a:pPr lvl="1"/>
            <a:r>
              <a:rPr lang="en-US" altLang="ko-KR" dirty="0"/>
              <a:t>“free function”</a:t>
            </a:r>
            <a:r>
              <a:rPr lang="ko-KR" altLang="en-US" dirty="0"/>
              <a:t>을 호출하는 </a:t>
            </a:r>
            <a:r>
              <a:rPr lang="ko-KR" altLang="en-US" dirty="0" err="1"/>
              <a:t>컨트랙트마다</a:t>
            </a:r>
            <a:r>
              <a:rPr lang="ko-KR" altLang="en-US" dirty="0"/>
              <a:t> 함수가 포함됨 </a:t>
            </a:r>
            <a:r>
              <a:rPr lang="en-US" altLang="ko-KR" dirty="0"/>
              <a:t>(internal library functions</a:t>
            </a:r>
            <a:r>
              <a:rPr lang="ko-KR" altLang="en-US" dirty="0"/>
              <a:t>처럼 사용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 err="1"/>
              <a:t>컨트랙트</a:t>
            </a:r>
            <a:r>
              <a:rPr lang="ko-KR" altLang="en-US" dirty="0"/>
              <a:t> 내부에서 정의되는 함수와의 차이점</a:t>
            </a:r>
            <a:endParaRPr lang="en-US" altLang="ko-KR" dirty="0"/>
          </a:p>
          <a:p>
            <a:pPr lvl="1"/>
            <a:r>
              <a:rPr lang="en-US" altLang="ko-KR" dirty="0"/>
              <a:t>“this” </a:t>
            </a:r>
            <a:r>
              <a:rPr lang="ko-KR" altLang="en-US" dirty="0"/>
              <a:t>변수</a:t>
            </a:r>
            <a:r>
              <a:rPr lang="en-US" altLang="ko-KR" dirty="0"/>
              <a:t>, storage</a:t>
            </a:r>
            <a:r>
              <a:rPr lang="ko-KR" altLang="en-US" dirty="0"/>
              <a:t>에 저장되는</a:t>
            </a:r>
            <a:r>
              <a:rPr lang="en-US" altLang="ko-KR" dirty="0"/>
              <a:t> </a:t>
            </a:r>
            <a:r>
              <a:rPr lang="ko-KR" altLang="en-US" dirty="0"/>
              <a:t>변수 및 함수 접근이 불가능</a:t>
            </a:r>
          </a:p>
        </p:txBody>
      </p:sp>
    </p:spTree>
    <p:extLst>
      <p:ext uri="{BB962C8B-B14F-4D97-AF65-F5344CB8AC3E}">
        <p14:creationId xmlns:p14="http://schemas.microsoft.com/office/powerpoint/2010/main" val="2873882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상태변경성</a:t>
            </a:r>
            <a:r>
              <a:rPr lang="ko-KR" altLang="en-US" dirty="0"/>
              <a:t> </a:t>
            </a:r>
            <a:r>
              <a:rPr lang="en-US" altLang="ko-KR" dirty="0"/>
              <a:t>(State Mutability)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ko-KR" altLang="en-US" dirty="0" err="1"/>
              <a:t>상태변경성</a:t>
            </a:r>
            <a:r>
              <a:rPr lang="ko-KR" altLang="en-US" dirty="0"/>
              <a:t> 유형</a:t>
            </a:r>
            <a:endParaRPr lang="en-US" altLang="ko-KR" dirty="0"/>
          </a:p>
          <a:p>
            <a:pPr lvl="1"/>
            <a:r>
              <a:rPr lang="ko-KR" altLang="en-US" dirty="0"/>
              <a:t>상태변경성이 명시되지 않은 함수는 상태를 변경할 수 있음 </a:t>
            </a:r>
            <a:r>
              <a:rPr lang="en-US" altLang="ko-KR" dirty="0"/>
              <a:t>(default)</a:t>
            </a:r>
          </a:p>
          <a:p>
            <a:pPr lvl="1"/>
            <a:r>
              <a:rPr lang="en-US" altLang="ko-KR" dirty="0"/>
              <a:t>view: </a:t>
            </a:r>
            <a:r>
              <a:rPr lang="ko-KR" altLang="en-US" dirty="0"/>
              <a:t>상태를 변경하지 않는 함수</a:t>
            </a:r>
            <a:endParaRPr lang="en-US" altLang="ko-KR" dirty="0"/>
          </a:p>
          <a:p>
            <a:pPr lvl="1"/>
            <a:r>
              <a:rPr lang="en-US" altLang="ko-KR" dirty="0"/>
              <a:t>pure: </a:t>
            </a:r>
            <a:r>
              <a:rPr lang="ko-KR" altLang="en-US" dirty="0"/>
              <a:t>상태를 </a:t>
            </a:r>
            <a:r>
              <a:rPr lang="ko-KR" altLang="en-US" dirty="0" err="1"/>
              <a:t>변경하지도</a:t>
            </a:r>
            <a:r>
              <a:rPr lang="ko-KR" altLang="en-US" dirty="0"/>
              <a:t> 읽지도 않는 함수</a:t>
            </a:r>
            <a:endParaRPr lang="en-US" altLang="ko-KR" dirty="0"/>
          </a:p>
          <a:p>
            <a:pPr lvl="2"/>
            <a:r>
              <a:rPr lang="ko-KR" altLang="en-US" dirty="0"/>
              <a:t>로컬 컴퓨터상에서 </a:t>
            </a:r>
            <a:r>
              <a:rPr lang="en-US" altLang="ko-KR" dirty="0"/>
              <a:t>view</a:t>
            </a:r>
            <a:r>
              <a:rPr lang="ko-KR" altLang="en-US" dirty="0"/>
              <a:t>와 </a:t>
            </a:r>
            <a:r>
              <a:rPr lang="en-US" altLang="ko-KR" dirty="0"/>
              <a:t>pure </a:t>
            </a:r>
            <a:r>
              <a:rPr lang="ko-KR" altLang="en-US" dirty="0"/>
              <a:t>함수를 호출하면 단순히 </a:t>
            </a:r>
            <a:r>
              <a:rPr lang="en-US" altLang="ko-KR" dirty="0"/>
              <a:t>RPC</a:t>
            </a:r>
            <a:r>
              <a:rPr lang="ko-KR" altLang="en-US" dirty="0"/>
              <a:t>로 호출되어 가스가 지불되지 않음</a:t>
            </a:r>
            <a:endParaRPr lang="en-US" altLang="ko-KR" dirty="0"/>
          </a:p>
          <a:p>
            <a:pPr lvl="1"/>
            <a:r>
              <a:rPr lang="en-US" altLang="ko-KR" dirty="0"/>
              <a:t>payable: </a:t>
            </a:r>
            <a:r>
              <a:rPr lang="ko-KR" altLang="en-US" dirty="0"/>
              <a:t>송금된 </a:t>
            </a:r>
            <a:r>
              <a:rPr lang="ko-KR" altLang="en-US" dirty="0" err="1"/>
              <a:t>이더를</a:t>
            </a:r>
            <a:r>
              <a:rPr lang="en-US" altLang="ko-KR" dirty="0"/>
              <a:t> </a:t>
            </a:r>
            <a:r>
              <a:rPr lang="ko-KR" altLang="en-US" dirty="0"/>
              <a:t>수신할 수 있는 함수</a:t>
            </a:r>
            <a:endParaRPr lang="en-US" altLang="ko-KR" dirty="0"/>
          </a:p>
          <a:p>
            <a:pPr lvl="2"/>
            <a:r>
              <a:rPr lang="en-US" altLang="ko-KR" dirty="0" err="1"/>
              <a:t>msg.value</a:t>
            </a:r>
            <a:r>
              <a:rPr lang="ko-KR" altLang="en-US" dirty="0"/>
              <a:t>를 사용하는 경우에도 </a:t>
            </a:r>
            <a:r>
              <a:rPr lang="en-US" altLang="ko-KR" dirty="0"/>
              <a:t>payable</a:t>
            </a:r>
            <a:r>
              <a:rPr lang="ko-KR" altLang="en-US" dirty="0"/>
              <a:t>로 선언되어야 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상태를 변경하는 작업 예시</a:t>
            </a:r>
            <a:endParaRPr lang="en-US" altLang="ko-KR" dirty="0"/>
          </a:p>
          <a:p>
            <a:pPr lvl="1"/>
            <a:r>
              <a:rPr lang="en-US" altLang="ko-KR" dirty="0"/>
              <a:t>Writing to state variables (storage and transient storage)</a:t>
            </a:r>
          </a:p>
          <a:p>
            <a:pPr lvl="1"/>
            <a:r>
              <a:rPr lang="en-US" altLang="ko-KR" dirty="0"/>
              <a:t>Emitting events</a:t>
            </a:r>
          </a:p>
          <a:p>
            <a:pPr lvl="1"/>
            <a:r>
              <a:rPr lang="en-US" altLang="ko-KR" dirty="0"/>
              <a:t>Creating other contracts</a:t>
            </a:r>
          </a:p>
          <a:p>
            <a:pPr lvl="1"/>
            <a:r>
              <a:rPr lang="en-US" altLang="ko-KR" dirty="0"/>
              <a:t>Using </a:t>
            </a:r>
            <a:r>
              <a:rPr lang="en-US" altLang="ko-KR" dirty="0" err="1"/>
              <a:t>selfdestruct</a:t>
            </a:r>
            <a:endParaRPr lang="en-US" altLang="ko-KR" dirty="0"/>
          </a:p>
          <a:p>
            <a:pPr lvl="1"/>
            <a:r>
              <a:rPr lang="en-US" altLang="ko-KR" dirty="0"/>
              <a:t>Sending Ether via calls</a:t>
            </a:r>
          </a:p>
          <a:p>
            <a:pPr lvl="1"/>
            <a:r>
              <a:rPr lang="en-US" altLang="ko-KR" dirty="0"/>
              <a:t>Calling any function not marked view or pure</a:t>
            </a:r>
          </a:p>
          <a:p>
            <a:pPr lvl="1"/>
            <a:r>
              <a:rPr lang="en-US" altLang="ko-KR" dirty="0"/>
              <a:t>Using low-level calls</a:t>
            </a:r>
          </a:p>
          <a:p>
            <a:pPr lvl="1"/>
            <a:r>
              <a:rPr lang="en-US" altLang="ko-KR" dirty="0"/>
              <a:t>Using inline assembly that contains certain opcodes</a:t>
            </a:r>
          </a:p>
          <a:p>
            <a:pPr lvl="1"/>
            <a:endParaRPr lang="en-US" altLang="ko-KR" dirty="0" err="1"/>
          </a:p>
        </p:txBody>
      </p:sp>
    </p:spTree>
    <p:extLst>
      <p:ext uri="{BB962C8B-B14F-4D97-AF65-F5344CB8AC3E}">
        <p14:creationId xmlns:p14="http://schemas.microsoft.com/office/powerpoint/2010/main" val="448820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5B92B-488D-4B67-A40A-0EC7BB84E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호출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935182-03DE-42E4-B989-E467D9BEF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내부 호출 </a:t>
            </a:r>
            <a:r>
              <a:rPr lang="en-US" altLang="ko-KR" dirty="0"/>
              <a:t>(Internal Function Calls)</a:t>
            </a:r>
          </a:p>
          <a:p>
            <a:pPr lvl="1"/>
            <a:r>
              <a:rPr lang="ko-KR" altLang="en-US" dirty="0"/>
              <a:t>직접</a:t>
            </a:r>
            <a:r>
              <a:rPr lang="en-US" altLang="ko-KR" dirty="0"/>
              <a:t> </a:t>
            </a:r>
            <a:r>
              <a:rPr lang="ko-KR" altLang="en-US" dirty="0"/>
              <a:t>호출 및 재귀 호출 가능</a:t>
            </a:r>
            <a:endParaRPr lang="en-US" altLang="ko-KR" dirty="0"/>
          </a:p>
          <a:p>
            <a:pPr lvl="1"/>
            <a:r>
              <a:rPr lang="ko-KR" altLang="en-US" dirty="0"/>
              <a:t>예시</a:t>
            </a:r>
            <a:endParaRPr lang="en-US" altLang="ko-KR" dirty="0"/>
          </a:p>
          <a:p>
            <a:pPr marL="500063" lvl="2" indent="0">
              <a:buNone/>
            </a:pPr>
            <a:r>
              <a:rPr lang="en-US" altLang="ko-KR" dirty="0"/>
              <a:t>contract C {</a:t>
            </a:r>
          </a:p>
          <a:p>
            <a:pPr marL="500063" lvl="2" indent="0">
              <a:buNone/>
            </a:pPr>
            <a:r>
              <a:rPr lang="en-US" altLang="ko-KR" dirty="0"/>
              <a:t>    function g(</a:t>
            </a:r>
            <a:r>
              <a:rPr lang="en-US" altLang="ko-KR" dirty="0" err="1"/>
              <a:t>uint</a:t>
            </a:r>
            <a:r>
              <a:rPr lang="en-US" altLang="ko-KR" dirty="0"/>
              <a:t> a) public pure returns (</a:t>
            </a:r>
            <a:r>
              <a:rPr lang="en-US" altLang="ko-KR" dirty="0" err="1"/>
              <a:t>uint</a:t>
            </a:r>
            <a:r>
              <a:rPr lang="en-US" altLang="ko-KR" dirty="0"/>
              <a:t> ret) { return a + f(); }</a:t>
            </a:r>
          </a:p>
          <a:p>
            <a:pPr marL="500063" lvl="2" indent="0">
              <a:buNone/>
            </a:pPr>
            <a:r>
              <a:rPr lang="en-US" altLang="ko-KR" dirty="0"/>
              <a:t>    function f() internal pure returns (</a:t>
            </a:r>
            <a:r>
              <a:rPr lang="en-US" altLang="ko-KR" dirty="0" err="1"/>
              <a:t>uint</a:t>
            </a:r>
            <a:r>
              <a:rPr lang="en-US" altLang="ko-KR" dirty="0"/>
              <a:t> ret) { return g(7) + f(); }</a:t>
            </a:r>
          </a:p>
          <a:p>
            <a:pPr marL="500063" lvl="2" indent="0">
              <a:buNone/>
            </a:pPr>
            <a:r>
              <a:rPr lang="en-US" altLang="ko-KR" dirty="0"/>
              <a:t>}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외부 호출 </a:t>
            </a:r>
            <a:r>
              <a:rPr lang="en-US" altLang="ko-KR" dirty="0"/>
              <a:t>(External Function Calls)</a:t>
            </a:r>
          </a:p>
          <a:p>
            <a:pPr lvl="1"/>
            <a:r>
              <a:rPr lang="ko-KR" altLang="en-US" dirty="0"/>
              <a:t>외부 함수 호출은 </a:t>
            </a:r>
            <a:r>
              <a:rPr lang="en-US" altLang="ko-KR" dirty="0" err="1"/>
              <a:t>this.g</a:t>
            </a:r>
            <a:r>
              <a:rPr lang="en-US" altLang="ko-KR" dirty="0"/>
              <a:t>(8) </a:t>
            </a:r>
            <a:r>
              <a:rPr lang="ko-KR" altLang="en-US" dirty="0"/>
              <a:t>또는</a:t>
            </a:r>
            <a:r>
              <a:rPr lang="en-US" altLang="ko-KR" dirty="0"/>
              <a:t> </a:t>
            </a:r>
            <a:r>
              <a:rPr lang="en-US" altLang="ko-KR" dirty="0" err="1"/>
              <a:t>c.g</a:t>
            </a:r>
            <a:r>
              <a:rPr lang="en-US" altLang="ko-KR" dirty="0"/>
              <a:t>(2) </a:t>
            </a:r>
            <a:r>
              <a:rPr lang="ko-KR" altLang="en-US" dirty="0"/>
              <a:t>형태로 실행 </a:t>
            </a:r>
            <a:r>
              <a:rPr lang="en-US" altLang="ko-KR" dirty="0"/>
              <a:t>(c</a:t>
            </a:r>
            <a:r>
              <a:rPr lang="ko-KR" altLang="en-US" dirty="0"/>
              <a:t>는 </a:t>
            </a:r>
            <a:r>
              <a:rPr lang="ko-KR" altLang="en-US" dirty="0" err="1"/>
              <a:t>컨트랙트</a:t>
            </a:r>
            <a:r>
              <a:rPr lang="en-US" altLang="ko-KR" dirty="0"/>
              <a:t>, g</a:t>
            </a:r>
            <a:r>
              <a:rPr lang="ko-KR" altLang="en-US" dirty="0"/>
              <a:t>는 함수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또는 </a:t>
            </a:r>
            <a:r>
              <a:rPr lang="en-US" altLang="ko-KR" dirty="0" err="1"/>
              <a:t>address.call</a:t>
            </a:r>
            <a:r>
              <a:rPr lang="en-US" altLang="ko-KR" dirty="0"/>
              <a:t>, </a:t>
            </a:r>
            <a:r>
              <a:rPr lang="en-US" altLang="ko-KR" dirty="0" err="1"/>
              <a:t>address.delegatecall</a:t>
            </a:r>
            <a:r>
              <a:rPr lang="en-US" altLang="ko-KR" dirty="0"/>
              <a:t>, </a:t>
            </a:r>
            <a:r>
              <a:rPr lang="en-US" altLang="ko-KR" dirty="0" err="1"/>
              <a:t>address.staticcall</a:t>
            </a:r>
            <a:r>
              <a:rPr lang="ko-KR" altLang="en-US" dirty="0"/>
              <a:t>을 사용하여 실행</a:t>
            </a:r>
            <a:endParaRPr lang="en-US" altLang="ko-KR" dirty="0"/>
          </a:p>
          <a:p>
            <a:pPr lvl="1"/>
            <a:r>
              <a:rPr lang="ko-KR" altLang="en-US" dirty="0"/>
              <a:t>외부 함수 호출은 </a:t>
            </a:r>
            <a:r>
              <a:rPr lang="en-US" altLang="ko-KR" dirty="0"/>
              <a:t>message call </a:t>
            </a:r>
            <a:r>
              <a:rPr lang="ko-KR" altLang="en-US" dirty="0"/>
              <a:t>형태로 실행</a:t>
            </a:r>
            <a:endParaRPr lang="en-US" altLang="ko-KR" dirty="0"/>
          </a:p>
          <a:p>
            <a:pPr lvl="2"/>
            <a:r>
              <a:rPr lang="ko-KR" altLang="en-US" dirty="0" err="1"/>
              <a:t>컨트랙트가</a:t>
            </a:r>
            <a:r>
              <a:rPr lang="ko-KR" altLang="en-US" dirty="0"/>
              <a:t> 아직 생성되기 이전인 </a:t>
            </a:r>
            <a:r>
              <a:rPr lang="en-US" altLang="ko-KR" dirty="0"/>
              <a:t>constructor</a:t>
            </a:r>
            <a:r>
              <a:rPr lang="ko-KR" altLang="en-US" dirty="0"/>
              <a:t>에서는 호출 불가</a:t>
            </a:r>
            <a:endParaRPr lang="en-US" altLang="ko-KR" dirty="0"/>
          </a:p>
          <a:p>
            <a:pPr lvl="1"/>
            <a:r>
              <a:rPr lang="ko-KR" altLang="en-US" dirty="0"/>
              <a:t>전송할 </a:t>
            </a:r>
            <a:r>
              <a:rPr lang="en-US" altLang="ko-KR" dirty="0"/>
              <a:t>ETH </a:t>
            </a:r>
            <a:r>
              <a:rPr lang="ko-KR" altLang="en-US" dirty="0"/>
              <a:t>수량 및 </a:t>
            </a:r>
            <a:r>
              <a:rPr lang="en-US" altLang="ko-KR" dirty="0"/>
              <a:t>gas </a:t>
            </a:r>
            <a:r>
              <a:rPr lang="ko-KR" altLang="en-US" dirty="0"/>
              <a:t>값을 지정하는 것이 가능</a:t>
            </a:r>
          </a:p>
        </p:txBody>
      </p:sp>
    </p:spTree>
    <p:extLst>
      <p:ext uri="{BB962C8B-B14F-4D97-AF65-F5344CB8AC3E}">
        <p14:creationId xmlns:p14="http://schemas.microsoft.com/office/powerpoint/2010/main" val="2251109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ADBB7-186F-4BE2-870C-3B3900833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“call”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C914D3-7DAE-4C3C-8831-467BA812B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/>
              <a:t>일반적인 함수 호출 대비 장단점</a:t>
            </a:r>
            <a:endParaRPr lang="en-US" altLang="ko-KR" dirty="0"/>
          </a:p>
          <a:p>
            <a:pPr lvl="1"/>
            <a:r>
              <a:rPr lang="ko-KR" altLang="en-US" dirty="0"/>
              <a:t>장점</a:t>
            </a:r>
            <a:r>
              <a:rPr lang="en-US" altLang="ko-KR" dirty="0"/>
              <a:t>: ETH </a:t>
            </a:r>
            <a:r>
              <a:rPr lang="ko-KR" altLang="en-US" dirty="0"/>
              <a:t>송금 및 </a:t>
            </a:r>
            <a:r>
              <a:rPr lang="ko-KR" altLang="en-US" dirty="0" err="1"/>
              <a:t>가스비</a:t>
            </a:r>
            <a:r>
              <a:rPr lang="en-US" altLang="ko-KR" dirty="0"/>
              <a:t> </a:t>
            </a:r>
            <a:r>
              <a:rPr lang="ko-KR" altLang="en-US" dirty="0"/>
              <a:t>지정이 가능</a:t>
            </a:r>
            <a:endParaRPr lang="en-US" altLang="ko-KR" dirty="0"/>
          </a:p>
          <a:p>
            <a:pPr lvl="1"/>
            <a:r>
              <a:rPr lang="ko-KR" altLang="en-US" dirty="0"/>
              <a:t>단점</a:t>
            </a:r>
            <a:r>
              <a:rPr lang="en-US" altLang="ko-KR" dirty="0"/>
              <a:t>: Type safety </a:t>
            </a:r>
            <a:r>
              <a:rPr lang="ko-KR" altLang="en-US" dirty="0"/>
              <a:t>및 </a:t>
            </a:r>
            <a:r>
              <a:rPr lang="en-US" altLang="ko-KR" dirty="0"/>
              <a:t>revert</a:t>
            </a:r>
            <a:r>
              <a:rPr lang="ko-KR" altLang="en-US" dirty="0"/>
              <a:t> </a:t>
            </a:r>
            <a:r>
              <a:rPr lang="en-US" altLang="ko-KR" dirty="0"/>
              <a:t>handling</a:t>
            </a:r>
            <a:r>
              <a:rPr lang="ko-KR" altLang="en-US" dirty="0"/>
              <a:t> 미지원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용법</a:t>
            </a:r>
            <a:endParaRPr lang="en-US" altLang="ko-KR" dirty="0"/>
          </a:p>
          <a:p>
            <a:pPr lvl="1"/>
            <a:r>
              <a:rPr lang="en-US" altLang="ko-KR" dirty="0"/>
              <a:t>(bool success, bytes memory data) = </a:t>
            </a:r>
            <a:r>
              <a:rPr lang="en-US" altLang="ko-KR" dirty="0" err="1">
                <a:solidFill>
                  <a:srgbClr val="C00000"/>
                </a:solidFill>
              </a:rPr>
              <a:t>address.call</a:t>
            </a:r>
            <a:r>
              <a:rPr lang="en-US" altLang="ko-KR" dirty="0"/>
              <a:t>{value: </a:t>
            </a:r>
            <a:r>
              <a:rPr lang="en-US" altLang="ko-KR" dirty="0" err="1"/>
              <a:t>msg.value</a:t>
            </a:r>
            <a:r>
              <a:rPr lang="en-US" altLang="ko-KR" dirty="0"/>
              <a:t>, gas: 5000}(</a:t>
            </a:r>
            <a:r>
              <a:rPr lang="en-US" altLang="ko-KR" dirty="0" err="1"/>
              <a:t>abi.encodeWithSignature</a:t>
            </a:r>
            <a:r>
              <a:rPr lang="en-US" altLang="ko-KR" dirty="0"/>
              <a:t>("</a:t>
            </a:r>
            <a:r>
              <a:rPr lang="en-US" altLang="ko-KR" dirty="0" err="1"/>
              <a:t>functionName</a:t>
            </a:r>
            <a:r>
              <a:rPr lang="en-US" altLang="ko-KR" dirty="0"/>
              <a:t>(arguments)", </a:t>
            </a:r>
            <a:r>
              <a:rPr lang="en-US" altLang="ko-KR" dirty="0" err="1"/>
              <a:t>args</a:t>
            </a:r>
            <a:r>
              <a:rPr lang="en-US" altLang="ko-KR" dirty="0"/>
              <a:t>));</a:t>
            </a:r>
          </a:p>
          <a:p>
            <a:pPr lvl="2"/>
            <a:r>
              <a:rPr lang="en-US" altLang="ko-KR" dirty="0"/>
              <a:t>success: Boolean value that indicates if the call was successful</a:t>
            </a:r>
          </a:p>
          <a:p>
            <a:pPr lvl="2"/>
            <a:r>
              <a:rPr lang="en-US" altLang="ko-KR" dirty="0"/>
              <a:t>data: Contains any returned data from the called contract</a:t>
            </a:r>
          </a:p>
          <a:p>
            <a:pPr lvl="2"/>
            <a:r>
              <a:rPr lang="en-US" altLang="ko-KR" dirty="0" err="1"/>
              <a:t>address.call</a:t>
            </a:r>
            <a:r>
              <a:rPr lang="en-US" altLang="ko-KR" dirty="0"/>
              <a:t>: Specifies the address being called</a:t>
            </a:r>
          </a:p>
          <a:p>
            <a:pPr lvl="2"/>
            <a:r>
              <a:rPr lang="en-US" altLang="ko-KR" dirty="0" err="1"/>
              <a:t>abi.encodeWithSignature</a:t>
            </a:r>
            <a:r>
              <a:rPr lang="en-US" altLang="ko-KR" dirty="0"/>
              <a:t>: Encodes the function signature and arguments</a:t>
            </a:r>
          </a:p>
          <a:p>
            <a:pPr lvl="3"/>
            <a:r>
              <a:rPr lang="ko-KR" altLang="en-US" dirty="0"/>
              <a:t>함수 </a:t>
            </a:r>
            <a:r>
              <a:rPr lang="ko-KR" altLang="en-US" dirty="0" err="1"/>
              <a:t>시그니처</a:t>
            </a:r>
            <a:r>
              <a:rPr lang="en-US" altLang="ko-KR" dirty="0"/>
              <a:t>(function signature)</a:t>
            </a:r>
            <a:r>
              <a:rPr lang="ko-KR" altLang="en-US" dirty="0"/>
              <a:t>는 함수의 명칭</a:t>
            </a:r>
            <a:r>
              <a:rPr lang="en-US" altLang="ko-KR" dirty="0"/>
              <a:t>, </a:t>
            </a:r>
            <a:r>
              <a:rPr lang="ko-KR" altLang="en-US" dirty="0"/>
              <a:t>파라미터 자료형</a:t>
            </a:r>
            <a:r>
              <a:rPr lang="en-US" altLang="ko-KR" dirty="0"/>
              <a:t>, </a:t>
            </a:r>
            <a:r>
              <a:rPr lang="ko-KR" altLang="en-US" dirty="0"/>
              <a:t>가시성</a:t>
            </a:r>
            <a:r>
              <a:rPr lang="en-US" altLang="ko-KR" dirty="0"/>
              <a:t>, </a:t>
            </a:r>
            <a:r>
              <a:rPr lang="ko-KR" altLang="en-US" dirty="0"/>
              <a:t>상태변경성</a:t>
            </a:r>
            <a:r>
              <a:rPr lang="en-US" altLang="ko-KR" dirty="0"/>
              <a:t>, </a:t>
            </a:r>
            <a:r>
              <a:rPr lang="ko-KR" altLang="en-US" dirty="0"/>
              <a:t>함수 변경자</a:t>
            </a:r>
            <a:r>
              <a:rPr lang="en-US" altLang="ko-KR" dirty="0"/>
              <a:t>, </a:t>
            </a:r>
            <a:r>
              <a:rPr lang="ko-KR" altLang="en-US" dirty="0"/>
              <a:t>리턴 타입을 의미</a:t>
            </a:r>
            <a:endParaRPr lang="en-US" altLang="ko-KR" dirty="0"/>
          </a:p>
          <a:p>
            <a:pPr lvl="3"/>
            <a:r>
              <a:rPr lang="en-US" altLang="ko-KR" dirty="0"/>
              <a:t>Solidity</a:t>
            </a:r>
            <a:r>
              <a:rPr lang="ko-KR" altLang="en-US" dirty="0"/>
              <a:t>에서는 함수 </a:t>
            </a:r>
            <a:r>
              <a:rPr lang="ko-KR" altLang="en-US" dirty="0" err="1"/>
              <a:t>시그니처를</a:t>
            </a:r>
            <a:r>
              <a:rPr lang="ko-KR" altLang="en-US" dirty="0"/>
              <a:t> </a:t>
            </a:r>
            <a:r>
              <a:rPr lang="en-US" altLang="ko-KR" dirty="0"/>
              <a:t>Keccak-256 </a:t>
            </a:r>
            <a:r>
              <a:rPr lang="ko-KR" altLang="en-US" dirty="0" err="1"/>
              <a:t>해시한</a:t>
            </a:r>
            <a:r>
              <a:rPr lang="ko-KR" altLang="en-US" dirty="0"/>
              <a:t> 뒤</a:t>
            </a:r>
            <a:r>
              <a:rPr lang="en-US" altLang="ko-KR" dirty="0"/>
              <a:t> </a:t>
            </a:r>
            <a:r>
              <a:rPr lang="ko-KR" altLang="en-US" dirty="0"/>
              <a:t>처음 </a:t>
            </a:r>
            <a:r>
              <a:rPr lang="en-US" altLang="ko-KR" dirty="0"/>
              <a:t>4</a:t>
            </a:r>
            <a:r>
              <a:rPr lang="ko-KR" altLang="en-US" dirty="0"/>
              <a:t>바이트를 추출한 값을 함수 </a:t>
            </a:r>
            <a:r>
              <a:rPr lang="ko-KR" altLang="en-US" dirty="0" err="1"/>
              <a:t>선택자</a:t>
            </a:r>
            <a:r>
              <a:rPr lang="en-US" altLang="ko-KR" dirty="0"/>
              <a:t>(function selector)</a:t>
            </a:r>
            <a:r>
              <a:rPr lang="ko-KR" altLang="en-US" dirty="0"/>
              <a:t>로 사용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주요</a:t>
            </a:r>
            <a:r>
              <a:rPr lang="en-US" altLang="ko-KR" dirty="0"/>
              <a:t> </a:t>
            </a:r>
            <a:r>
              <a:rPr lang="ko-KR" altLang="en-US" dirty="0" err="1"/>
              <a:t>사용례</a:t>
            </a:r>
            <a:endParaRPr lang="en-US" altLang="ko-KR" dirty="0"/>
          </a:p>
          <a:p>
            <a:pPr lvl="1"/>
            <a:r>
              <a:rPr lang="en-US" altLang="ko-KR" dirty="0"/>
              <a:t>Contract </a:t>
            </a:r>
            <a:r>
              <a:rPr lang="ko-KR" altLang="en-US" dirty="0"/>
              <a:t>또는 </a:t>
            </a:r>
            <a:r>
              <a:rPr lang="en-US" altLang="ko-KR" dirty="0"/>
              <a:t>address</a:t>
            </a:r>
            <a:r>
              <a:rPr lang="ko-KR" altLang="en-US" dirty="0"/>
              <a:t>로 </a:t>
            </a:r>
            <a:r>
              <a:rPr lang="en-US" altLang="ko-KR" dirty="0"/>
              <a:t>ETH</a:t>
            </a:r>
            <a:r>
              <a:rPr lang="ko-KR" altLang="en-US" dirty="0"/>
              <a:t>를 전송하는 경우</a:t>
            </a:r>
            <a:endParaRPr lang="en-US" altLang="ko-KR" dirty="0"/>
          </a:p>
          <a:p>
            <a:pPr lvl="1"/>
            <a:r>
              <a:rPr lang="ko-KR" altLang="en-US" dirty="0"/>
              <a:t>호출할 함수가 존재하지 않을 가능성이 있을 경우</a:t>
            </a:r>
            <a:endParaRPr lang="en-US" altLang="ko-KR" dirty="0"/>
          </a:p>
          <a:p>
            <a:pPr lvl="2"/>
            <a:r>
              <a:rPr lang="en-US" altLang="ko-KR" dirty="0"/>
              <a:t>Revert </a:t>
            </a:r>
            <a:r>
              <a:rPr lang="ko-KR" altLang="en-US" dirty="0"/>
              <a:t>동작을 연쇄적으로 발생시키지 않음</a:t>
            </a:r>
            <a:endParaRPr lang="en-US" altLang="ko-KR" dirty="0"/>
          </a:p>
          <a:p>
            <a:pPr lvl="1"/>
            <a:r>
              <a:rPr lang="ko-KR" altLang="en-US" dirty="0" err="1"/>
              <a:t>폴백</a:t>
            </a:r>
            <a:r>
              <a:rPr lang="en-US" altLang="ko-KR" dirty="0"/>
              <a:t>(fallback) </a:t>
            </a:r>
            <a:r>
              <a:rPr lang="ko-KR" altLang="en-US" dirty="0"/>
              <a:t>또는 수신</a:t>
            </a:r>
            <a:r>
              <a:rPr lang="en-US" altLang="ko-KR" dirty="0"/>
              <a:t>(receive) </a:t>
            </a:r>
            <a:r>
              <a:rPr lang="ko-KR" altLang="en-US" dirty="0"/>
              <a:t>함수를</a:t>
            </a:r>
            <a:r>
              <a:rPr lang="en-US" altLang="ko-KR" dirty="0"/>
              <a:t> </a:t>
            </a:r>
            <a:r>
              <a:rPr lang="ko-KR" altLang="en-US" dirty="0"/>
              <a:t>직접 호출하는 경우</a:t>
            </a:r>
          </a:p>
        </p:txBody>
      </p:sp>
    </p:spTree>
    <p:extLst>
      <p:ext uri="{BB962C8B-B14F-4D97-AF65-F5344CB8AC3E}">
        <p14:creationId xmlns:p14="http://schemas.microsoft.com/office/powerpoint/2010/main" val="2022763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en-US" altLang="ko-KR" dirty="0" err="1"/>
              <a:t>delegatecall</a:t>
            </a:r>
            <a:r>
              <a:rPr lang="en-US" altLang="ko-KR" dirty="0"/>
              <a:t>” </a:t>
            </a:r>
            <a:r>
              <a:rPr lang="ko-KR" altLang="en-US" dirty="0"/>
              <a:t>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호출측</a:t>
            </a:r>
            <a:r>
              <a:rPr lang="en-US" altLang="ko-KR" dirty="0"/>
              <a:t>(calling contract) </a:t>
            </a:r>
            <a:r>
              <a:rPr lang="ko-KR" altLang="en-US" dirty="0"/>
              <a:t>문맥</a:t>
            </a:r>
            <a:r>
              <a:rPr lang="en-US" altLang="ko-KR" dirty="0"/>
              <a:t>(context)</a:t>
            </a:r>
            <a:r>
              <a:rPr lang="ko-KR" altLang="en-US" dirty="0"/>
              <a:t>을 유지하는 </a:t>
            </a:r>
            <a:r>
              <a:rPr lang="ko-KR" altLang="en-US" dirty="0" err="1"/>
              <a:t>컨트랙트</a:t>
            </a:r>
            <a:r>
              <a:rPr lang="ko-KR" altLang="en-US" dirty="0"/>
              <a:t> 호출 함수</a:t>
            </a:r>
            <a:endParaRPr lang="en-US" altLang="ko-KR" dirty="0">
              <a:solidFill>
                <a:srgbClr val="FF0000"/>
              </a:solidFill>
            </a:endParaRPr>
          </a:p>
          <a:p>
            <a:pPr lvl="1"/>
            <a:r>
              <a:rPr lang="ko-KR" altLang="en-US" dirty="0"/>
              <a:t>일반적인 함수 호출과 동일하게 작동하지만</a:t>
            </a:r>
            <a:r>
              <a:rPr lang="en-US" altLang="ko-KR" dirty="0"/>
              <a:t>, </a:t>
            </a:r>
            <a:r>
              <a:rPr lang="ko-KR" altLang="en-US" dirty="0"/>
              <a:t>호출측 문맥을 유지한다는 것이 차이점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 err="1"/>
              <a:t>delegatecall</a:t>
            </a:r>
            <a:r>
              <a:rPr lang="ko-KR" altLang="en-US" dirty="0"/>
              <a:t>은</a:t>
            </a:r>
            <a:r>
              <a:rPr lang="en-US" altLang="ko-KR" dirty="0"/>
              <a:t> </a:t>
            </a:r>
            <a:r>
              <a:rPr lang="en-US" altLang="ko-KR" dirty="0" err="1"/>
              <a:t>msg.sender</a:t>
            </a:r>
            <a:r>
              <a:rPr lang="en-US" altLang="ko-KR" dirty="0"/>
              <a:t> </a:t>
            </a:r>
            <a:r>
              <a:rPr lang="ko-KR" altLang="en-US" dirty="0"/>
              <a:t>및</a:t>
            </a:r>
            <a:r>
              <a:rPr lang="en-US" altLang="ko-KR" dirty="0"/>
              <a:t> </a:t>
            </a:r>
            <a:r>
              <a:rPr lang="en-US" altLang="ko-KR" dirty="0" err="1"/>
              <a:t>msg.value</a:t>
            </a:r>
            <a:r>
              <a:rPr lang="ko-KR" altLang="en-US" dirty="0"/>
              <a:t>를 유지</a:t>
            </a:r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) Alice EOA</a:t>
            </a:r>
            <a:r>
              <a:rPr lang="ko-KR" altLang="en-US" dirty="0"/>
              <a:t>가 </a:t>
            </a:r>
            <a:r>
              <a:rPr lang="en-US" altLang="ko-KR" dirty="0"/>
              <a:t>Bob CA</a:t>
            </a:r>
            <a:r>
              <a:rPr lang="ko-KR" altLang="en-US" dirty="0"/>
              <a:t>의 </a:t>
            </a:r>
            <a:r>
              <a:rPr lang="ko-KR" altLang="en-US" dirty="0" err="1"/>
              <a:t>컨트랙트</a:t>
            </a:r>
            <a:r>
              <a:rPr lang="ko-KR" altLang="en-US" dirty="0"/>
              <a:t> 함수를 </a:t>
            </a:r>
            <a:r>
              <a:rPr lang="en-US" altLang="ko-KR" dirty="0" err="1"/>
              <a:t>delegatecall</a:t>
            </a:r>
            <a:r>
              <a:rPr lang="ko-KR" altLang="en-US" dirty="0"/>
              <a:t>로 호출하고</a:t>
            </a:r>
            <a:r>
              <a:rPr lang="en-US" altLang="ko-KR" dirty="0"/>
              <a:t>, Bob CA</a:t>
            </a:r>
            <a:r>
              <a:rPr lang="ko-KR" altLang="en-US" dirty="0"/>
              <a:t>의 </a:t>
            </a:r>
            <a:r>
              <a:rPr lang="en-US" altLang="ko-KR" dirty="0"/>
              <a:t> </a:t>
            </a:r>
            <a:r>
              <a:rPr lang="ko-KR" altLang="en-US" dirty="0" err="1"/>
              <a:t>컨트랙트가</a:t>
            </a:r>
            <a:r>
              <a:rPr lang="ko-KR" altLang="en-US" dirty="0"/>
              <a:t> </a:t>
            </a:r>
            <a:r>
              <a:rPr lang="en-US" altLang="ko-KR" dirty="0"/>
              <a:t>Charlie CA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 err="1"/>
              <a:t>컨트랙트</a:t>
            </a:r>
            <a:r>
              <a:rPr lang="ko-KR" altLang="en-US" dirty="0"/>
              <a:t> 함수를 호출할 경우 </a:t>
            </a:r>
            <a:r>
              <a:rPr lang="en-US" altLang="ko-KR" dirty="0" err="1"/>
              <a:t>msg.sender</a:t>
            </a:r>
            <a:r>
              <a:rPr lang="ko-KR" altLang="en-US" dirty="0"/>
              <a:t>는 </a:t>
            </a:r>
            <a:r>
              <a:rPr lang="en-US" altLang="ko-KR" dirty="0"/>
              <a:t>Alice EOA</a:t>
            </a:r>
            <a:r>
              <a:rPr lang="ko-KR" altLang="en-US" dirty="0"/>
              <a:t>의 주소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delegatecall</a:t>
            </a:r>
            <a:r>
              <a:rPr lang="ko-KR" altLang="en-US" dirty="0"/>
              <a:t>은 상태 정보를 유지</a:t>
            </a:r>
            <a:endParaRPr lang="en-US" altLang="ko-KR" dirty="0"/>
          </a:p>
          <a:p>
            <a:pPr lvl="1"/>
            <a:r>
              <a:rPr lang="ko-KR" altLang="en-US" dirty="0"/>
              <a:t>호출되는 </a:t>
            </a:r>
            <a:r>
              <a:rPr lang="ko-KR" altLang="en-US" dirty="0" err="1"/>
              <a:t>컨트랙트의</a:t>
            </a:r>
            <a:r>
              <a:rPr lang="ko-KR" altLang="en-US" dirty="0"/>
              <a:t> </a:t>
            </a:r>
            <a:r>
              <a:rPr lang="ko-KR" altLang="en-US" dirty="0" err="1"/>
              <a:t>코드만을</a:t>
            </a:r>
            <a:r>
              <a:rPr lang="ko-KR" altLang="en-US" dirty="0"/>
              <a:t> 빌려서 실행하며</a:t>
            </a:r>
            <a:r>
              <a:rPr lang="en-US" altLang="ko-KR" dirty="0"/>
              <a:t>, storage, current address, balance</a:t>
            </a:r>
            <a:r>
              <a:rPr lang="ko-KR" altLang="en-US" dirty="0"/>
              <a:t>와 같은 값들은 호출측</a:t>
            </a:r>
            <a:r>
              <a:rPr lang="en-US" altLang="ko-KR" dirty="0"/>
              <a:t>(calling contract)</a:t>
            </a:r>
            <a:r>
              <a:rPr lang="ko-KR" altLang="en-US" dirty="0"/>
              <a:t>의 상태 정보를 이용</a:t>
            </a:r>
            <a:endParaRPr lang="en-US" altLang="ko-KR" dirty="0"/>
          </a:p>
          <a:p>
            <a:pPr lvl="1"/>
            <a:r>
              <a:rPr lang="ko-KR" altLang="en-US" dirty="0"/>
              <a:t>일반적인 프로그래밍의 </a:t>
            </a:r>
            <a:r>
              <a:rPr lang="en-US" altLang="ko-KR" dirty="0"/>
              <a:t>library </a:t>
            </a:r>
            <a:r>
              <a:rPr lang="ko-KR" altLang="en-US" dirty="0"/>
              <a:t>개념을 구현하는데 주로 사용</a:t>
            </a:r>
          </a:p>
        </p:txBody>
      </p:sp>
    </p:spTree>
    <p:extLst>
      <p:ext uri="{BB962C8B-B14F-4D97-AF65-F5344CB8AC3E}">
        <p14:creationId xmlns:p14="http://schemas.microsoft.com/office/powerpoint/2010/main" val="2992095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D61DA-64DD-4CCA-BC43-45ED96A0D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“call”, “</a:t>
            </a:r>
            <a:r>
              <a:rPr lang="en-US" altLang="ko-KR" dirty="0" err="1"/>
              <a:t>delegatecall</a:t>
            </a:r>
            <a:r>
              <a:rPr lang="en-US" altLang="ko-KR" dirty="0"/>
              <a:t>”,</a:t>
            </a:r>
            <a:r>
              <a:rPr lang="ko-KR" altLang="en-US" dirty="0"/>
              <a:t> </a:t>
            </a:r>
            <a:r>
              <a:rPr lang="en-US" altLang="ko-KR" dirty="0"/>
              <a:t>“</a:t>
            </a:r>
            <a:r>
              <a:rPr lang="en-US" altLang="ko-KR" dirty="0" err="1"/>
              <a:t>staticcall</a:t>
            </a:r>
            <a:r>
              <a:rPr lang="en-US" altLang="ko-KR" dirty="0"/>
              <a:t>” </a:t>
            </a:r>
            <a:r>
              <a:rPr lang="ko-KR" altLang="en-US" dirty="0"/>
              <a:t>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755E77-72EA-4645-8F1D-4CA09B75F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address.call</a:t>
            </a:r>
            <a:r>
              <a:rPr lang="en-US" altLang="ko-KR" dirty="0"/>
              <a:t>(…)</a:t>
            </a:r>
          </a:p>
          <a:p>
            <a:pPr lvl="1"/>
            <a:r>
              <a:rPr lang="en-US" altLang="ko-KR" dirty="0"/>
              <a:t>“address”</a:t>
            </a:r>
            <a:r>
              <a:rPr lang="ko-KR" altLang="en-US" dirty="0"/>
              <a:t>의 함수를 호출</a:t>
            </a:r>
            <a:endParaRPr lang="en-US" altLang="ko-KR" dirty="0"/>
          </a:p>
          <a:p>
            <a:pPr lvl="1"/>
            <a:r>
              <a:rPr lang="en-US" altLang="ko-KR" dirty="0"/>
              <a:t>gas </a:t>
            </a:r>
            <a:r>
              <a:rPr lang="ko-KR" altLang="en-US" dirty="0"/>
              <a:t>지정 및 </a:t>
            </a:r>
            <a:r>
              <a:rPr lang="en-US" altLang="ko-KR" dirty="0"/>
              <a:t>value </a:t>
            </a:r>
            <a:r>
              <a:rPr lang="ko-KR" altLang="en-US" dirty="0"/>
              <a:t>전송 가능</a:t>
            </a:r>
          </a:p>
          <a:p>
            <a:endParaRPr lang="en-US" altLang="ko-KR" dirty="0"/>
          </a:p>
          <a:p>
            <a:r>
              <a:rPr lang="en-US" altLang="ko-KR" dirty="0" err="1"/>
              <a:t>address.delegatecall</a:t>
            </a:r>
            <a:r>
              <a:rPr lang="en-US" altLang="ko-KR" dirty="0"/>
              <a:t>(…): </a:t>
            </a:r>
          </a:p>
          <a:p>
            <a:pPr lvl="1"/>
            <a:r>
              <a:rPr lang="en-US" altLang="ko-KR" dirty="0"/>
              <a:t>“address”</a:t>
            </a:r>
            <a:r>
              <a:rPr lang="ko-KR" altLang="en-US" dirty="0"/>
              <a:t>의 함수를 호출하되 </a:t>
            </a:r>
            <a:r>
              <a:rPr lang="en-US" altLang="ko-KR" dirty="0"/>
              <a:t>caller</a:t>
            </a:r>
            <a:r>
              <a:rPr lang="ko-KR" altLang="en-US" dirty="0"/>
              <a:t>의 </a:t>
            </a:r>
            <a:r>
              <a:rPr lang="en-US" altLang="ko-KR" dirty="0"/>
              <a:t>context</a:t>
            </a:r>
            <a:r>
              <a:rPr lang="ko-KR" altLang="en-US" dirty="0"/>
              <a:t>를 유지 </a:t>
            </a:r>
            <a:r>
              <a:rPr lang="en-US" altLang="ko-KR" dirty="0"/>
              <a:t>(storage, balance, …) </a:t>
            </a:r>
          </a:p>
          <a:p>
            <a:pPr lvl="1"/>
            <a:r>
              <a:rPr lang="en-US" altLang="ko-KR" dirty="0"/>
              <a:t>gas </a:t>
            </a:r>
            <a:r>
              <a:rPr lang="ko-KR" altLang="en-US" dirty="0"/>
              <a:t>지정은 가능하지만 </a:t>
            </a:r>
            <a:r>
              <a:rPr lang="en-US" altLang="ko-KR" dirty="0"/>
              <a:t>value </a:t>
            </a:r>
            <a:r>
              <a:rPr lang="ko-KR" altLang="en-US" dirty="0"/>
              <a:t>전송은 불가</a:t>
            </a:r>
          </a:p>
          <a:p>
            <a:endParaRPr lang="en-US" altLang="ko-KR" dirty="0"/>
          </a:p>
          <a:p>
            <a:r>
              <a:rPr lang="en-US" altLang="ko-KR" dirty="0" err="1"/>
              <a:t>address.staticcall</a:t>
            </a:r>
            <a:r>
              <a:rPr lang="en-US" altLang="ko-KR" dirty="0"/>
              <a:t>(…)</a:t>
            </a:r>
          </a:p>
          <a:p>
            <a:pPr lvl="1"/>
            <a:r>
              <a:rPr lang="en-US" altLang="ko-KR" dirty="0"/>
              <a:t>“</a:t>
            </a:r>
            <a:r>
              <a:rPr lang="en-US" altLang="ko-KR" dirty="0" err="1"/>
              <a:t>address.call</a:t>
            </a:r>
            <a:r>
              <a:rPr lang="en-US" altLang="ko-KR" dirty="0"/>
              <a:t>(…)”</a:t>
            </a:r>
            <a:r>
              <a:rPr lang="ko-KR" altLang="en-US" dirty="0"/>
              <a:t>과 유사하지만 상태 변경이 불가 </a:t>
            </a:r>
            <a:r>
              <a:rPr lang="en-US" altLang="ko-KR" dirty="0"/>
              <a:t>(</a:t>
            </a:r>
            <a:r>
              <a:rPr lang="ko-KR" altLang="en-US" dirty="0"/>
              <a:t>상태 </a:t>
            </a:r>
            <a:r>
              <a:rPr lang="ko-KR" altLang="en-US" dirty="0" err="1"/>
              <a:t>변경시</a:t>
            </a:r>
            <a:r>
              <a:rPr lang="ko-KR" altLang="en-US" dirty="0"/>
              <a:t> </a:t>
            </a:r>
            <a:r>
              <a:rPr lang="en-US" altLang="ko-KR" dirty="0"/>
              <a:t>revert </a:t>
            </a:r>
            <a:r>
              <a:rPr lang="ko-KR" altLang="en-US" dirty="0"/>
              <a:t>발생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gas </a:t>
            </a:r>
            <a:r>
              <a:rPr lang="ko-KR" altLang="en-US" dirty="0"/>
              <a:t>지정은 가능하지만 </a:t>
            </a:r>
            <a:r>
              <a:rPr lang="en-US" altLang="ko-KR" dirty="0"/>
              <a:t>value </a:t>
            </a:r>
            <a:r>
              <a:rPr lang="ko-KR" altLang="en-US" dirty="0"/>
              <a:t>전송은 불가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704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조건문</a:t>
            </a:r>
            <a:r>
              <a:rPr lang="ko-KR" altLang="en-US" dirty="0"/>
              <a:t> </a:t>
            </a:r>
            <a:r>
              <a:rPr lang="en-US" altLang="ko-KR" dirty="0"/>
              <a:t>(if/else)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 </a:t>
            </a:r>
            <a:r>
              <a:rPr lang="ko-KR" altLang="en-US" dirty="0"/>
              <a:t>및 </a:t>
            </a:r>
            <a:r>
              <a:rPr lang="en-US" altLang="ko-KR" dirty="0"/>
              <a:t>JavaScript</a:t>
            </a:r>
            <a:r>
              <a:rPr lang="ko-KR" altLang="en-US" dirty="0"/>
              <a:t>와 유사한 방법으로 </a:t>
            </a:r>
            <a:r>
              <a:rPr lang="en-US" altLang="ko-KR" dirty="0"/>
              <a:t>if/else </a:t>
            </a:r>
            <a:r>
              <a:rPr lang="ko-KR" altLang="en-US" dirty="0"/>
              <a:t>조건문 가능</a:t>
            </a:r>
            <a:endParaRPr lang="en-US" altLang="ko-KR" dirty="0"/>
          </a:p>
          <a:p>
            <a:pPr lvl="1"/>
            <a:r>
              <a:rPr lang="en-US" altLang="ko-KR" dirty="0"/>
              <a:t>Note that there is no type conversion from non-</a:t>
            </a:r>
            <a:r>
              <a:rPr lang="en-US" altLang="ko-KR" dirty="0" err="1"/>
              <a:t>boolean</a:t>
            </a:r>
            <a:r>
              <a:rPr lang="en-US" altLang="ko-KR" dirty="0"/>
              <a:t> to </a:t>
            </a:r>
            <a:r>
              <a:rPr lang="en-US" altLang="ko-KR" dirty="0" err="1"/>
              <a:t>boolean</a:t>
            </a:r>
            <a:r>
              <a:rPr lang="en-US" altLang="ko-KR" dirty="0"/>
              <a:t> types as there is in C and JavaScript, so if (1) { ... } is not valid Solidity.</a:t>
            </a:r>
          </a:p>
          <a:p>
            <a:endParaRPr lang="en-US" altLang="ko-KR" dirty="0"/>
          </a:p>
          <a:p>
            <a:r>
              <a:rPr lang="en-US" altLang="ko-KR" dirty="0"/>
              <a:t>if/else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08584" y="3321566"/>
            <a:ext cx="7560840" cy="2123658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IfElse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foo(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x) public pure returns 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(x &lt; 10)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0;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if (x &lt; 20)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1;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return 2;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7453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반복문</a:t>
            </a:r>
            <a:r>
              <a:rPr lang="ko-KR" altLang="en-US" dirty="0"/>
              <a:t> </a:t>
            </a:r>
            <a:r>
              <a:rPr lang="en-US" altLang="ko-KR" dirty="0"/>
              <a:t>(while, do, for, break, continue, return)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for, while, break, continue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72580" y="1808820"/>
            <a:ext cx="7560840" cy="3970318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Loop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loop() public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for loop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== 3)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// Skip to next iteration with continue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continue;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== 5)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// Exit loop with break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break;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endParaRPr lang="en-US" altLang="ko-KR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 while loop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while (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10) {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38979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B.</a:t>
            </a:r>
            <a:r>
              <a:rPr lang="ko-KR" altLang="en-US" dirty="0"/>
              <a:t> 특수 함수 및 기타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30931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46D35-FE65-4E07-865C-0A70BE94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컨트랙트</a:t>
            </a:r>
            <a:r>
              <a:rPr lang="ko-KR" altLang="en-US" dirty="0"/>
              <a:t> 생성 및 생성자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37D108-0AEF-4365-8301-0B4F03192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 err="1"/>
              <a:t>컨트랙트</a:t>
            </a:r>
            <a:r>
              <a:rPr lang="ko-KR" altLang="en-US" dirty="0"/>
              <a:t> 생성의</a:t>
            </a:r>
            <a:r>
              <a:rPr lang="en-US" altLang="ko-KR" dirty="0"/>
              <a:t> </a:t>
            </a:r>
            <a:r>
              <a:rPr lang="ko-KR" altLang="en-US" dirty="0"/>
              <a:t>두 가지 형태</a:t>
            </a:r>
            <a:endParaRPr lang="en-US" altLang="ko-KR" dirty="0"/>
          </a:p>
          <a:p>
            <a:pPr lvl="1"/>
            <a:r>
              <a:rPr lang="ko-KR" altLang="en-US" dirty="0"/>
              <a:t>형태 </a:t>
            </a:r>
            <a:r>
              <a:rPr lang="en-US" altLang="ko-KR" dirty="0"/>
              <a:t>1) </a:t>
            </a:r>
            <a:r>
              <a:rPr lang="ko-KR" altLang="en-US" dirty="0" err="1"/>
              <a:t>이더리움</a:t>
            </a:r>
            <a:r>
              <a:rPr lang="ko-KR" altLang="en-US" dirty="0"/>
              <a:t> 트랜잭션에 의해 </a:t>
            </a:r>
            <a:r>
              <a:rPr lang="ko-KR" altLang="en-US" dirty="0" err="1"/>
              <a:t>컨트랙트를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2"/>
            <a:r>
              <a:rPr lang="en-US" altLang="ko-KR" dirty="0"/>
              <a:t>JavaScript </a:t>
            </a:r>
            <a:r>
              <a:rPr lang="ko-KR" altLang="en-US" dirty="0"/>
              <a:t>라이브러리</a:t>
            </a:r>
            <a:r>
              <a:rPr lang="en-US" altLang="ko-KR" dirty="0"/>
              <a:t> web3.js</a:t>
            </a:r>
            <a:r>
              <a:rPr lang="ko-KR" altLang="en-US" dirty="0"/>
              <a:t>에서 제공되는 </a:t>
            </a:r>
            <a:r>
              <a:rPr lang="en-US" altLang="ko-KR" dirty="0"/>
              <a:t>web3.eth.Contract </a:t>
            </a:r>
            <a:r>
              <a:rPr lang="ko-KR" altLang="en-US" dirty="0"/>
              <a:t>함수를 이용하면 프로그램적으로 </a:t>
            </a:r>
            <a:r>
              <a:rPr lang="ko-KR" altLang="en-US" dirty="0" err="1"/>
              <a:t>컨트랙트</a:t>
            </a:r>
            <a:r>
              <a:rPr lang="ko-KR" altLang="en-US" dirty="0"/>
              <a:t> 생성 가능</a:t>
            </a:r>
            <a:endParaRPr lang="en-US" altLang="ko-KR" dirty="0"/>
          </a:p>
          <a:p>
            <a:pPr lvl="1"/>
            <a:r>
              <a:rPr lang="ko-KR" altLang="en-US" dirty="0"/>
              <a:t>형태 </a:t>
            </a:r>
            <a:r>
              <a:rPr lang="en-US" altLang="ko-KR" dirty="0"/>
              <a:t>2) </a:t>
            </a:r>
            <a:r>
              <a:rPr lang="ko-KR" altLang="en-US" dirty="0" err="1"/>
              <a:t>컨트랙트</a:t>
            </a:r>
            <a:r>
              <a:rPr lang="ko-KR" altLang="en-US" dirty="0"/>
              <a:t> 내부에서 다른 </a:t>
            </a:r>
            <a:r>
              <a:rPr lang="ko-KR" altLang="en-US" dirty="0" err="1"/>
              <a:t>컨트랙트를</a:t>
            </a:r>
            <a:r>
              <a:rPr lang="ko-KR" altLang="en-US" dirty="0"/>
              <a:t> 생성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생성자 함수 </a:t>
            </a:r>
            <a:r>
              <a:rPr lang="en-US" altLang="ko-KR" dirty="0"/>
              <a:t>(constructor)</a:t>
            </a:r>
          </a:p>
          <a:p>
            <a:pPr lvl="1"/>
            <a:r>
              <a:rPr lang="ko-KR" altLang="en-US" dirty="0" err="1"/>
              <a:t>컨트랙트</a:t>
            </a:r>
            <a:r>
              <a:rPr lang="ko-KR" altLang="en-US" dirty="0"/>
              <a:t> 생성시 한 번 실행되는 함수</a:t>
            </a:r>
            <a:endParaRPr lang="en-US" altLang="ko-KR" dirty="0"/>
          </a:p>
          <a:p>
            <a:pPr lvl="2"/>
            <a:r>
              <a:rPr lang="ko-KR" altLang="en-US" dirty="0"/>
              <a:t>함수 내부에서 지칭하는 </a:t>
            </a:r>
            <a:r>
              <a:rPr lang="en-US" altLang="ko-KR" dirty="0" err="1"/>
              <a:t>msg.sender</a:t>
            </a:r>
            <a:r>
              <a:rPr lang="ko-KR" altLang="en-US" dirty="0"/>
              <a:t>는 </a:t>
            </a:r>
            <a:r>
              <a:rPr lang="ko-KR" altLang="en-US" dirty="0" err="1"/>
              <a:t>컨트랙트</a:t>
            </a:r>
            <a:r>
              <a:rPr lang="ko-KR" altLang="en-US" dirty="0"/>
              <a:t> 생성자의</a:t>
            </a:r>
            <a:r>
              <a:rPr lang="en-US" altLang="ko-KR" dirty="0"/>
              <a:t> </a:t>
            </a:r>
            <a:r>
              <a:rPr lang="ko-KR" altLang="en-US" dirty="0"/>
              <a:t>주소</a:t>
            </a:r>
            <a:endParaRPr lang="en-US" altLang="ko-KR" dirty="0"/>
          </a:p>
          <a:p>
            <a:pPr lvl="1"/>
            <a:r>
              <a:rPr lang="ko-KR" altLang="en-US" dirty="0"/>
              <a:t>생성자 함수는 </a:t>
            </a:r>
            <a:r>
              <a:rPr lang="ko-KR" altLang="en-US" dirty="0" err="1"/>
              <a:t>컨트랙트</a:t>
            </a:r>
            <a:r>
              <a:rPr lang="ko-KR" altLang="en-US" dirty="0"/>
              <a:t> 당 최대 하나까지 정의 가능</a:t>
            </a:r>
            <a:endParaRPr lang="en-US" altLang="ko-KR" dirty="0"/>
          </a:p>
          <a:p>
            <a:pPr lvl="1"/>
            <a:r>
              <a:rPr lang="ko-KR" altLang="en-US" dirty="0"/>
              <a:t>생성자 함수가 실행되면 </a:t>
            </a:r>
            <a:r>
              <a:rPr lang="ko-KR" altLang="en-US" dirty="0" err="1"/>
              <a:t>컨트랙트</a:t>
            </a:r>
            <a:r>
              <a:rPr lang="ko-KR" altLang="en-US" dirty="0"/>
              <a:t> 코드가 블록체인에 저장</a:t>
            </a:r>
            <a:r>
              <a:rPr lang="en-US" altLang="ko-KR" dirty="0"/>
              <a:t>(deploy)</a:t>
            </a:r>
          </a:p>
          <a:p>
            <a:pPr lvl="2"/>
            <a:r>
              <a:rPr lang="ko-KR" altLang="en-US" dirty="0"/>
              <a:t>생성자 함수와 내부 함수</a:t>
            </a:r>
            <a:r>
              <a:rPr lang="en-US" altLang="ko-KR" dirty="0"/>
              <a:t>(internal functions)</a:t>
            </a:r>
            <a:r>
              <a:rPr lang="ko-KR" altLang="en-US" dirty="0"/>
              <a:t>를 제외한 나머지 코드들만 저장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상태변수 초기화</a:t>
            </a:r>
            <a:endParaRPr lang="en-US" altLang="ko-KR" dirty="0"/>
          </a:p>
          <a:p>
            <a:pPr lvl="1"/>
            <a:r>
              <a:rPr lang="ko-KR" altLang="en-US" dirty="0"/>
              <a:t>생성자 함수 내에서 상태변수들을 초기화하는 것이 일반적임</a:t>
            </a:r>
            <a:endParaRPr lang="en-US" altLang="ko-KR" dirty="0"/>
          </a:p>
          <a:p>
            <a:pPr lvl="1"/>
            <a:r>
              <a:rPr lang="ko-KR" altLang="en-US" dirty="0"/>
              <a:t>초기값을 지정하지 않았을 경우에는 </a:t>
            </a:r>
            <a:r>
              <a:rPr lang="en-US" altLang="ko-KR" dirty="0"/>
              <a:t>‘zero state’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초기화됨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0699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52F66-35CB-46A5-A37B-C43DAC2B1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겟터</a:t>
            </a:r>
            <a:r>
              <a:rPr lang="ko-KR" altLang="en-US" dirty="0"/>
              <a:t> 함수 </a:t>
            </a:r>
            <a:r>
              <a:rPr lang="en-US" altLang="ko-KR" dirty="0"/>
              <a:t>(Getter Functions)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8FF949-FA3A-4CF8-8DFE-960F0690F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겟터</a:t>
            </a:r>
            <a:r>
              <a:rPr lang="ko-KR" altLang="en-US" dirty="0"/>
              <a:t> 함수</a:t>
            </a:r>
            <a:endParaRPr lang="en-US" altLang="ko-KR" dirty="0"/>
          </a:p>
          <a:p>
            <a:pPr lvl="1"/>
            <a:r>
              <a:rPr lang="en-US" altLang="ko-KR" dirty="0"/>
              <a:t>public </a:t>
            </a:r>
            <a:r>
              <a:rPr lang="ko-KR" altLang="en-US" dirty="0"/>
              <a:t>가시성을 가지는 </a:t>
            </a:r>
            <a:r>
              <a:rPr lang="ko-KR" altLang="en-US" dirty="0" err="1"/>
              <a:t>상태변수를</a:t>
            </a:r>
            <a:r>
              <a:rPr lang="ko-KR" altLang="en-US" dirty="0"/>
              <a:t> 반환하는 함수</a:t>
            </a:r>
            <a:endParaRPr lang="en-US" altLang="ko-KR" dirty="0"/>
          </a:p>
          <a:p>
            <a:pPr lvl="1"/>
            <a:r>
              <a:rPr lang="ko-KR" altLang="en-US" dirty="0"/>
              <a:t>자동으로</a:t>
            </a:r>
            <a:r>
              <a:rPr lang="en-US" altLang="ko-KR" dirty="0"/>
              <a:t> </a:t>
            </a:r>
            <a:r>
              <a:rPr lang="ko-KR" altLang="en-US" dirty="0"/>
              <a:t>함수가 생성됨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특징</a:t>
            </a:r>
            <a:endParaRPr lang="en-US" altLang="ko-KR" dirty="0"/>
          </a:p>
          <a:p>
            <a:pPr lvl="1"/>
            <a:r>
              <a:rPr lang="ko-KR" altLang="en-US" dirty="0" err="1"/>
              <a:t>겟터</a:t>
            </a:r>
            <a:r>
              <a:rPr lang="ko-KR" altLang="en-US" dirty="0"/>
              <a:t> 함수의 이름은</a:t>
            </a:r>
            <a:r>
              <a:rPr lang="en-US" altLang="ko-KR" dirty="0"/>
              <a:t> </a:t>
            </a:r>
            <a:r>
              <a:rPr lang="ko-KR" altLang="en-US" dirty="0" err="1"/>
              <a:t>상태변수의</a:t>
            </a:r>
            <a:r>
              <a:rPr lang="ko-KR" altLang="en-US" dirty="0"/>
              <a:t> 이름과 동일</a:t>
            </a:r>
            <a:endParaRPr lang="en-US" altLang="ko-KR" dirty="0"/>
          </a:p>
          <a:p>
            <a:pPr lvl="1"/>
            <a:r>
              <a:rPr lang="ko-KR" altLang="en-US" dirty="0" err="1"/>
              <a:t>겟터</a:t>
            </a:r>
            <a:r>
              <a:rPr lang="ko-KR" altLang="en-US" dirty="0"/>
              <a:t> 함수의 가시성은 </a:t>
            </a:r>
            <a:r>
              <a:rPr lang="en-US" altLang="ko-KR" dirty="0"/>
              <a:t>external</a:t>
            </a:r>
          </a:p>
          <a:p>
            <a:pPr lvl="1"/>
            <a:r>
              <a:rPr lang="ko-KR" altLang="en-US" dirty="0" err="1"/>
              <a:t>상태변수가</a:t>
            </a:r>
            <a:r>
              <a:rPr lang="ko-KR" altLang="en-US" dirty="0"/>
              <a:t> 배열인 경우 원소를 하나씩 반환</a:t>
            </a:r>
            <a:endParaRPr lang="en-US" altLang="ko-KR" dirty="0"/>
          </a:p>
          <a:p>
            <a:pPr lvl="2"/>
            <a:r>
              <a:rPr lang="ko-KR" altLang="en-US" dirty="0"/>
              <a:t>배열 인덱스를 </a:t>
            </a:r>
            <a:r>
              <a:rPr lang="ko-KR" altLang="en-US" dirty="0" err="1"/>
              <a:t>인자값으로</a:t>
            </a:r>
            <a:r>
              <a:rPr lang="ko-KR" altLang="en-US" dirty="0"/>
              <a:t> 사용</a:t>
            </a:r>
          </a:p>
        </p:txBody>
      </p:sp>
    </p:spTree>
    <p:extLst>
      <p:ext uri="{BB962C8B-B14F-4D97-AF65-F5344CB8AC3E}">
        <p14:creationId xmlns:p14="http://schemas.microsoft.com/office/powerpoint/2010/main" val="28140181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이더</a:t>
            </a:r>
            <a:r>
              <a:rPr lang="ko-KR" altLang="en-US" dirty="0"/>
              <a:t> 송금을 위한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address.transfer</a:t>
            </a:r>
            <a:r>
              <a:rPr lang="en-US" altLang="ko-KR" dirty="0"/>
              <a:t>(…)</a:t>
            </a:r>
          </a:p>
          <a:p>
            <a:pPr lvl="1"/>
            <a:r>
              <a:rPr lang="ko-KR" altLang="en-US" dirty="0" err="1"/>
              <a:t>실패시</a:t>
            </a:r>
            <a:r>
              <a:rPr lang="ko-KR" altLang="en-US" dirty="0"/>
              <a:t> 예외</a:t>
            </a:r>
            <a:r>
              <a:rPr lang="en-US" altLang="ko-KR" dirty="0"/>
              <a:t>(exception) </a:t>
            </a:r>
            <a:r>
              <a:rPr lang="ko-KR" altLang="en-US" dirty="0"/>
              <a:t>발생</a:t>
            </a:r>
            <a:r>
              <a:rPr lang="en-US" altLang="ko-KR" dirty="0"/>
              <a:t>, </a:t>
            </a:r>
            <a:r>
              <a:rPr lang="ko-KR" altLang="en-US" dirty="0" err="1"/>
              <a:t>컨트랙트</a:t>
            </a:r>
            <a:r>
              <a:rPr lang="ko-KR" altLang="en-US" dirty="0"/>
              <a:t> 실행을 중단하고 </a:t>
            </a:r>
            <a:r>
              <a:rPr lang="en-US" altLang="ko-KR" dirty="0"/>
              <a:t>revert</a:t>
            </a:r>
          </a:p>
          <a:p>
            <a:endParaRPr lang="en-US" altLang="ko-KR" dirty="0"/>
          </a:p>
          <a:p>
            <a:r>
              <a:rPr lang="en-US" altLang="ko-KR" dirty="0" err="1"/>
              <a:t>address.send</a:t>
            </a:r>
            <a:r>
              <a:rPr lang="en-US" altLang="ko-KR" dirty="0"/>
              <a:t>(…) </a:t>
            </a:r>
          </a:p>
          <a:p>
            <a:pPr lvl="1"/>
            <a:r>
              <a:rPr lang="ko-KR" altLang="en-US" dirty="0" err="1"/>
              <a:t>실패시</a:t>
            </a:r>
            <a:r>
              <a:rPr lang="ko-KR" altLang="en-US" dirty="0"/>
              <a:t> </a:t>
            </a:r>
            <a:r>
              <a:rPr lang="en-US" altLang="ko-KR" dirty="0"/>
              <a:t>bool </a:t>
            </a:r>
            <a:r>
              <a:rPr lang="ko-KR" altLang="en-US" dirty="0"/>
              <a:t>값을 반환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컨트랙트</a:t>
            </a:r>
            <a:r>
              <a:rPr lang="ko-KR" altLang="en-US" dirty="0"/>
              <a:t> 실행을 계속</a:t>
            </a:r>
            <a:endParaRPr lang="en-US" altLang="ko-KR" dirty="0"/>
          </a:p>
          <a:p>
            <a:pPr lvl="3"/>
            <a:endParaRPr lang="en-US" altLang="ko-KR" dirty="0"/>
          </a:p>
          <a:p>
            <a:r>
              <a:rPr lang="en-US" altLang="ko-KR" dirty="0" err="1"/>
              <a:t>address.call</a:t>
            </a:r>
            <a:r>
              <a:rPr lang="en-US" altLang="ko-KR" dirty="0"/>
              <a:t>(…)</a:t>
            </a:r>
          </a:p>
          <a:p>
            <a:pPr lvl="1"/>
            <a:r>
              <a:rPr lang="ko-KR" altLang="en-US" dirty="0" err="1"/>
              <a:t>실패시</a:t>
            </a:r>
            <a:r>
              <a:rPr lang="ko-KR" altLang="en-US" dirty="0"/>
              <a:t> </a:t>
            </a:r>
            <a:r>
              <a:rPr lang="en-US" altLang="ko-KR" dirty="0"/>
              <a:t>bool </a:t>
            </a:r>
            <a:r>
              <a:rPr lang="ko-KR" altLang="en-US" dirty="0"/>
              <a:t>값을 반환</a:t>
            </a:r>
            <a:r>
              <a:rPr lang="en-US" altLang="ko-KR" dirty="0"/>
              <a:t>, </a:t>
            </a:r>
            <a:r>
              <a:rPr lang="ko-KR" altLang="en-US" dirty="0" err="1"/>
              <a:t>컨트랙트</a:t>
            </a:r>
            <a:r>
              <a:rPr lang="en-US" altLang="ko-KR" dirty="0"/>
              <a:t> </a:t>
            </a:r>
            <a:r>
              <a:rPr lang="ko-KR" altLang="en-US" dirty="0"/>
              <a:t>실행을 계속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1604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이더</a:t>
            </a:r>
            <a:r>
              <a:rPr lang="ko-KR" altLang="en-US" dirty="0"/>
              <a:t> 수신을 위한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payable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/>
              <a:t>상태변경성이 </a:t>
            </a:r>
            <a:r>
              <a:rPr lang="en-US" altLang="ko-KR" dirty="0"/>
              <a:t>payable</a:t>
            </a:r>
            <a:r>
              <a:rPr lang="ko-KR" altLang="en-US" dirty="0"/>
              <a:t>로 지정된 함수</a:t>
            </a:r>
            <a:endParaRPr lang="en-US" altLang="ko-KR" dirty="0"/>
          </a:p>
          <a:p>
            <a:pPr lvl="1"/>
            <a:r>
              <a:rPr lang="ko-KR" altLang="en-US" dirty="0"/>
              <a:t>함수를 호출할 때 </a:t>
            </a:r>
            <a:r>
              <a:rPr lang="ko-KR" altLang="en-US" dirty="0" err="1"/>
              <a:t>이더</a:t>
            </a:r>
            <a:r>
              <a:rPr lang="en-US" altLang="ko-KR" dirty="0"/>
              <a:t>(ether)</a:t>
            </a:r>
            <a:r>
              <a:rPr lang="ko-KR" altLang="en-US" dirty="0"/>
              <a:t>를 함께 송금할 수 있으며</a:t>
            </a:r>
            <a:r>
              <a:rPr lang="en-US" altLang="ko-KR" dirty="0"/>
              <a:t>, </a:t>
            </a:r>
            <a:r>
              <a:rPr lang="ko-KR" altLang="en-US" dirty="0"/>
              <a:t>호출된 함수가 </a:t>
            </a:r>
            <a:r>
              <a:rPr lang="en-US" altLang="ko-KR" dirty="0"/>
              <a:t>payable</a:t>
            </a:r>
            <a:r>
              <a:rPr lang="ko-KR" altLang="en-US" dirty="0"/>
              <a:t>로 지정되면 </a:t>
            </a:r>
            <a:r>
              <a:rPr lang="ko-KR" altLang="en-US" dirty="0" err="1"/>
              <a:t>이더</a:t>
            </a:r>
            <a:r>
              <a:rPr lang="en-US" altLang="ko-KR" dirty="0"/>
              <a:t>(ether)</a:t>
            </a:r>
            <a:r>
              <a:rPr lang="ko-KR" altLang="en-US" dirty="0"/>
              <a:t>를 수신할 수 있음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receive()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ko-KR" altLang="en-US" dirty="0" err="1"/>
              <a:t>컨트랙트별</a:t>
            </a:r>
            <a:r>
              <a:rPr lang="en-US" altLang="ko-KR" dirty="0"/>
              <a:t> </a:t>
            </a:r>
            <a:r>
              <a:rPr lang="ko-KR" altLang="en-US" dirty="0"/>
              <a:t>최대 하나의 </a:t>
            </a:r>
            <a:r>
              <a:rPr lang="ko-KR" altLang="en-US" dirty="0" err="1"/>
              <a:t>이더</a:t>
            </a:r>
            <a:r>
              <a:rPr lang="ko-KR" altLang="en-US" dirty="0"/>
              <a:t> 수신 함수 </a:t>
            </a:r>
            <a:r>
              <a:rPr lang="en-US" altLang="ko-KR" dirty="0"/>
              <a:t>receive </a:t>
            </a:r>
            <a:r>
              <a:rPr lang="ko-KR" altLang="en-US" dirty="0"/>
              <a:t>허용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r>
              <a:rPr lang="en-US" altLang="ko-KR" dirty="0"/>
              <a:t>: receive() external payable { … }</a:t>
            </a:r>
          </a:p>
          <a:p>
            <a:pPr lvl="2"/>
            <a:r>
              <a:rPr lang="en-US" altLang="ko-KR" dirty="0"/>
              <a:t>function </a:t>
            </a:r>
            <a:r>
              <a:rPr lang="ko-KR" altLang="en-US" dirty="0"/>
              <a:t>키워드 생략</a:t>
            </a:r>
            <a:endParaRPr lang="en-US" altLang="ko-KR" dirty="0"/>
          </a:p>
          <a:p>
            <a:pPr lvl="2"/>
            <a:r>
              <a:rPr lang="ko-KR" altLang="en-US" dirty="0" err="1"/>
              <a:t>인자값과</a:t>
            </a:r>
            <a:r>
              <a:rPr lang="ko-KR" altLang="en-US" dirty="0"/>
              <a:t> </a:t>
            </a:r>
            <a:r>
              <a:rPr lang="ko-KR" altLang="en-US" dirty="0" err="1"/>
              <a:t>리턴값을</a:t>
            </a:r>
            <a:r>
              <a:rPr lang="ko-KR" altLang="en-US" dirty="0"/>
              <a:t> 가지지 않음</a:t>
            </a:r>
            <a:endParaRPr lang="en-US" altLang="ko-KR" dirty="0"/>
          </a:p>
          <a:p>
            <a:pPr lvl="1"/>
            <a:r>
              <a:rPr lang="en-US" altLang="ko-KR" dirty="0"/>
              <a:t>send </a:t>
            </a:r>
            <a:r>
              <a:rPr lang="ko-KR" altLang="en-US" dirty="0"/>
              <a:t>또는 </a:t>
            </a:r>
            <a:r>
              <a:rPr lang="en-US" altLang="ko-KR" dirty="0"/>
              <a:t>transfer </a:t>
            </a:r>
            <a:r>
              <a:rPr lang="ko-KR" altLang="en-US" dirty="0"/>
              <a:t>등을 통해 </a:t>
            </a:r>
            <a:r>
              <a:rPr lang="ko-KR" altLang="en-US" dirty="0" err="1"/>
              <a:t>이더를</a:t>
            </a:r>
            <a:r>
              <a:rPr lang="ko-KR" altLang="en-US" dirty="0"/>
              <a:t> </a:t>
            </a:r>
            <a:r>
              <a:rPr lang="ko-KR" altLang="en-US" dirty="0" err="1"/>
              <a:t>송금받을</a:t>
            </a:r>
            <a:r>
              <a:rPr lang="ko-KR" altLang="en-US" dirty="0"/>
              <a:t> 경우 실행됨</a:t>
            </a:r>
            <a:endParaRPr lang="en-US" altLang="ko-KR" dirty="0"/>
          </a:p>
          <a:p>
            <a:pPr lvl="2"/>
            <a:r>
              <a:rPr lang="en-US" altLang="ko-KR" dirty="0"/>
              <a:t>receive() </a:t>
            </a:r>
            <a:r>
              <a:rPr lang="ko-KR" altLang="en-US" dirty="0"/>
              <a:t>또는 </a:t>
            </a:r>
            <a:r>
              <a:rPr lang="en-US" altLang="ko-KR" dirty="0"/>
              <a:t>payable fallback()</a:t>
            </a:r>
            <a:r>
              <a:rPr lang="ko-KR" altLang="en-US" dirty="0"/>
              <a:t>이 모두 존재하지 않을 경우 </a:t>
            </a:r>
            <a:r>
              <a:rPr lang="ko-KR" altLang="en-US" dirty="0" err="1"/>
              <a:t>이더</a:t>
            </a:r>
            <a:r>
              <a:rPr lang="ko-KR" altLang="en-US" dirty="0"/>
              <a:t> 수신이 실패하며 예외</a:t>
            </a:r>
            <a:r>
              <a:rPr lang="en-US" altLang="ko-KR" dirty="0"/>
              <a:t>(exception) </a:t>
            </a:r>
            <a:r>
              <a:rPr lang="ko-KR" altLang="en-US" dirty="0"/>
              <a:t>발생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6314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폴백</a:t>
            </a:r>
            <a:r>
              <a:rPr lang="ko-KR" altLang="en-US" dirty="0"/>
              <a:t> 함수 </a:t>
            </a:r>
            <a:r>
              <a:rPr lang="en-US" altLang="ko-KR" dirty="0"/>
              <a:t>(Fallback Functions)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폴백</a:t>
            </a:r>
            <a:r>
              <a:rPr lang="ko-KR" altLang="en-US" dirty="0"/>
              <a:t> 함수</a:t>
            </a:r>
            <a:endParaRPr lang="en-US" altLang="ko-KR" dirty="0"/>
          </a:p>
          <a:p>
            <a:pPr lvl="1"/>
            <a:r>
              <a:rPr lang="ko-KR" altLang="en-US" dirty="0"/>
              <a:t>함수 호출 조건이 만족되지 않을 경우 대신 실행되는 함수</a:t>
            </a:r>
            <a:endParaRPr lang="en-US" altLang="ko-KR" dirty="0"/>
          </a:p>
          <a:p>
            <a:pPr lvl="2"/>
            <a:r>
              <a:rPr lang="ko-KR" altLang="en-US" dirty="0" err="1"/>
              <a:t>컨트랙트별</a:t>
            </a:r>
            <a:r>
              <a:rPr lang="en-US" altLang="ko-KR" dirty="0"/>
              <a:t> </a:t>
            </a:r>
            <a:r>
              <a:rPr lang="ko-KR" altLang="en-US" dirty="0"/>
              <a:t>최대 하나의 </a:t>
            </a:r>
            <a:r>
              <a:rPr lang="ko-KR" altLang="en-US" dirty="0" err="1"/>
              <a:t>폴백</a:t>
            </a:r>
            <a:r>
              <a:rPr lang="ko-KR" altLang="en-US" dirty="0"/>
              <a:t> 함수 허용</a:t>
            </a:r>
            <a:endParaRPr lang="en-US" altLang="ko-KR" dirty="0"/>
          </a:p>
          <a:p>
            <a:pPr lvl="1"/>
            <a:r>
              <a:rPr lang="ko-KR" altLang="en-US" dirty="0"/>
              <a:t>형식</a:t>
            </a:r>
            <a:r>
              <a:rPr lang="en-US" altLang="ko-KR" dirty="0"/>
              <a:t>: fallback() external [payable] { … }</a:t>
            </a:r>
          </a:p>
          <a:p>
            <a:pPr lvl="2"/>
            <a:r>
              <a:rPr lang="en-US" altLang="ko-KR" dirty="0"/>
              <a:t>function </a:t>
            </a:r>
            <a:r>
              <a:rPr lang="ko-KR" altLang="en-US" dirty="0"/>
              <a:t>키워드 생략</a:t>
            </a:r>
            <a:endParaRPr lang="en-US" altLang="ko-KR" dirty="0"/>
          </a:p>
          <a:p>
            <a:pPr lvl="2"/>
            <a:r>
              <a:rPr lang="ko-KR" altLang="en-US" dirty="0" err="1"/>
              <a:t>인자값과</a:t>
            </a:r>
            <a:r>
              <a:rPr lang="ko-KR" altLang="en-US" dirty="0"/>
              <a:t> </a:t>
            </a:r>
            <a:r>
              <a:rPr lang="ko-KR" altLang="en-US" dirty="0" err="1"/>
              <a:t>리턴값을</a:t>
            </a:r>
            <a:r>
              <a:rPr lang="ko-KR" altLang="en-US" dirty="0"/>
              <a:t> 가지지 않음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폴백</a:t>
            </a:r>
            <a:r>
              <a:rPr lang="ko-KR" altLang="en-US" dirty="0"/>
              <a:t> 함수의 실행</a:t>
            </a:r>
            <a:endParaRPr lang="en-US" altLang="ko-KR" dirty="0"/>
          </a:p>
          <a:p>
            <a:pPr lvl="1"/>
            <a:r>
              <a:rPr lang="ko-KR" altLang="en-US" dirty="0"/>
              <a:t>호출된 함수와 일치하는 </a:t>
            </a:r>
            <a:r>
              <a:rPr lang="ko-KR" altLang="en-US" dirty="0" err="1"/>
              <a:t>컨트랙트</a:t>
            </a:r>
            <a:r>
              <a:rPr lang="ko-KR" altLang="en-US" dirty="0"/>
              <a:t> 함수가 존재하지 않을 경우</a:t>
            </a:r>
            <a:endParaRPr lang="en-US" altLang="ko-KR" dirty="0"/>
          </a:p>
          <a:p>
            <a:pPr lvl="1"/>
            <a:r>
              <a:rPr lang="ko-KR" altLang="en-US" dirty="0" err="1"/>
              <a:t>지불가능</a:t>
            </a:r>
            <a:r>
              <a:rPr lang="en-US" altLang="ko-KR" dirty="0"/>
              <a:t>(payable)</a:t>
            </a:r>
            <a:r>
              <a:rPr lang="ko-KR" altLang="en-US" dirty="0"/>
              <a:t>으로 지정될 경우 </a:t>
            </a:r>
            <a:r>
              <a:rPr lang="ko-KR" altLang="en-US" dirty="0" err="1"/>
              <a:t>이더</a:t>
            </a:r>
            <a:r>
              <a:rPr lang="ko-KR" altLang="en-US" dirty="0"/>
              <a:t> 수신 가능</a:t>
            </a:r>
          </a:p>
        </p:txBody>
      </p:sp>
    </p:spTree>
    <p:extLst>
      <p:ext uri="{BB962C8B-B14F-4D97-AF65-F5344CB8AC3E}">
        <p14:creationId xmlns:p14="http://schemas.microsoft.com/office/powerpoint/2010/main" val="2339408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함수</a:t>
            </a:r>
            <a:r>
              <a:rPr lang="en-US" altLang="ko-KR" dirty="0"/>
              <a:t> </a:t>
            </a:r>
            <a:r>
              <a:rPr lang="ko-KR" altLang="en-US" dirty="0"/>
              <a:t>변경자 </a:t>
            </a:r>
            <a:r>
              <a:rPr lang="en-US" altLang="ko-KR" dirty="0"/>
              <a:t>(Function Modifiers)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함수 변경자</a:t>
            </a:r>
            <a:endParaRPr lang="en-US" altLang="ko-KR" dirty="0"/>
          </a:p>
          <a:p>
            <a:pPr lvl="1"/>
            <a:r>
              <a:rPr lang="ko-KR" altLang="en-US" dirty="0"/>
              <a:t>변경자를 적용하는 모든 함수에서 실행되는 코드를 표현</a:t>
            </a:r>
            <a:endParaRPr lang="en-US" altLang="ko-KR" dirty="0"/>
          </a:p>
          <a:p>
            <a:pPr lvl="1"/>
            <a:r>
              <a:rPr lang="ko-KR" altLang="en-US" dirty="0"/>
              <a:t>상속 및 </a:t>
            </a:r>
            <a:r>
              <a:rPr lang="ko-KR" altLang="en-US" dirty="0" err="1"/>
              <a:t>오버라이딩</a:t>
            </a:r>
            <a:r>
              <a:rPr lang="ko-KR" altLang="en-US" dirty="0"/>
              <a:t> 가능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44588" y="3608412"/>
            <a:ext cx="7416824" cy="2462213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modifier check 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require(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msg.sender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owner);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--;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getWithCheck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) public </a:t>
            </a:r>
            <a:r>
              <a:rPr lang="en-US" altLang="ko-KR" sz="1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if (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== 1) 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exeCount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exeCout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+ 1;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4046" y="6123086"/>
            <a:ext cx="1560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함수 변경자</a:t>
            </a:r>
            <a:r>
              <a:rPr lang="en-US" altLang="ko-KR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 </a:t>
            </a:r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적용</a:t>
            </a:r>
          </a:p>
        </p:txBody>
      </p:sp>
      <p:cxnSp>
        <p:nvCxnSpPr>
          <p:cNvPr id="16" name="직선 화살표 연결선 15"/>
          <p:cNvCxnSpPr>
            <a:stCxn id="15" idx="1"/>
          </p:cNvCxnSpPr>
          <p:nvPr/>
        </p:nvCxnSpPr>
        <p:spPr bwMode="auto">
          <a:xfrm flipH="1" flipV="1">
            <a:off x="5097018" y="5408613"/>
            <a:ext cx="1677028" cy="8683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688106" y="3212977"/>
            <a:ext cx="3353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함수 변경자가</a:t>
            </a:r>
            <a:r>
              <a:rPr lang="en-US" altLang="ko-KR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 </a:t>
            </a:r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적용된 함수의 실행 위치</a:t>
            </a:r>
          </a:p>
        </p:txBody>
      </p:sp>
      <p:cxnSp>
        <p:nvCxnSpPr>
          <p:cNvPr id="19" name="직선 화살표 연결선 18"/>
          <p:cNvCxnSpPr>
            <a:stCxn id="18" idx="1"/>
          </p:cNvCxnSpPr>
          <p:nvPr/>
        </p:nvCxnSpPr>
        <p:spPr bwMode="auto">
          <a:xfrm flipH="1">
            <a:off x="2144689" y="3366866"/>
            <a:ext cx="3543417" cy="103363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3700085" y="3029355"/>
            <a:ext cx="15600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함수 변경자</a:t>
            </a:r>
            <a:r>
              <a:rPr lang="en-US" altLang="ko-KR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 </a:t>
            </a:r>
            <a:r>
              <a:rPr lang="ko-KR" altLang="en-US" sz="1400" dirty="0">
                <a:solidFill>
                  <a:srgbClr val="0033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rPr>
              <a:t>선언</a:t>
            </a:r>
          </a:p>
        </p:txBody>
      </p:sp>
      <p:cxnSp>
        <p:nvCxnSpPr>
          <p:cNvPr id="10" name="직선 화살표 연결선 9"/>
          <p:cNvCxnSpPr>
            <a:stCxn id="9" idx="1"/>
          </p:cNvCxnSpPr>
          <p:nvPr/>
        </p:nvCxnSpPr>
        <p:spPr bwMode="auto">
          <a:xfrm flipH="1">
            <a:off x="2053353" y="3183244"/>
            <a:ext cx="1646732" cy="46960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5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59561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이벤트 </a:t>
            </a:r>
            <a:r>
              <a:rPr lang="en-US" altLang="ko-KR" dirty="0"/>
              <a:t>(Events)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이벤트 생성</a:t>
            </a:r>
            <a:endParaRPr lang="en-US" altLang="ko-KR" dirty="0"/>
          </a:p>
          <a:p>
            <a:pPr lvl="1"/>
            <a:r>
              <a:rPr lang="ko-KR" altLang="en-US" dirty="0"/>
              <a:t>이벤트를 트랜잭션 로그 형태로 생성 및 블록체인에 저장</a:t>
            </a:r>
            <a:endParaRPr lang="en-US" altLang="ko-KR" dirty="0"/>
          </a:p>
          <a:p>
            <a:pPr lvl="2"/>
            <a:r>
              <a:rPr lang="ko-KR" altLang="en-US" dirty="0"/>
              <a:t>트랜잭션 </a:t>
            </a:r>
            <a:r>
              <a:rPr lang="en-US" altLang="ko-KR" dirty="0"/>
              <a:t>receipt</a:t>
            </a:r>
            <a:r>
              <a:rPr lang="ko-KR" altLang="en-US" dirty="0"/>
              <a:t>에 저장 </a:t>
            </a:r>
            <a:r>
              <a:rPr lang="en-US" altLang="ko-KR" dirty="0"/>
              <a:t>(</a:t>
            </a:r>
            <a:r>
              <a:rPr lang="ko-KR" altLang="en-US" dirty="0" err="1"/>
              <a:t>컨트랙트</a:t>
            </a:r>
            <a:r>
              <a:rPr lang="ko-KR" altLang="en-US" dirty="0"/>
              <a:t> 주소와 연결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개까지 </a:t>
            </a:r>
            <a:r>
              <a:rPr lang="en-US" altLang="ko-KR" dirty="0"/>
              <a:t>“indexed” </a:t>
            </a:r>
            <a:r>
              <a:rPr lang="ko-KR" altLang="en-US" dirty="0"/>
              <a:t>지정 가능 </a:t>
            </a:r>
            <a:r>
              <a:rPr lang="en-US" altLang="ko-KR" dirty="0"/>
              <a:t>(</a:t>
            </a:r>
            <a:r>
              <a:rPr lang="ko-KR" altLang="en-US" dirty="0"/>
              <a:t>로그의</a:t>
            </a:r>
            <a:r>
              <a:rPr lang="en-US" altLang="ko-KR" dirty="0"/>
              <a:t> “topics”</a:t>
            </a:r>
            <a:r>
              <a:rPr lang="ko-KR" altLang="en-US" dirty="0"/>
              <a:t>에 기록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:</a:t>
            </a:r>
            <a:r>
              <a:rPr lang="ko-KR" altLang="en-US" dirty="0"/>
              <a:t> 이벤트 구조의 정의 및 이벤트 생성</a:t>
            </a:r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1496616" y="3717032"/>
            <a:ext cx="7416824" cy="2462213"/>
          </a:xfrm>
          <a:prstGeom prst="rect">
            <a:avLst/>
          </a:prstGeom>
          <a:solidFill>
            <a:srgbClr val="E5FFE5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contract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ClientReceipt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event Deposit(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address indexed _from,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bytes32 indexed _id,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uint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_value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function deposit(bytes32 _id) public payable {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emit Deposit(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msg.sender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_id, </a:t>
            </a:r>
            <a:r>
              <a:rPr lang="en-US" altLang="ko-KR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msg.value</a:t>
            </a: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43522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54B766-96E5-4818-A82B-CE23977DC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이벤트 조회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F6DB66-CBC7-4661-974E-5A5DC0B12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dirty="0"/>
              <a:t>이벤트 데이터 조회는 온</a:t>
            </a:r>
            <a:r>
              <a:rPr lang="en-US" altLang="ko-KR" dirty="0"/>
              <a:t>-</a:t>
            </a:r>
            <a:r>
              <a:rPr lang="ko-KR" altLang="en-US" dirty="0"/>
              <a:t>체인에서 불가</a:t>
            </a:r>
            <a:endParaRPr lang="en-US" altLang="ko-KR" dirty="0"/>
          </a:p>
          <a:p>
            <a:pPr lvl="1"/>
            <a:r>
              <a:rPr lang="ko-KR" altLang="en-US" dirty="0"/>
              <a:t>오프</a:t>
            </a:r>
            <a:r>
              <a:rPr lang="en-US" altLang="ko-KR" dirty="0"/>
              <a:t>-</a:t>
            </a:r>
            <a:r>
              <a:rPr lang="ko-KR" altLang="en-US" dirty="0"/>
              <a:t>체인에서 </a:t>
            </a:r>
            <a:r>
              <a:rPr lang="en-US" altLang="ko-KR" dirty="0"/>
              <a:t>web3.js</a:t>
            </a:r>
            <a:r>
              <a:rPr lang="ko-KR" altLang="en-US" dirty="0"/>
              <a:t>에서 제공하는 </a:t>
            </a:r>
            <a:r>
              <a:rPr lang="en-US" altLang="ko-KR" dirty="0"/>
              <a:t>API </a:t>
            </a:r>
            <a:r>
              <a:rPr lang="ko-KR" altLang="en-US" dirty="0"/>
              <a:t>등을 이용하여 이벤트 조회 가능</a:t>
            </a:r>
            <a:endParaRPr lang="en-US" altLang="ko-KR" dirty="0"/>
          </a:p>
          <a:p>
            <a:pPr lvl="1"/>
            <a:r>
              <a:rPr lang="ko-KR" altLang="en-US" dirty="0"/>
              <a:t>이벤트를 사용하면 스토리지</a:t>
            </a:r>
            <a:r>
              <a:rPr lang="en-US" altLang="ko-KR" dirty="0"/>
              <a:t>(storage) </a:t>
            </a:r>
            <a:r>
              <a:rPr lang="ko-KR" altLang="en-US" dirty="0"/>
              <a:t>저장에 비해 가스비가 저렴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예시</a:t>
            </a:r>
            <a:r>
              <a:rPr lang="en-US" altLang="ko-KR" dirty="0"/>
              <a:t>)</a:t>
            </a:r>
          </a:p>
          <a:p>
            <a:pPr marL="525463" lvl="2" indent="0">
              <a:buNone/>
            </a:pPr>
            <a:r>
              <a:rPr lang="en-US" altLang="ko-KR" dirty="0"/>
              <a:t>const contract = new web3.eth.Contract(</a:t>
            </a:r>
            <a:r>
              <a:rPr lang="en-US" altLang="ko-KR" dirty="0" err="1"/>
              <a:t>abi</a:t>
            </a:r>
            <a:r>
              <a:rPr lang="en-US" altLang="ko-KR" dirty="0"/>
              <a:t>, </a:t>
            </a:r>
            <a:r>
              <a:rPr lang="en-US" altLang="ko-KR" dirty="0" err="1"/>
              <a:t>contractAddress</a:t>
            </a:r>
            <a:r>
              <a:rPr lang="en-US" altLang="ko-KR" dirty="0"/>
              <a:t>);</a:t>
            </a:r>
          </a:p>
          <a:p>
            <a:pPr marL="525463" lvl="2" indent="0">
              <a:buNone/>
            </a:pPr>
            <a:r>
              <a:rPr lang="en-US" altLang="ko-KR" dirty="0" err="1"/>
              <a:t>contract.getPastEvents</a:t>
            </a:r>
            <a:r>
              <a:rPr lang="en-US" altLang="ko-KR" dirty="0"/>
              <a:t>('</a:t>
            </a:r>
            <a:r>
              <a:rPr lang="en-US" altLang="ko-KR" dirty="0" err="1"/>
              <a:t>NewTransaction</a:t>
            </a:r>
            <a:r>
              <a:rPr lang="en-US" altLang="ko-KR" dirty="0"/>
              <a:t>', {</a:t>
            </a:r>
          </a:p>
          <a:p>
            <a:pPr marL="525463" lvl="2" indent="0">
              <a:buNone/>
            </a:pPr>
            <a:r>
              <a:rPr lang="en-US" altLang="ko-KR" dirty="0"/>
              <a:t>     filter: { sender: '0x123abc' }, // Optional event filtering</a:t>
            </a:r>
          </a:p>
          <a:p>
            <a:pPr marL="525463" lvl="2" indent="0">
              <a:buNone/>
            </a:pPr>
            <a:r>
              <a:rPr lang="en-US" altLang="ko-KR" dirty="0"/>
              <a:t>     </a:t>
            </a:r>
            <a:r>
              <a:rPr lang="en-US" altLang="ko-KR" dirty="0" err="1"/>
              <a:t>fromBlock</a:t>
            </a:r>
            <a:r>
              <a:rPr lang="en-US" altLang="ko-KR" dirty="0"/>
              <a:t>: 0, // Start block number</a:t>
            </a:r>
          </a:p>
          <a:p>
            <a:pPr marL="525463" lvl="2" indent="0">
              <a:buNone/>
            </a:pPr>
            <a:r>
              <a:rPr lang="en-US" altLang="ko-KR" dirty="0"/>
              <a:t>     </a:t>
            </a:r>
            <a:r>
              <a:rPr lang="en-US" altLang="ko-KR" dirty="0" err="1"/>
              <a:t>toBlock</a:t>
            </a:r>
            <a:r>
              <a:rPr lang="en-US" altLang="ko-KR" dirty="0"/>
              <a:t>: 'latest' // End block number</a:t>
            </a:r>
          </a:p>
          <a:p>
            <a:pPr marL="525463" lvl="2" indent="0">
              <a:buNone/>
            </a:pPr>
            <a:r>
              <a:rPr lang="en-US" altLang="ko-KR" dirty="0"/>
              <a:t>})</a:t>
            </a:r>
          </a:p>
          <a:p>
            <a:pPr marL="525463" lvl="2" indent="0">
              <a:buNone/>
            </a:pPr>
            <a:r>
              <a:rPr lang="en-US" altLang="ko-KR" dirty="0"/>
              <a:t>.then(function(events) {</a:t>
            </a:r>
          </a:p>
          <a:p>
            <a:pPr marL="525463" lvl="2" indent="0">
              <a:buNone/>
            </a:pPr>
            <a:r>
              <a:rPr lang="en-US" altLang="ko-KR" dirty="0"/>
              <a:t>     // Process the retrieved events</a:t>
            </a:r>
          </a:p>
          <a:p>
            <a:pPr marL="525463" lvl="2" indent="0">
              <a:buNone/>
            </a:pPr>
            <a:r>
              <a:rPr lang="en-US" altLang="ko-KR" dirty="0"/>
              <a:t>     console.log(events);</a:t>
            </a:r>
          </a:p>
          <a:p>
            <a:pPr marL="525463" lvl="2" indent="0">
              <a:buNone/>
            </a:pPr>
            <a:r>
              <a:rPr lang="en-US" altLang="ko-KR" dirty="0"/>
              <a:t>})</a:t>
            </a:r>
          </a:p>
          <a:p>
            <a:pPr marL="525463" lvl="2" indent="0">
              <a:buNone/>
            </a:pPr>
            <a:r>
              <a:rPr lang="en-US" altLang="ko-KR" dirty="0"/>
              <a:t>.catch(function(error) {</a:t>
            </a:r>
          </a:p>
          <a:p>
            <a:pPr marL="525463" lvl="2" indent="0">
              <a:buNone/>
            </a:pPr>
            <a:r>
              <a:rPr lang="en-US" altLang="ko-KR" dirty="0"/>
              <a:t>     // Handle errors</a:t>
            </a:r>
          </a:p>
          <a:p>
            <a:pPr marL="525463" lvl="2" indent="0">
              <a:buNone/>
            </a:pPr>
            <a:r>
              <a:rPr lang="en-US" altLang="ko-KR" dirty="0"/>
              <a:t>     </a:t>
            </a:r>
            <a:r>
              <a:rPr lang="en-US" altLang="ko-KR" dirty="0" err="1"/>
              <a:t>console.error</a:t>
            </a:r>
            <a:r>
              <a:rPr lang="en-US" altLang="ko-KR" dirty="0"/>
              <a:t>(error);</a:t>
            </a:r>
          </a:p>
          <a:p>
            <a:pPr marL="525463" lvl="2" indent="0">
              <a:buNone/>
            </a:pPr>
            <a:r>
              <a:rPr lang="en-US" altLang="ko-KR" dirty="0"/>
              <a:t>});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1492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3"/>
          <p:cNvSpPr>
            <a:spLocks noGrp="1"/>
          </p:cNvSpPr>
          <p:nvPr>
            <p:ph type="ctrTitle"/>
          </p:nvPr>
        </p:nvSpPr>
        <p:spPr>
          <a:xfrm>
            <a:off x="273050" y="2565400"/>
            <a:ext cx="9359900" cy="1574800"/>
          </a:xfrm>
        </p:spPr>
        <p:txBody>
          <a:bodyPr/>
          <a:lstStyle/>
          <a:p>
            <a:r>
              <a:rPr lang="en-US" altLang="ko-KR" dirty="0"/>
              <a:t>C.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) </a:t>
            </a:r>
            <a:r>
              <a:rPr lang="ko-KR" altLang="en-US" dirty="0"/>
              <a:t>함수 호출 및 </a:t>
            </a:r>
            <a:r>
              <a:rPr lang="en-US" altLang="ko-KR" dirty="0"/>
              <a:t>ETH </a:t>
            </a:r>
            <a:r>
              <a:rPr lang="ko-KR" altLang="en-US" dirty="0"/>
              <a:t>송수신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86615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연습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“03-Functions-P.sol” </a:t>
            </a:r>
            <a:r>
              <a:rPr lang="ko-KR" altLang="en-US" dirty="0"/>
              <a:t>파일의 연습문제들을 </a:t>
            </a:r>
            <a:r>
              <a:rPr lang="ko-KR" altLang="en-US" dirty="0" err="1"/>
              <a:t>해결하시오</a:t>
            </a:r>
            <a:r>
              <a:rPr lang="en-US" altLang="ko-KR" dirty="0"/>
              <a:t>.</a:t>
            </a:r>
            <a:endParaRPr lang="ko-KR" altLang="en-US" dirty="0"/>
          </a:p>
          <a:p>
            <a:r>
              <a:rPr lang="en-US" altLang="ko-KR" dirty="0"/>
              <a:t>“04-FunctionCalls-P.sol” </a:t>
            </a:r>
            <a:r>
              <a:rPr lang="ko-KR" altLang="en-US" dirty="0"/>
              <a:t>파일의 연습문제들을 </a:t>
            </a:r>
            <a:r>
              <a:rPr lang="ko-KR" altLang="en-US" dirty="0" err="1"/>
              <a:t>해결하시오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“05-SendEther-ReceiveEther-P.sol” </a:t>
            </a:r>
            <a:r>
              <a:rPr lang="ko-KR" altLang="en-US" dirty="0"/>
              <a:t>파일의 연습문제들을 </a:t>
            </a:r>
            <a:r>
              <a:rPr lang="ko-KR" altLang="en-US" dirty="0" err="1"/>
              <a:t>해결하시오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86370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1866" y="2204864"/>
            <a:ext cx="5322269" cy="25056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6525</TotalTime>
  <Words>1905</Words>
  <Application>Microsoft Office PowerPoint</Application>
  <PresentationFormat>A4 용지(210x297mm)</PresentationFormat>
  <Paragraphs>307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25</vt:i4>
      </vt:variant>
    </vt:vector>
  </HeadingPairs>
  <TitlesOfParts>
    <vt:vector size="35" baseType="lpstr">
      <vt:lpstr>HY헤드라인M</vt:lpstr>
      <vt:lpstr>굴림</vt:lpstr>
      <vt:lpstr>나눔고딕</vt:lpstr>
      <vt:lpstr>맑은 고딕</vt:lpstr>
      <vt:lpstr>Arial</vt:lpstr>
      <vt:lpstr>Courier New</vt:lpstr>
      <vt:lpstr>Univers Condensed</vt:lpstr>
      <vt:lpstr>Wingdings</vt:lpstr>
      <vt:lpstr>기본 디자인</vt:lpstr>
      <vt:lpstr>디자인 사용자 지정</vt:lpstr>
      <vt:lpstr>3-9. (Lab) Functions and Other Features</vt:lpstr>
      <vt:lpstr>순서</vt:lpstr>
      <vt:lpstr>A. 함수</vt:lpstr>
      <vt:lpstr>함수의 의미와 형식</vt:lpstr>
      <vt:lpstr>함수의 가시성 (Visibility)</vt:lpstr>
      <vt:lpstr>Free Functions</vt:lpstr>
      <vt:lpstr>상태변경성 (State Mutability)</vt:lpstr>
      <vt:lpstr>함수 호출</vt:lpstr>
      <vt:lpstr>“call” 함수</vt:lpstr>
      <vt:lpstr>“delegatecall” 함수</vt:lpstr>
      <vt:lpstr>“call”, “delegatecall”, “staticcall” 비교</vt:lpstr>
      <vt:lpstr>조건문 (if/else)</vt:lpstr>
      <vt:lpstr>반복문 (while, do, for, break, continue, return)</vt:lpstr>
      <vt:lpstr>B. 특수 함수 및 기타</vt:lpstr>
      <vt:lpstr>컨트랙트 생성 및 생성자 함수</vt:lpstr>
      <vt:lpstr>겟터 함수 (Getter Functions)</vt:lpstr>
      <vt:lpstr>이더 송금을 위한 함수</vt:lpstr>
      <vt:lpstr>이더 수신을 위한 함수</vt:lpstr>
      <vt:lpstr>폴백 함수 (Fallback Functions)</vt:lpstr>
      <vt:lpstr>함수 변경자 (Function Modifiers)</vt:lpstr>
      <vt:lpstr>이벤트 (Events)</vt:lpstr>
      <vt:lpstr>이벤트 조회</vt:lpstr>
      <vt:lpstr>C. (실습) 함수 호출 및 ETH 송수신</vt:lpstr>
      <vt:lpstr>(연습)</vt:lpstr>
      <vt:lpstr>PowerPoint 프레젠테이션</vt:lpstr>
    </vt:vector>
  </TitlesOfParts>
  <Company>SDS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user</cp:lastModifiedBy>
  <cp:revision>154</cp:revision>
  <dcterms:created xsi:type="dcterms:W3CDTF">2011-01-27T23:33:23Z</dcterms:created>
  <dcterms:modified xsi:type="dcterms:W3CDTF">2025-03-28T07:18:20Z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5C58129F-E5B8-477A-9B38-B3E54BFA04C8}" pid="2">
    <vt:blob>PE5TQ1BIPgAAADYAMABDAEEAQgA5AEQAQgBFADMAOAAxAEYANAA5ADkANgBEADEAMAAwAEQAMABD
AEEAOQAxADUANABCADkARABDADcANQAxADUANgA1AEIAQwAxAEQANQBGADEAOQA3ADUAMQA4ADcA
OQBCADYAMABGADQAMQA5AEEAQQAyADYAAAA=</vt:blob>
  </property>
  <property fmtid="{D5CDD505-2E9C-101B-9397-08002B2CF9AE}" pid="2" name="FLCMData">
    <vt:lpwstr>2B6DB54876A7E7A49A5B3AB6B6042F62482DCF38C5130AC721DBD6324B318018BAE7F1B0DF3B9CD78176916D97C269836255A0A1C9FBCA599EAF2CDA2AD877A1</vt:lpwstr>
  </property>
</Properties>
</file>